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s]</a:t>
            </a:r>
          </a:p>
          <a:p>
            <a:r>
              <a:t>Boa noite a todos. Meu nome é Gabriel Steffens e vou apresentar o meu trabalho de conclusão de curso, o Mapill, uma aplicação móvel para mitigação de falhas logísticas e cognitivas na adesão ao tratamento medicamentoso, orientado pelo professor Marciel de Liz Santos.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A descontinuidade do tratamento medicamentoso é um dos grandes desafios da saúde pública. A Organização Mundial da Saúde mostra que a adesão depende de muitos fatores, e que a responsabilidade não é só do paciente. Quem toma vários remédios por muito tempo precisa lembrar de vários horários, controlar quanto ainda tem de cada um e não perder as consultas. Isso gera dois tipos de falha. A cognitiva, que é simplesmente esquecer a dose, e a logística, que é o remédio acabar ou a consulta passar sem que a pessoa perceba.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Daí vem a pergunta que o trabalho tenta responder. Como uma aplicação móvel, que funcione mesmo sem internet, pode concentrar os medicamentos, o estoque e os compromissos de saúde num lugar só, sendo fácil de usar, segura e confiável.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Já existem aplicativos para isso, e os dois mais conhecidos são o Medisafe e o MyTherapy. O Medisafe passou, em janeiro deste ano, para um modelo em que o plano gratuito aceita só dois medicamentos, e coisas básicas como o aviso de estoque ficaram pagas. O MyTherapy é gratuito, mas se sustenta repassando dados de uso, anonimizados, para empresas farmacêuticas e institutos de pesquisa. Além disso, nenhum dos dois descreve suporte a uma dose que muda conforme o horário, que é comum em tratamentos como o de insulina. O Mapill não cobra por nenhuma função, não repassa dados e trata a posologia com essa fidelidade. Em vez de ampliar o escopo para o bem-estar geral, ele se aprofunda no tratamento medicamentoso.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O objetivo geral foi desenvolver uma aplicação móvel que apoiasse a gestão da rotina medicamentosa, juntando o agendamento e o registro das doses, o controle de estoque e os compromissos de saúde, numa arquitetura que funciona primeiro no aparelho. Para chegar lá, os objetivos específicos seguiram o caminho natural de um projeto de software. Primeiro levantar os requisitos na literatura, depois especificá-los, projetar a arquitetura e as telas, implementar e, por fim, analisar como a arquitetura se comporta sem conexão, na volta da conexão e em conflitos entre registros.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Vou passar rápido pela fundamentação, só pelo que justifica as principais decisões do projeto. Esquecer a dose é uma falha da memória prospectiva, que é lembrar de fazer algo no futuro, e por isso o centro do app é um alarme. A desoneração cognitiva explica por que o app deve calcular estoque e horários pelo paciente. O conceito de fonte única de verdade justifica juntar tudo num só lugar. O paradigma offline-first e o critério Last-Write-Wins sustentam o funcionamento sem internet e a sincronização. E as heurísticas de Nielsen, as diretrizes de acessibilidade da WCAG e a LGPD orientam a interface e o tratamento dos dados de saúde.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Agora o Mapill em si. O desenvolvimento partiu de três exigências. O app tinha de funcionar sem internet, representar o tratamento com fidelidade, inclusive quando a dose muda ao longo do dia, e lembrar o paciente mesmo com o aplicativo fechado, que é justamente quando ele mais precisa. Desde o início, defini também o que o Mapill não é. Ele é um registro clínico pessoal, que lembra da dose e guarda o que de fato aconteceu. Ele não prescreve, não sugere dose e não avalia se o tratamento está certo, porque esse papel é do profissional de saúde. Cada conta é de um paciente, e dá para usar tudo sem criar conta.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A aplicação segue a Clean Architecture, em três camadas, e a dependência sempre aponta para dentro. No centro fica o domínio, com as regras de negócio escritas em TypeScript puro, sem depender de nenhuma biblioteca. Isso permite verificar cálculos como a geração de horários e a taxa de adesão sem precisar de um celular. Em volta fica a camada de dados, com o SQLite no aparelho e o Supabase na nuvem, e por fora a apresentação, com as telas sobre um sistema de design próprio. O app foi feito em React Native com Expo, e o alarme é entregue pelo agendador do próprio Android, e não por um processo do app. É isso que faz ele tocar mesmo com o aplicativo fechado.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Das vinte regras de negócio, estas quatro mostram o cuidado com o registro clínico. Uma dose que o paciente não respondeu nunca é marcada como pulada só porque o tempo passou, porque o app não pode afirmar algo que ninguém disse. O estoque desconta exatamente a quantidade da dose, então quem toma dois comprimidos de uma vez tem dois descontados. Uma correção nunca apaga o registro antigo, ela cria um novo apontando para ele, como num prontuário. E remédios no mesmo horário geram um aviso só, que pode ser adiado uma única vez, por cinco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Toda operação é gravada primeiro no próprio aparelho, e a nuvem funciona como cópia de segurança e ponte entre dispositivos. Quando o mesmo registro é editado em dois lugares, vence a edição mais recente, e vence inteira, sem misturar campos. No diagrama, o dispositivo B editou por último, então a versão dele prevalece nos dois lados. Se o app juntasse campos de versões diferentes, poderia criar uma posologia que ninguém escreveu. O servidor aplica o mesmo critério, e cada tabela tem políticas de segurança em nível de linha, então cada usuário só acessa os próprios dados, identificado pelo token JWT.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 min]</a:t>
            </a:r>
          </a:p>
          <a:p>
            <a:r>
              <a:t>Agora vou mostrar o aplicativo funcionando no meu celular.</a:t>
            </a:r>
          </a:p>
          <a:p/>
          <a:p>
            <a:r>
              <a:t>Caminho (detalhe no roteiro):</a:t>
            </a:r>
          </a:p>
          <a:p>
            <a:r>
              <a:t>a. Cadastro por código de barras (1 min 30 s)</a:t>
            </a:r>
          </a:p>
          <a:p>
            <a:r>
              <a:t>b. Tela inicial (45 s)</a:t>
            </a:r>
          </a:p>
          <a:p>
            <a:r>
              <a:t>c. Alarme com o celular bloqueado (2 min)</a:t>
            </a:r>
          </a:p>
          <a:p>
            <a:r>
              <a:t>d. Adesão, calendário e correção (1 min 30 s)</a:t>
            </a:r>
          </a:p>
          <a:p>
            <a:r>
              <a:t>e. Relatório em PDF (1 min)</a:t>
            </a:r>
          </a:p>
          <a:p>
            <a:r>
              <a:t>f. Temas e cores (45 s)</a:t>
            </a:r>
          </a:p>
          <a:p>
            <a:r>
              <a:t>Folga de 30 s.</a:t>
            </a:r>
          </a:p>
          <a:p/>
          <a:p>
            <a:r>
              <a:t>Se o espelhamento falhar, abrir o vídeo reserva no trecho correspondente. Se tudo falhar, narrar a partir das telas deste slide.</a:t>
            </a:r>
          </a:p>
          <a:p>
            <a:r>
              <a:t>Se atrasar, cortar nesta ordem: f, depois e, depois a correção em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A validação foi feita por mim, num aparelho físico, seguindo um roteiro escrito em que cada passo tinha o resultado esperado. O segundo aparelho foi simulado direto na base remota. Os cinco cenários da arquitetura offline-first foram aprovados, três deles depois de ajustes que os próprios testes revelaram, como fazer a edição mais recente prevalecer também no servidor. O alarme funcionou nas quatro combinações de celular bloqueado ou em uso, com o app nos recentes ou fora deles. A limitação apareceu depois de reiniciar o celular. O alarme só tocou quando o aparelho foi desbloqueado, por uma restrição de inicialização automática que o fabricante aplica, e que o Android não deixa contornar. O app passou a orientar o paciente a liberar essa permissão.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Os objetivos foram atendidos, com a ressalva do alarme depois de reiniciar o celular. O trabalho mostra que é possível ter, no mesmo aplicativo, o funcionamento sem internet e a fidelidade do registro clínico. Os diferenciais em relação ao que as soluções analisadas descrevem são descontar o estoque pela dose de verdade, corrigir sem apagar o que foi registrado e separar a dose pulada da dose sem resposta, o que deixa confiável o histórico levado ao médico. As limitações são claras. Testei em um só modelo de aparelho, sem usuários do público-alvo, e apenas no Android, e as fotos e receitas anexadas ainda ficam só no aparelho.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</a:t>
            </a:r>
          </a:p>
          <a:p>
            <a:r>
              <a:t>Como próximos passos, o principal é avaliar o app com os pacientes para quem ele foi pensado, idosos e polimedicados, porque só assim dá para medir o efeito real na adesão. Também quero validar o alarme em aparelhos de outros fabricantes, fazer a versão para iOS e publicar nas lojas, permitir que médicos e cuidadores consultem a conta do paciente e organizar o cuidado por tratamento, como numa terapia oncológica com várias sessões e remédios ao mesmo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[só passar, ou mostrar se a banca pedir]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 s]</a:t>
            </a:r>
          </a:p>
          <a:p>
            <a:r>
              <a:t>Encerro por aqui. Quem quiser conhecer o Mapill pode usar o QR code, que leva à página do aplicativo, onde também está o APK para instalar no Android. Obrigado pela atenção, e fico à disposição para as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jpg"/><Relationship Id="rId8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idav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48640"/>
            <a:ext cx="686281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566928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91C1E"/>
                </a:solidFill>
                <a:latin typeface="Plus Jakarta Sans"/>
              </a:rPr>
              <a:t>Centro Universitário para o Desenvolvimento do Alto Vale do Itajaí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Curso de Sistemas de Informação</a:t>
            </a:r>
          </a:p>
        </p:txBody>
      </p:sp>
      <p:pic>
        <p:nvPicPr>
          <p:cNvPr id="4" name="Picture 3" descr="lockup-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874519"/>
            <a:ext cx="2608649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97180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91C1E"/>
                </a:solidFill>
                <a:latin typeface="Plus Jakarta Sans"/>
              </a:rPr>
              <a:t>Aplicação móvel para mitigação de falhas logísticas e cognitivas na adesão ao tratamento medicamentoso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091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Acadêmico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Gabriel Steffens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Orientador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Prof. Me. Marciel de Liz Santos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Rio do Sul,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71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777240"/>
            <a:ext cx="2361778" cy="5303520"/>
          </a:xfrm>
          <a:prstGeom prst="roundRect">
            <a:avLst>
              <a:gd name="adj" fmla="val 10840"/>
            </a:avLst>
          </a:prstGeom>
          <a:effectLst>
            <a:outerShdw blurRad="177800" dist="50800" dir="5400000" algn="t" rotWithShape="0">
              <a:srgbClr val="191C1E">
                <a:alpha val="14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INTRODUÇÃO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A descontinuidade do tratamento desafia a saúde pública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0">
                <a:solidFill>
                  <a:srgbClr val="191C1E"/>
                </a:solidFill>
                <a:latin typeface="Plus Jakarta Sans"/>
              </a:rPr>
              <a:t>A adesão depende de muitos fatores, e não só do paciente (WHO, 2003)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0">
                <a:solidFill>
                  <a:srgbClr val="191C1E"/>
                </a:solidFill>
                <a:latin typeface="Plus Jakarta Sans"/>
              </a:rPr>
              <a:t>Polifarmácia e tratamentos longos geram sobrecarga mental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920240"/>
            <a:ext cx="5102352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0" y="192024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12280" y="2221992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191C1E"/>
                </a:solidFill>
                <a:latin typeface="Plus Jakarta Sans"/>
              </a:rPr>
              <a:t>Falha cognitiva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545F73"/>
                </a:solidFill>
                <a:latin typeface="Plus Jakarta Sans"/>
              </a:rPr>
              <a:t>Esquecer a dose no horário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794760"/>
            <a:ext cx="5102352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379476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12280" y="4096512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191C1E"/>
                </a:solidFill>
                <a:latin typeface="Plus Jakarta Sans"/>
              </a:rPr>
              <a:t>Falha logística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545F73"/>
                </a:solidFill>
                <a:latin typeface="Plus Jakarta Sans"/>
              </a:rPr>
              <a:t>O remédio acabar ou a consulta passar sem perceber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10820095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143000"/>
            <a:ext cx="1097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  <a:spcAft>
                <a:spcPts val="600"/>
              </a:spcAft>
            </a:pPr>
            <a:r>
              <a:rPr sz="11000" b="1">
                <a:solidFill>
                  <a:srgbClr val="0B5FD9"/>
                </a:solidFill>
                <a:latin typeface="Plus Jakarta Sans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65960"/>
            <a:ext cx="8808415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700" b="0">
                <a:solidFill>
                  <a:srgbClr val="191C1E"/>
                </a:solidFill>
                <a:latin typeface="Plus Jakarta Sans"/>
              </a:rPr>
              <a:t>De que maneira uma aplicação móvel, baseada em arquitetura </a:t>
            </a:r>
            <a:r>
              <a:rPr sz="2700" b="1" i="1">
                <a:solidFill>
                  <a:srgbClr val="0B5FD9"/>
                </a:solidFill>
                <a:latin typeface="Plus Jakarta Sans"/>
              </a:rPr>
              <a:t>offline-first</a:t>
            </a:r>
            <a:r>
              <a:rPr sz="2700" b="0">
                <a:solidFill>
                  <a:srgbClr val="191C1E"/>
                </a:solidFill>
                <a:latin typeface="Plus Jakarta Sans"/>
              </a:rPr>
              <a:t>, pode centralizar medicamentos, estoque e compromissos terapêuticos, com usabilidade, segurança e confiabilidade?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JUSTIFICATIVA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As soluções de mercado cobram ou repassam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79"/>
            <a:ext cx="7772400" cy="3630168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4754880" y="1874519"/>
            <a:ext cx="1188720" cy="3401568"/>
          </a:xfrm>
          <a:prstGeom prst="roundRect">
            <a:avLst>
              <a:gd name="adj" fmla="val 7692"/>
            </a:avLst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Mapill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45F73"/>
                </a:solidFill>
                <a:latin typeface="Plus Jakarta Sans"/>
              </a:rPr>
              <a:t>Medisafe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45F73"/>
                </a:solidFill>
                <a:latin typeface="Plus Jakarta Sans"/>
              </a:rPr>
              <a:t>MyTherapy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41448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Funcionalidades essenciais gratuitas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008376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Gratuidade sem repasse de dados a terceiros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Funcionamento sem conta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42231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Controle de estoque com aviso, sem custo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709160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Dose variável por horário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50468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adaptado do Quadro 2 do TCC, com base em Medisafe (2026) e MyTherapy (2026).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1874519"/>
            <a:ext cx="26060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Medisafe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Grátis só com 2 medicamentos desde jan. 2026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MyTherapy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Gratuito com repasse de dados anonimizados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0B5FD9"/>
                </a:solidFill>
                <a:latin typeface="Plus Jakarta Sans"/>
              </a:rPr>
              <a:t>Mapill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Troca amplitude por profundidade no tratamento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Apoiar a rotina medicamentosa sem depender de conexão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0820095" cy="1417320"/>
          </a:xfrm>
          <a:prstGeom prst="roundRect">
            <a:avLst>
              <a:gd name="adj" fmla="val 9032"/>
            </a:avLst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10088575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0A3F8F"/>
                </a:solidFill>
                <a:latin typeface="Plus Jakarta Sans"/>
              </a:rPr>
              <a:t>OBJETIVO GERAL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Desenvolver uma aplicação móvel que integra o agendamento e o registro de doses, o estoque e os compromissos terapêuticos, numa arquitetura </a:t>
            </a:r>
            <a:r>
              <a:rPr sz="1800" b="0" i="1">
                <a:solidFill>
                  <a:srgbClr val="191C1E"/>
                </a:solidFill>
                <a:latin typeface="Plus Jakarta Sans"/>
              </a:rPr>
              <a:t>offline-first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Levantar requisitos na literatura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6395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316071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60715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0715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Especificar requisitos e regras de negócio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699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6131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Projetar arquitetura, dados e telas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87585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56190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61905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1905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Implementar a aplicação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8818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76250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250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250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Analisar o offline-first em cenários controlados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4747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spc="200">
                <a:solidFill>
                  <a:srgbClr val="545F73"/>
                </a:solidFill>
                <a:latin typeface="Plus Jakarta Sans"/>
              </a:rPr>
              <a:t>OBJETIVOS ESPECÍFICOS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FUNDAMENTAÇÃO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Cada conceito sustenta uma decisão do Mapill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Memória prospectiva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Baddeley; Eysenck; Anderson, 2010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783080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783080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O alarme é a pista externa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2633472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Desoneração cognitiva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Risko; Gilbert, 2016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633472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633472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O app calcula estoque e horários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05840" y="3483864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Fonte única de verdade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Loshin, 2010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483864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483864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Remédios, estoque e consultas num lugar só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5840" y="4334256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Offline-first e Last-Write-Wins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Allsopp, 2014; Kleppmann,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4334256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334256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Funciona sem internet e sincroniza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5840" y="5184648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Usabilidade, acessibilidade e LGPD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Nielsen, 1994; W3C, 2018; Brasil, 2018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5184648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5184648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Interface segura e dados protegidos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Um registro clínico pessoal, que lembra e registra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960120" y="2066543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6654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828800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Funciona sem internet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Tudo é gravado primeiro no aparelho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44368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960120" y="3182111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821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44368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Posologia fiel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Inclusive dose variável por horário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059935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60120" y="4297679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976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059935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Lembra com o app fechado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Quem guarda o horário é o Android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257800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Não prescreve, não sugere dose e não avalia o tratamento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Uma conta por paciente, e uso completo sem conta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600200"/>
            <a:ext cx="3520440" cy="4663440"/>
          </a:xfrm>
          <a:prstGeom prst="roundRect">
            <a:avLst>
              <a:gd name="adj" fmla="val 3636"/>
            </a:avLst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p7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1783080"/>
            <a:ext cx="1916686" cy="4297680"/>
          </a:xfrm>
          <a:prstGeom prst="roundRect">
            <a:avLst>
              <a:gd name="adj" fmla="val 11449"/>
            </a:avLst>
          </a:prstGeom>
          <a:effectLst>
            <a:outerShdw blurRad="177800" dist="50800" dir="5400000" algn="t" rotWithShape="0">
              <a:srgbClr val="191C1E">
                <a:alpha val="14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ARQUITETURA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Clean Architecture em três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1280160" y="1783080"/>
            <a:ext cx="4114800" cy="4114800"/>
          </a:xfrm>
          <a:prstGeom prst="ellipse">
            <a:avLst/>
          </a:prstGeom>
          <a:solidFill>
            <a:srgbClr val="DCE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0239" y="2423160"/>
            <a:ext cx="2834640" cy="2834640"/>
          </a:xfrm>
          <a:prstGeom prst="ellipse">
            <a:avLst/>
          </a:prstGeom>
          <a:solidFill>
            <a:srgbClr val="9DC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60320" y="3063240"/>
            <a:ext cx="1554480" cy="155448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9110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3F8F"/>
                </a:solidFill>
                <a:latin typeface="Plus Jakarta Sans"/>
              </a:rPr>
              <a:t>Apresentação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0A3F8F"/>
                </a:solidFill>
                <a:latin typeface="Plus Jakarta Sans"/>
              </a:rPr>
              <a:t>telas e design próprio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255117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3F8F"/>
                </a:solidFill>
                <a:latin typeface="Plus Jakarta Sans"/>
              </a:rPr>
              <a:t>Dados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0A3F8F"/>
                </a:solidFill>
                <a:latin typeface="Plus Jakarta Sans"/>
              </a:rPr>
              <a:t>SQLite e Supabase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063240"/>
            <a:ext cx="15544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Plus Jakarta Sans"/>
              </a:rPr>
              <a:t>Domínio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Plus Jakarta Sans"/>
              </a:rPr>
              <a:t>TypeScript puro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3566160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dependência aponta para dentro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0533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elaborado pelo autor (2026), a partir da seção 4.4.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2880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82880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React Native + Expo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base única com acesso nativo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65176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86600" y="265176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TypeScript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tipagem nas regras clínicas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347472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086600" y="347472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SQLite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banco no aparelho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12280" y="429768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86600" y="429768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Supabase (PostgreSQL)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cópia na nuvem, com RLS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512064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86600" y="512064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react-native-notify-kit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alarme pelo agendador do Android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REGRAS DE NEGÓCIO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Quatro regras que protegem o registro clínico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51560" y="21031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Dose sem resposta nunca vira “pulada”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Não responder não é decidir pular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828800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598767" y="21031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98767" y="2103120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257860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O estoque desconta a dose, não a unidade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Dois comprimidos tomados, dois descontados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77639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1051560" y="4251959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51560" y="4251959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2744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Correção nunca sobrescreve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Cria um novo registro, e o original continua rastreável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977639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598767" y="4251959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598767" y="4251959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11 e 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72744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Um aviso por horário, adiamento uma vez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Remédios no mesmo horário, um alarme só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Quadro 10 do TCC, que reúne as vinte regras.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SINCRONIZAÇÃO E SEGURANÇA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Grava primeiro no aparelho, e a nuvem é cópia e ponte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492240" cy="416052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55_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5943600" cy="35219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605332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Figura 1 - Resolução de conflito pelo critério Last-Write-Wins. Fonte: elaborado pelo autor (2026).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78308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18120" y="178308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Vence a edição mais recente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inteira, sem mesclar campos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320040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818120" y="320040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O servidor aplica o mesmo critério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e recusa a atualização mais antiga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461772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818120" y="461772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Isolamento por usuário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RLS nas nove tabelas e token JWT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DEMONSTRAÇÃO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 aplicativo funcionando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11</a:t>
            </a:r>
          </a:p>
        </p:txBody>
      </p:sp>
      <p:pic>
        <p:nvPicPr>
          <p:cNvPr id="6" name="Picture 5" descr="p68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874519"/>
            <a:ext cx="1447710" cy="3246120"/>
          </a:xfrm>
          <a:prstGeom prst="roundRect">
            <a:avLst>
              <a:gd name="adj" fmla="val 8842"/>
            </a:avLst>
          </a:prstGeom>
          <a:effectLst>
            <a:outerShdw blurRad="177800" dist="50800" dir="5400000" algn="t" rotWithShape="0">
              <a:srgbClr val="191C1E">
                <a:alpha val="14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685800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a.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Cadastro por código de barras</a:t>
            </a:r>
          </a:p>
        </p:txBody>
      </p:sp>
      <p:pic>
        <p:nvPicPr>
          <p:cNvPr id="8" name="Picture 7" descr="p71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6977" y="1874519"/>
            <a:ext cx="1447710" cy="3246120"/>
          </a:xfrm>
          <a:prstGeom prst="roundRect">
            <a:avLst>
              <a:gd name="adj" fmla="val 8842"/>
            </a:avLst>
          </a:prstGeom>
          <a:effectLst>
            <a:outerShdw blurRad="177800" dist="50800" dir="5400000" algn="t" rotWithShape="0">
              <a:srgbClr val="191C1E">
                <a:alpha val="14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2527249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b.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Tela inicial</a:t>
            </a:r>
          </a:p>
        </p:txBody>
      </p:sp>
      <p:pic>
        <p:nvPicPr>
          <p:cNvPr id="10" name="Picture 9" descr="p72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8426" y="1874519"/>
            <a:ext cx="1447710" cy="3246120"/>
          </a:xfrm>
          <a:prstGeom prst="roundRect">
            <a:avLst>
              <a:gd name="adj" fmla="val 8842"/>
            </a:avLst>
          </a:prstGeom>
          <a:effectLst>
            <a:outerShdw blurRad="177800" dist="50800" dir="5400000" algn="t" rotWithShape="0">
              <a:srgbClr val="191C1E">
                <a:alpha val="14000"/>
              </a:srgbClr>
            </a:outerShdw>
          </a:effectLst>
        </p:spPr>
      </p:pic>
      <p:sp>
        <p:nvSpPr>
          <p:cNvPr id="11" name="TextBox 10"/>
          <p:cNvSpPr txBox="1"/>
          <p:nvPr/>
        </p:nvSpPr>
        <p:spPr>
          <a:xfrm>
            <a:off x="4368698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c.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Alarme</a:t>
            </a:r>
          </a:p>
        </p:txBody>
      </p:sp>
      <p:pic>
        <p:nvPicPr>
          <p:cNvPr id="12" name="Picture 11" descr="p7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9875" y="1874519"/>
            <a:ext cx="1447710" cy="3246120"/>
          </a:xfrm>
          <a:prstGeom prst="roundRect">
            <a:avLst>
              <a:gd name="adj" fmla="val 8842"/>
            </a:avLst>
          </a:prstGeom>
          <a:effectLst>
            <a:outerShdw blurRad="177800" dist="50800" dir="5400000" algn="t" rotWithShape="0">
              <a:srgbClr val="191C1E">
                <a:alpha val="14000"/>
              </a:srgbClr>
            </a:outerShdw>
          </a:effectLst>
        </p:spPr>
      </p:pic>
      <p:sp>
        <p:nvSpPr>
          <p:cNvPr id="13" name="TextBox 12"/>
          <p:cNvSpPr txBox="1"/>
          <p:nvPr/>
        </p:nvSpPr>
        <p:spPr>
          <a:xfrm>
            <a:off x="6210147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d.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Adesão e calendário</a:t>
            </a:r>
          </a:p>
        </p:txBody>
      </p:sp>
      <p:pic>
        <p:nvPicPr>
          <p:cNvPr id="14" name="Picture 13" descr="p75_0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1324" y="2308859"/>
            <a:ext cx="1837113" cy="2377440"/>
          </a:xfrm>
          <a:prstGeom prst="roundRect">
            <a:avLst>
              <a:gd name="adj" fmla="val 6968"/>
            </a:avLst>
          </a:prstGeom>
          <a:effectLst>
            <a:outerShdw blurRad="177800" dist="50800" dir="5400000" algn="t" rotWithShape="0">
              <a:srgbClr val="191C1E">
                <a:alpha val="14000"/>
              </a:srgbClr>
            </a:outerShdw>
          </a:effectLst>
        </p:spPr>
      </p:pic>
      <p:sp>
        <p:nvSpPr>
          <p:cNvPr id="15" name="TextBox 14"/>
          <p:cNvSpPr txBox="1"/>
          <p:nvPr/>
        </p:nvSpPr>
        <p:spPr>
          <a:xfrm>
            <a:off x="8051596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e.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Relatório em PDF</a:t>
            </a:r>
          </a:p>
        </p:txBody>
      </p:sp>
      <p:pic>
        <p:nvPicPr>
          <p:cNvPr id="16" name="Picture 15" descr="p78_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2774" y="1874519"/>
            <a:ext cx="1447710" cy="3246120"/>
          </a:xfrm>
          <a:prstGeom prst="roundRect">
            <a:avLst>
              <a:gd name="adj" fmla="val 8842"/>
            </a:avLst>
          </a:prstGeom>
          <a:effectLst>
            <a:outerShdw blurRad="177800" dist="50800" dir="5400000" algn="t" rotWithShape="0">
              <a:srgbClr val="191C1E">
                <a:alpha val="14000"/>
              </a:srgbClr>
            </a:outerShdw>
          </a:effectLst>
        </p:spPr>
      </p:pic>
      <p:sp>
        <p:nvSpPr>
          <p:cNvPr id="17" name="TextBox 16"/>
          <p:cNvSpPr txBox="1"/>
          <p:nvPr/>
        </p:nvSpPr>
        <p:spPr>
          <a:xfrm>
            <a:off x="9893046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f.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Temas e cores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0533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Telas: Figuras 4, 7, 8, 9, 10 e 12 do TCC.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Cinco cenários offline-first aprovados em aparelho físico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675120" cy="416052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Ausência de conexão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07568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852160" y="2075688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2491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Restabelecimento da conectividade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83464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852160" y="2834640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83863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Sincronização por restauração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3593591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0" y="3593591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42816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Sincronização entre dispositivos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352544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846320" y="4352544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0176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Conflito entre registros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51114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46320" y="5111496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Quadro 28 do TCC. Xiaomi Redmi Note 14 Pro 5G, Android 16.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1783080"/>
            <a:ext cx="3822191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001000" y="1783080"/>
            <a:ext cx="329184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11803E"/>
                </a:solidFill>
                <a:latin typeface="Plus Jakarta Sans"/>
              </a:rPr>
              <a:t>ALARME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Aprovado nas 4 combinações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Bloqueado ou em uso, app nos recentes ou não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3931920"/>
            <a:ext cx="3822191" cy="2011680"/>
          </a:xfrm>
          <a:prstGeom prst="roundRect">
            <a:avLst>
              <a:gd name="adj" fmla="val 6363"/>
            </a:avLst>
          </a:prstGeom>
          <a:solidFill>
            <a:srgbClr val="FDF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01000" y="393192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5C4A0F"/>
                </a:solidFill>
                <a:latin typeface="Plus Jakarta Sans"/>
              </a:rPr>
              <a:t>LIMITAÇÃO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Após reiniciar, o alarme esperou o desbloqueio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C4A0F"/>
                </a:solidFill>
                <a:latin typeface="Plus Jakarta Sans"/>
              </a:rPr>
              <a:t>Restrição de Autostart do fabricante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CONCLUSÃO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Offline e registro clínico fiel são compatíveis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77240"/>
          </a:xfrm>
          <a:prstGeom prst="roundRect">
            <a:avLst>
              <a:gd name="adj" fmla="val 16470"/>
            </a:avLst>
          </a:prstGeom>
          <a:solidFill>
            <a:srgbClr val="E3F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783080"/>
            <a:ext cx="1008857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11803E"/>
                </a:solidFill>
                <a:latin typeface="Plus Jakarta Sans"/>
              </a:rPr>
              <a:t>Objetivos atendidos, com a ressalva do alarme após reiniciar o aparelho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Estoque pela dose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desconta a quantidade realmente tomada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88738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Correção que preserva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o registro original continua rastreável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596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71636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Pulada ≠ sem resposta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histórico fiel para o profissional de saúde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9204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545F73"/>
                </a:solidFill>
                <a:latin typeface="Plus Jakarta Sans"/>
              </a:rPr>
              <a:t>LIMITAÇÕES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Um modelo de aparelho  ·  sem teste com usuários  ·  só Android  ·  anexos ficam no aparelho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TRABALHOS FUTUROS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83080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0A3F8F"/>
                </a:solidFill>
                <a:latin typeface="Plus Jakarta Sans"/>
              </a:rPr>
              <a:t>Avaliação de usabilidade com pacientes idosos e polimedicados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2633472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33472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Alarme validado em outros fabricantes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5840" y="3483864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483864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Versão para iOS e publicação nas lojas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05840" y="4334256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334256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Acesso de consulta para médicos e cuidadores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5840" y="5184648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184648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Cuidado organizado por tratamento, como na oncologia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05840"/>
            <a:ext cx="5257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ALLSOPP, John.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The web's future is offline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beyond tellerrand, 2014. Disponível em: https://www.youtube.com/watch?v=VvwhcoZhoI4. Acesso em: 8 maio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BADDELEY, Alan; EYSENCK, Michael W.; ANDERSON, Michael C.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Memória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Porto Alegre: Artmed, 2010.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BRASIL. [Lei Geral de Proteção de Dados Pessoais (LGPD)]. Lei nº 13.709, de 14 de agosto de 2018. Brasília, DF: Presidência da República, 2018.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KLEPPMANN, Martin.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Designing data-intensive applications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the big ideas behind reliable, scalable, and maintainable systems. Sebastopol: O'Reilly Media, 2017.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LOSHIN, David.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Master data management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Burlington: Morgan Kaufmann, 2010.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MARTIN, Robert C.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Arquitetura limpa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o guia do artesão para estrutura e design de software. Rio de Janeiro: Alta Books, 2019.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05840"/>
            <a:ext cx="5257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MEDISAFE.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Medisafe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medication management. 2026. Disponível em: https://www.medisafe.com. Acesso em: 20 ago.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MYTHERAPY.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MyTherapy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medication reminder and pill tracker. 2026. Disponível em: https://www.mytherapyapp.com. Acesso em: 20 ago.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NIELSEN, Jakob.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Usability engineering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San Diego: Academic Press, 1994.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RISKO, Evan F.; GILBERT, Sam J. Cognitive offloading.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Trends in Cognitive Sciences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, v. 20, n. 9, p. 676-688, 2016.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WORLD HEALTH ORGANIZATION (WHO).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Adherence to long-term therapies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evidence for action. Geneva: World Health Organization, 2003.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WORLD WIDE WEB CONSORTIUM (W3C).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Web Content Accessibility Guidelines (WCAG) 2.1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Cambridge, MA: W3C, 2018. Disponível em: https://www.w3.org/TR/WCAG21/. Acesso em: 10 set.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403336" y="1280160"/>
            <a:ext cx="32004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127000" dist="25400" dir="5400000" algn="t" rotWithShape="0">
              <a:srgbClr val="191C1E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9096" y="1645920"/>
            <a:ext cx="246888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03336" y="434340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Conheça o Mapill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45F73"/>
                </a:solidFill>
                <a:latin typeface="Plus Jakarta Sans"/>
              </a:rPr>
              <a:t>Página do app, com o APK para Android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B5FD9"/>
                </a:solidFill>
                <a:latin typeface="Plus Jakarta Sans"/>
              </a:rPr>
              <a:t>mapill-website.vercel.app</a:t>
            </a:r>
          </a:p>
        </p:txBody>
      </p:sp>
      <p:pic>
        <p:nvPicPr>
          <p:cNvPr id="6" name="Picture 5" descr="lockup-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188720"/>
            <a:ext cx="2196757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3317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191C1E"/>
                </a:solidFill>
                <a:latin typeface="Plus Jakarta Sans"/>
              </a:rPr>
              <a:t>Obrigado!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57600"/>
            <a:ext cx="6400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Gabriel Steffens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Sistemas de Informação, 8ª fase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Orientador: Prof. Me. Marciel de Liz Santos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0B5FD9"/>
                </a:solidFill>
                <a:latin typeface="Plus Jakarta Sans"/>
              </a:rPr>
              <a:t>gabrielsteffens2003@gmail.com</a:t>
            </a:r>
          </a:p>
        </p:txBody>
      </p:sp>
      <p:pic>
        <p:nvPicPr>
          <p:cNvPr id="9" name="Picture 8" descr="unidav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715000"/>
            <a:ext cx="608798" cy="502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