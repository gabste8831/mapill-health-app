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1675"/>
  <p:notesSz cx="6858000" cy="9144000"/>
  <p:embeddedFontLst>
    <p:embeddedFont>
      <p:font typeface="Plus Jakarta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hVuyU3P1vq7n961tJK3e9tSJNK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font" Target="fonts/PlusJakartaSans-regular.fntdata"/><Relationship Id="rId24" Type="http://schemas.openxmlformats.org/officeDocument/2006/relationships/font" Target="fonts/PlusJakartaSans-bold.fntdata"/><Relationship Id="rId25" Type="http://schemas.openxmlformats.org/officeDocument/2006/relationships/font" Target="fonts/PlusJakartaSans-italic.fntdata"/><Relationship Id="rId26" Type="http://schemas.openxmlformats.org/officeDocument/2006/relationships/font" Target="fonts/PlusJakartaSans-boldItalic.fntdata"/><Relationship Id="rId2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  <p:sp>
        <p:nvSpPr>
          <p:cNvPr id="212" name="Google Shape;21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t/>
            </a:r>
            <a:endParaRPr/>
          </a:p>
        </p:txBody>
      </p:sp>
      <p:sp>
        <p:nvSpPr>
          <p:cNvPr id="276" name="Google Shape;27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t/>
            </a:r>
            <a:endParaRPr/>
          </a:p>
        </p:txBody>
      </p:sp>
      <p:sp>
        <p:nvSpPr>
          <p:cNvPr id="356" name="Google Shape;35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t/>
            </a:r>
            <a:endParaRPr/>
          </a:p>
        </p:txBody>
      </p:sp>
      <p:sp>
        <p:nvSpPr>
          <p:cNvPr id="413" name="Google Shape;41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t/>
            </a:r>
            <a:endParaRPr/>
          </a:p>
        </p:txBody>
      </p:sp>
      <p:sp>
        <p:nvSpPr>
          <p:cNvPr id="436" name="Google Shape;43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2" name="Google Shape;46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3" name="Google Shape;46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2" name="Google Shape;47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3" name="Google Shape;47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pc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pc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pc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pc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5.jp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jpg"/><Relationship Id="rId9" Type="http://schemas.openxmlformats.org/officeDocument/2006/relationships/hyperlink" Target="https://drive.google.com/file/d/1LljB_HmRa1Ue6HyDi6Af5-4ep0RWu5v5/view?usp=drive_link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hyperlink" Target="https://mapill-website.vercel.app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 title="image-removebg-preview.png"/>
          <p:cNvPicPr preferRelativeResize="0"/>
          <p:nvPr/>
        </p:nvPicPr>
        <p:blipFill rotWithShape="1">
          <a:blip r:embed="rId3">
            <a:alphaModFix/>
          </a:blip>
          <a:srcRect b="8691" l="0" r="0" t="8699"/>
          <a:stretch/>
        </p:blipFill>
        <p:spPr>
          <a:xfrm>
            <a:off x="622300" y="475050"/>
            <a:ext cx="772350" cy="6380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544540" y="600128"/>
            <a:ext cx="5943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Centro Universitário para o Desenvolvimento do Alto Vale do Itajaí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Curso de Sistemas de Informação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ckup-claro.png"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00" y="1874519"/>
            <a:ext cx="260865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685800" y="2971800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pc="0" sz="2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Aplicação móvel para mitigação de falhas logísticas e cognitivas na adesão ao tratamento medicamentoso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85800" y="470916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Acadêmico  </a:t>
            </a:r>
            <a:r>
              <a:rPr b="1" i="0" lang="en-US" spc="0" sz="1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Gabriel Steffens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Orientador  </a:t>
            </a:r>
            <a:r>
              <a:rPr b="1" i="0" lang="en-US" spc="0" sz="1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Prof. Me. Marciel de Liz Santos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Rio do Sul, 2026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 title="Screenshot_2026-10-10-19-26-56-131_com.gabsteffens.mapillapp.jpg"/>
          <p:cNvPicPr preferRelativeResize="0"/>
          <p:nvPr/>
        </p:nvPicPr>
        <p:blipFill rotWithShape="1">
          <a:blip r:embed="rId5">
            <a:alphaModFix/>
          </a:blip>
          <a:srcRect b="0" l="485" r="485" t="0"/>
          <a:stretch/>
        </p:blipFill>
        <p:spPr>
          <a:xfrm>
            <a:off x="8732520" y="777240"/>
            <a:ext cx="2361900" cy="5303400"/>
          </a:xfrm>
          <a:prstGeom prst="roundRect">
            <a:avLst>
              <a:gd fmla="val 10840" name="adj"/>
            </a:avLst>
          </a:prstGeom>
          <a:noFill/>
          <a:ln cap="flat" cmpd="sng" w="381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214313" rotWithShape="0" algn="bl" dir="5400000" dist="66675">
              <a:srgbClr val="000000">
                <a:alpha val="10196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descontinuidade do tratamento desafia a saúde pública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85800" y="2011680"/>
            <a:ext cx="49377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pc="0" sz="20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adesão depende de muitos fatores, e não só do paciente (WHO, 2003)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pc="0" sz="20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Polifarmácia e tratamentos longos geram sobrecarga mental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400800" y="1920240"/>
            <a:ext cx="5102352" cy="16002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400800" y="1920240"/>
            <a:ext cx="109728" cy="1600200"/>
          </a:xfrm>
          <a:prstGeom prst="rect">
            <a:avLst/>
          </a:prstGeom>
          <a:solidFill>
            <a:srgbClr val="0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812280" y="2221992"/>
            <a:ext cx="4480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pc="0" sz="22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Falha cognitiva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Esquecer a dose no horário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400800" y="3794760"/>
            <a:ext cx="5102352" cy="16002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400800" y="3794760"/>
            <a:ext cx="109728" cy="1600200"/>
          </a:xfrm>
          <a:prstGeom prst="rect">
            <a:avLst/>
          </a:prstGeom>
          <a:solidFill>
            <a:srgbClr val="0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812280" y="4096512"/>
            <a:ext cx="4480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pc="0" sz="22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Falha logística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remédio acabar ou a consulta passar sem perceber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PROBLEMA DE PESQUISA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85800" y="1325880"/>
            <a:ext cx="10820095" cy="448056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960120" y="1143000"/>
            <a:ext cx="1097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b="1" i="0" lang="en-US" spc="0" sz="110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1783080" y="1965960"/>
            <a:ext cx="8808415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pc="0" sz="27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 que maneira uma aplicação móvel, baseada em arquitetura </a:t>
            </a:r>
            <a:r>
              <a:rPr b="1" i="1" lang="en-US" spc="0" sz="27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offline-first</a:t>
            </a:r>
            <a:r>
              <a:rPr b="0" i="0" lang="en-US" spc="0" sz="27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pode centralizar medicamentos, estoque e compromissos terapêuticos, com usabilidade, segurança e confiabilidade?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JUSTIFICATIVA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685800" y="868680"/>
            <a:ext cx="10820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“Os medicamentos não funcionam em pacientes </a:t>
            </a:r>
            <a:endParaRPr b="1" i="0" spc="0" sz="28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 não os tomam.”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15250" y="2579238"/>
            <a:ext cx="5272800" cy="943200"/>
          </a:xfrm>
          <a:prstGeom prst="roundRect">
            <a:avLst>
              <a:gd fmla="val 37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15250" y="3666599"/>
            <a:ext cx="5272800" cy="943200"/>
          </a:xfrm>
          <a:prstGeom prst="roundRect">
            <a:avLst>
              <a:gd fmla="val 37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615260" y="2248215"/>
            <a:ext cx="454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COMO SE LEMBRA HOJE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980960" y="2748885"/>
            <a:ext cx="45414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Bilhete na geladeira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  </a:t>
            </a: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só lembra quem passa por ali na hora certa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980960" y="3861895"/>
            <a:ext cx="4541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Despertador </a:t>
            </a:r>
            <a:r>
              <a:rPr b="1" lang="en-US" sz="19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 celular</a:t>
            </a: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1" i="0" spc="0" sz="19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  </a:t>
            </a: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avisa, mas não registra nad</a:t>
            </a:r>
            <a:r>
              <a:rPr lang="en-US" sz="1500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15250" y="4753949"/>
            <a:ext cx="5272800" cy="943200"/>
          </a:xfrm>
          <a:prstGeom prst="roundRect">
            <a:avLst>
              <a:gd fmla="val 37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980960" y="4949245"/>
            <a:ext cx="4541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Grupo de </a:t>
            </a:r>
            <a:r>
              <a:rPr b="1" lang="en-US" sz="1900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notações no WhatsApp</a:t>
            </a:r>
            <a:endParaRPr b="1" i="0" spc="0" sz="19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  </a:t>
            </a: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muita informação junta, sem organizaçã</a:t>
            </a:r>
            <a:r>
              <a:rPr lang="en-US" sz="1500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2346" y="5324450"/>
            <a:ext cx="552586" cy="552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137"/>
              </a:srgbClr>
            </a:outerShdw>
          </a:effectLst>
        </p:spPr>
      </p:pic>
      <p:sp>
        <p:nvSpPr>
          <p:cNvPr id="136" name="Google Shape;136;p4"/>
          <p:cNvSpPr txBox="1"/>
          <p:nvPr/>
        </p:nvSpPr>
        <p:spPr>
          <a:xfrm>
            <a:off x="6309000" y="2248215"/>
            <a:ext cx="519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pc="200" sz="1200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COMO O MAPILL RESOLVE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309000" y="2579238"/>
            <a:ext cx="5197200" cy="3117911"/>
          </a:xfrm>
          <a:prstGeom prst="roundRect">
            <a:avLst>
              <a:gd fmla="val 37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6674710" y="2809238"/>
            <a:ext cx="4465800" cy="19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</a:t>
            </a:r>
            <a:r>
              <a:rPr b="1" i="0" lang="en-US" spc="0" sz="16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</a:t>
            </a:r>
            <a:r>
              <a:rPr lang="en-US" sz="1600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gerenciamento completo do estoque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  </a:t>
            </a:r>
            <a:r>
              <a:rPr lang="en-US" sz="1600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múltiplos tipos de lembretes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  </a:t>
            </a:r>
            <a:r>
              <a:rPr b="0" i="0" lang="en-US" spc="0" sz="16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registro de cada dose, tomada ou não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  </a:t>
            </a:r>
            <a:r>
              <a:rPr lang="en-US" sz="1600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 do remédio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  </a:t>
            </a:r>
            <a:r>
              <a:rPr lang="en-US" sz="1600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foto do medicamento + receita médica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6659100" y="5112000"/>
            <a:ext cx="4497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lang="en-US" sz="1700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Tudo em um só lugar, sempre à mão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4" title="mark-on-blu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69099" y="5336286"/>
            <a:ext cx="552575" cy="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JUSTIFICATIVA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mercado cobra, repassa dados ou simplifica a posologia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85800" y="1783079"/>
            <a:ext cx="7772400" cy="3630168"/>
          </a:xfrm>
          <a:prstGeom prst="roundRect">
            <a:avLst>
              <a:gd fmla="val 352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754880" y="1874519"/>
            <a:ext cx="1188720" cy="3401568"/>
          </a:xfrm>
          <a:prstGeom prst="roundRect">
            <a:avLst>
              <a:gd fmla="val 7692" name="adj"/>
            </a:avLst>
          </a:prstGeom>
          <a:solidFill>
            <a:srgbClr val="F5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4754880" y="1874519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5943600" y="1874519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Medisafe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7132320" y="1874519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MyTherapy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960120" y="2441448"/>
            <a:ext cx="37490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Funcionalidades essenciais gratuitas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4754880" y="2441448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5943600" y="2441448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7132320" y="2441448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960120" y="3008376"/>
            <a:ext cx="37490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Gratuidade sem repasse de dados a terceiros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4754880" y="3008376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5943600" y="3008376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7132320" y="3008376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960120" y="3575303"/>
            <a:ext cx="37490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Funcionamento sem conta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4754880" y="3575303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5943600" y="3575303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7132320" y="3575303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960120" y="4142231"/>
            <a:ext cx="37490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Controle de estoque com aviso, sem custo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4754880" y="4142231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5943600" y="4142231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7132320" y="4142231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960120" y="4709160"/>
            <a:ext cx="374903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Dose variável por horário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4754938" y="4877126"/>
            <a:ext cx="1188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5943600" y="4709160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7132320" y="4709160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685800" y="550468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Fonte: adaptado do Quadro 2 do TCC, com base em Medisafe (2026) e MyTherapy (2026).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8915400" y="1874525"/>
            <a:ext cx="2749500" cy="3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Medisafe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Grátis só com 2 medicamentos</a:t>
            </a:r>
            <a:b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-US" spc="0" sz="11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(desde jan 2026)</a:t>
            </a:r>
            <a:endParaRPr b="0" i="0" spc="0" sz="11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pc="0" sz="15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MyTherapy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Gratuito com repasse de dados anonimizados</a:t>
            </a:r>
            <a:endParaRPr b="0" i="0" spc="0" sz="15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pc="0" sz="15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5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Troca amplitude por profundidade no tratamento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Apoiar a rotina medicamentosa sem depender de conexão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685800" y="1696915"/>
            <a:ext cx="10820100" cy="1417200"/>
          </a:xfrm>
          <a:prstGeom prst="roundRect">
            <a:avLst>
              <a:gd fmla="val 903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960135" y="1916490"/>
            <a:ext cx="100887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200" sz="11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 GERAL</a:t>
            </a:r>
            <a:endParaRPr b="1" i="0" spc="200" sz="1100" u="none" cap="none" strike="noStrike">
              <a:solidFill>
                <a:srgbClr val="0A3F8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pc="200" sz="1100" u="none" cap="none" strike="noStrike">
              <a:solidFill>
                <a:srgbClr val="0A3F8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Desenvolver uma aplicação móvel que integra o agendamento e o registro de doses, o estoque e os compromissos terapêuticos, numa arquitetura </a:t>
            </a:r>
            <a:r>
              <a:rPr b="1" i="1" lang="en-US" spc="0" sz="1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offline-first</a:t>
            </a:r>
            <a:endParaRPr b="1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85800" y="3840480"/>
            <a:ext cx="2017715" cy="1965960"/>
          </a:xfrm>
          <a:prstGeom prst="roundRect">
            <a:avLst>
              <a:gd fmla="val 65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960120" y="4069080"/>
            <a:ext cx="457200" cy="457200"/>
          </a:xfrm>
          <a:prstGeom prst="ellipse">
            <a:avLst/>
          </a:prstGeom>
          <a:solidFill>
            <a:srgbClr val="0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960120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960120" y="4663440"/>
            <a:ext cx="15147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Levantar requisitos na literatura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2886395" y="3840480"/>
            <a:ext cx="2017715" cy="1965960"/>
          </a:xfrm>
          <a:prstGeom prst="roundRect">
            <a:avLst>
              <a:gd fmla="val 65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160715" y="4069080"/>
            <a:ext cx="457200" cy="457200"/>
          </a:xfrm>
          <a:prstGeom prst="ellipse">
            <a:avLst/>
          </a:prstGeom>
          <a:solidFill>
            <a:srgbClr val="0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3160715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3160715" y="4663440"/>
            <a:ext cx="15147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Especificar requisitos e regras de negócio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086990" y="3840480"/>
            <a:ext cx="2017715" cy="1965960"/>
          </a:xfrm>
          <a:prstGeom prst="roundRect">
            <a:avLst>
              <a:gd fmla="val 65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361310" y="4069080"/>
            <a:ext cx="457200" cy="457200"/>
          </a:xfrm>
          <a:prstGeom prst="ellipse">
            <a:avLst/>
          </a:prstGeom>
          <a:solidFill>
            <a:srgbClr val="0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5361310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5361310" y="4663440"/>
            <a:ext cx="15147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Projetar arquitetura, dados e telas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7287585" y="3840480"/>
            <a:ext cx="2017715" cy="1965960"/>
          </a:xfrm>
          <a:prstGeom prst="roundRect">
            <a:avLst>
              <a:gd fmla="val 65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7561905" y="4069080"/>
            <a:ext cx="457200" cy="457200"/>
          </a:xfrm>
          <a:prstGeom prst="ellipse">
            <a:avLst/>
          </a:prstGeom>
          <a:solidFill>
            <a:srgbClr val="0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7561905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7561905" y="4663440"/>
            <a:ext cx="15147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Implementar a aplicação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9488180" y="3840480"/>
            <a:ext cx="2017715" cy="1965960"/>
          </a:xfrm>
          <a:prstGeom prst="roundRect">
            <a:avLst>
              <a:gd fmla="val 65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9762500" y="4069080"/>
            <a:ext cx="457200" cy="457200"/>
          </a:xfrm>
          <a:prstGeom prst="ellipse">
            <a:avLst/>
          </a:prstGeom>
          <a:solidFill>
            <a:srgbClr val="0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9762500" y="4069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9762500" y="4663440"/>
            <a:ext cx="15147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Analisar o </a:t>
            </a:r>
            <a:r>
              <a:rPr b="1" i="1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offline-first</a:t>
            </a: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em cenários controlados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685800" y="34747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200" sz="11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OBJETIVOS ESPECÍFICOS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FUNDAMENTAÇÃO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Três pilares sustentam as decisões do Mapill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Mapill;345"/>
          <p:cNvSpPr/>
          <p:nvPr/>
        </p:nvSpPr>
        <p:spPr>
          <a:xfrm>
            <a:off x="685800" y="1737360"/>
            <a:ext cx="3423818" cy="393192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Mapill;346"/>
          <p:cNvSpPr txBox="1"/>
          <p:nvPr/>
        </p:nvSpPr>
        <p:spPr>
          <a:xfrm>
            <a:off x="1005840" y="2037360"/>
            <a:ext cx="27837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COGNIÇÃO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Mapill;347"/>
          <p:cNvSpPr txBox="1"/>
          <p:nvPr/>
        </p:nvSpPr>
        <p:spPr>
          <a:xfrm>
            <a:off x="1005840" y="2437360"/>
            <a:ext cx="2783738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Memória prospectiva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Baddeley; Eysenck; Anderson, 2010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Desoneração cognitiva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Risko; Gilbert, 2016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Mapill;348"/>
          <p:cNvSpPr/>
          <p:nvPr/>
        </p:nvSpPr>
        <p:spPr>
          <a:xfrm>
            <a:off x="877824" y="4449240"/>
            <a:ext cx="3039770" cy="900000"/>
          </a:xfrm>
          <a:prstGeom prst="roundRect">
            <a:avLst>
              <a:gd name="adj" fmla="val 14223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Mapill;349"/>
          <p:cNvSpPr txBox="1"/>
          <p:nvPr/>
        </p:nvSpPr>
        <p:spPr>
          <a:xfrm>
            <a:off x="1005840" y="4449240"/>
            <a:ext cx="2783738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app lembra e calcula pelo paciente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Mapill;350"/>
          <p:cNvSpPr/>
          <p:nvPr/>
        </p:nvSpPr>
        <p:spPr>
          <a:xfrm>
            <a:off x="4383938" y="1737360"/>
            <a:ext cx="3423818" cy="393192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Mapill;351"/>
          <p:cNvSpPr txBox="1"/>
          <p:nvPr/>
        </p:nvSpPr>
        <p:spPr>
          <a:xfrm>
            <a:off x="4703978" y="2037360"/>
            <a:ext cx="27837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Mapill;352"/>
          <p:cNvSpPr txBox="1"/>
          <p:nvPr/>
        </p:nvSpPr>
        <p:spPr>
          <a:xfrm>
            <a:off x="4703978" y="2437360"/>
            <a:ext cx="2783738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Fonte única de verdade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Loshin, 2010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Offline-first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Allsopp, 2014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Last-Write-Wins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Kleppmann, 2017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Mapill;353"/>
          <p:cNvSpPr/>
          <p:nvPr/>
        </p:nvSpPr>
        <p:spPr>
          <a:xfrm>
            <a:off x="4575962" y="4449240"/>
            <a:ext cx="3039770" cy="900000"/>
          </a:xfrm>
          <a:prstGeom prst="roundRect">
            <a:avLst>
              <a:gd name="adj" fmla="val 14223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Mapill;354"/>
          <p:cNvSpPr txBox="1"/>
          <p:nvPr/>
        </p:nvSpPr>
        <p:spPr>
          <a:xfrm>
            <a:off x="4703978" y="4449240"/>
            <a:ext cx="2783738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tudo num só lugar, mesmo sem internet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Mapill;355"/>
          <p:cNvSpPr/>
          <p:nvPr/>
        </p:nvSpPr>
        <p:spPr>
          <a:xfrm>
            <a:off x="8082076" y="1737360"/>
            <a:ext cx="3423818" cy="393192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Mapill;356"/>
          <p:cNvSpPr txBox="1"/>
          <p:nvPr/>
        </p:nvSpPr>
        <p:spPr>
          <a:xfrm>
            <a:off x="8402116" y="2037360"/>
            <a:ext cx="27837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INTERFACE E PROTEÇÃO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Mapill;357"/>
          <p:cNvSpPr txBox="1"/>
          <p:nvPr/>
        </p:nvSpPr>
        <p:spPr>
          <a:xfrm>
            <a:off x="8402116" y="2437360"/>
            <a:ext cx="2783738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Heurísticas de Nielsen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Nielsen, 1994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WCAG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W3C, 2018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LGPD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Brasil, 2018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Mapill;358"/>
          <p:cNvSpPr/>
          <p:nvPr/>
        </p:nvSpPr>
        <p:spPr>
          <a:xfrm>
            <a:off x="8274100" y="4449240"/>
            <a:ext cx="3039770" cy="900000"/>
          </a:xfrm>
          <a:prstGeom prst="roundRect">
            <a:avLst>
              <a:gd name="adj" fmla="val 14223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Mapill;359"/>
          <p:cNvSpPr txBox="1"/>
          <p:nvPr/>
        </p:nvSpPr>
        <p:spPr>
          <a:xfrm>
            <a:off x="8402116" y="4449240"/>
            <a:ext cx="2783738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fácil de usar, acessível e com dados protegidos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· ARQUITETURA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 Architecture em três camadas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280160" y="1783080"/>
            <a:ext cx="4114800" cy="4114800"/>
          </a:xfrm>
          <a:prstGeom prst="ellipse">
            <a:avLst/>
          </a:prstGeom>
          <a:solidFill>
            <a:srgbClr val="DCE7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920239" y="2423160"/>
            <a:ext cx="2834640" cy="2834640"/>
          </a:xfrm>
          <a:prstGeom prst="ellipse">
            <a:avLst/>
          </a:prstGeom>
          <a:solidFill>
            <a:srgbClr val="9DC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2560320" y="3063240"/>
            <a:ext cx="1554480" cy="1554480"/>
          </a:xfrm>
          <a:prstGeom prst="ellipse">
            <a:avLst/>
          </a:prstGeom>
          <a:solidFill>
            <a:srgbClr val="0B5F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1965960" y="194767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Apresentação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telas e design próprio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1965960" y="260605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SQLite e Supabase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2560320" y="3063240"/>
            <a:ext cx="1554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Domínio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TypeScript puro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5532120" y="3566160"/>
            <a:ext cx="1051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dependência aponta para dentro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685800" y="60533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Fonte: elaborado pelo autor (2026), com base em Martin (2019) e na seção 4.4 do TCC.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812280" y="1828800"/>
            <a:ext cx="4690872" cy="694944"/>
          </a:xfrm>
          <a:prstGeom prst="roundRect">
            <a:avLst>
              <a:gd fmla="val 184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7086600" y="1828800"/>
            <a:ext cx="42976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React Native + Expo</a:t>
            </a: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base única com acesso nativo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812280" y="2651760"/>
            <a:ext cx="4690872" cy="694944"/>
          </a:xfrm>
          <a:prstGeom prst="roundRect">
            <a:avLst>
              <a:gd fmla="val 184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7086600" y="2651760"/>
            <a:ext cx="42976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TypeScript</a:t>
            </a: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tipagem nas regras clínicas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812280" y="3474720"/>
            <a:ext cx="4690872" cy="694944"/>
          </a:xfrm>
          <a:prstGeom prst="roundRect">
            <a:avLst>
              <a:gd fmla="val 184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7086600" y="3474720"/>
            <a:ext cx="42976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SQLite</a:t>
            </a: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banco no aparelho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812280" y="4297680"/>
            <a:ext cx="4690872" cy="694944"/>
          </a:xfrm>
          <a:prstGeom prst="roundRect">
            <a:avLst>
              <a:gd fmla="val 184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7086600" y="4297680"/>
            <a:ext cx="42976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Supabase (PostgreSQL)</a:t>
            </a: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cópia na nuvem, com RLS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812280" y="5120640"/>
            <a:ext cx="4690872" cy="694944"/>
          </a:xfrm>
          <a:prstGeom prst="roundRect">
            <a:avLst>
              <a:gd fmla="val 184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7086600" y="5120640"/>
            <a:ext cx="429768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react-native-notify-kit</a:t>
            </a: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alarme pelo agendador do Android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· REQUISITOS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685800" y="804672"/>
            <a:ext cx="1082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44 requisitos funcionais em seis áreas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685800" y="5788152"/>
            <a:ext cx="10820095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Fonte: Quadros 3 a 10 do TCC. Além dos 44 requisitos funcionais, o projeto define 9 requisitos não funcionais e 20 regras de negócio.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Mapill;410"/>
          <p:cNvSpPr/>
          <p:nvPr/>
        </p:nvSpPr>
        <p:spPr>
          <a:xfrm>
            <a:off x="685800" y="1737360"/>
            <a:ext cx="3454298" cy="1865376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Mapill;411"/>
          <p:cNvSpPr txBox="1"/>
          <p:nvPr/>
        </p:nvSpPr>
        <p:spPr>
          <a:xfrm>
            <a:off x="960120" y="1967360"/>
            <a:ext cx="2905658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Identidade e consentimento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Mapill;412"/>
          <p:cNvSpPr txBox="1"/>
          <p:nvPr/>
        </p:nvSpPr>
        <p:spPr>
          <a:xfrm>
            <a:off x="960120" y="2327360"/>
            <a:ext cx="2905658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uso sem conta, login Google opcional e termo aceito</a:t>
            </a:r>
            <a:endParaRPr b="0" i="0" spc="0" sz="13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3" name="Mapill;413"/>
          <p:cNvSpPr/>
          <p:nvPr/>
        </p:nvSpPr>
        <p:spPr>
          <a:xfrm>
            <a:off x="960120" y="3006976"/>
            <a:ext cx="1280160" cy="365760"/>
          </a:xfrm>
          <a:prstGeom prst="roundRect">
            <a:avLst>
              <a:gd name="adj" fmla="val 34999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Mapill;414"/>
          <p:cNvSpPr txBox="1"/>
          <p:nvPr/>
        </p:nvSpPr>
        <p:spPr>
          <a:xfrm>
            <a:off x="960120" y="300697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RF 01 a 06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Mapill;415"/>
          <p:cNvSpPr/>
          <p:nvPr/>
        </p:nvSpPr>
        <p:spPr>
          <a:xfrm>
            <a:off x="4368698" y="1737360"/>
            <a:ext cx="3454298" cy="1865376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Mapill;416"/>
          <p:cNvSpPr txBox="1"/>
          <p:nvPr/>
        </p:nvSpPr>
        <p:spPr>
          <a:xfrm>
            <a:off x="4643018" y="1967360"/>
            <a:ext cx="2905658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Cadastro clínico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Mapill;417"/>
          <p:cNvSpPr txBox="1"/>
          <p:nvPr/>
        </p:nvSpPr>
        <p:spPr>
          <a:xfrm>
            <a:off x="4643018" y="2327360"/>
            <a:ext cx="2905658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dez formas, quatro frequências e código de barras</a:t>
            </a:r>
            <a:endParaRPr b="0" i="0" spc="0" sz="13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8" name="Mapill;418"/>
          <p:cNvSpPr/>
          <p:nvPr/>
        </p:nvSpPr>
        <p:spPr>
          <a:xfrm>
            <a:off x="4643018" y="3006976"/>
            <a:ext cx="1280160" cy="365760"/>
          </a:xfrm>
          <a:prstGeom prst="roundRect">
            <a:avLst>
              <a:gd name="adj" fmla="val 34999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Mapill;419"/>
          <p:cNvSpPr txBox="1"/>
          <p:nvPr/>
        </p:nvSpPr>
        <p:spPr>
          <a:xfrm>
            <a:off x="4643018" y="300697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RF 07 a 15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Mapill;420"/>
          <p:cNvSpPr/>
          <p:nvPr/>
        </p:nvSpPr>
        <p:spPr>
          <a:xfrm>
            <a:off x="8051596" y="1737360"/>
            <a:ext cx="3454298" cy="1865376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Mapill;421"/>
          <p:cNvSpPr txBox="1"/>
          <p:nvPr/>
        </p:nvSpPr>
        <p:spPr>
          <a:xfrm>
            <a:off x="8325916" y="1967360"/>
            <a:ext cx="2905658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Operação diária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Mapill;422"/>
          <p:cNvSpPr txBox="1"/>
          <p:nvPr/>
        </p:nvSpPr>
        <p:spPr>
          <a:xfrm>
            <a:off x="8325916" y="2327360"/>
            <a:ext cx="2905658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confirmar ou pular, e estoque que desconta a dose</a:t>
            </a:r>
            <a:endParaRPr b="0" i="0" spc="0" sz="13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3" name="Mapill;423"/>
          <p:cNvSpPr/>
          <p:nvPr/>
        </p:nvSpPr>
        <p:spPr>
          <a:xfrm>
            <a:off x="8325916" y="3006976"/>
            <a:ext cx="1280160" cy="365760"/>
          </a:xfrm>
          <a:prstGeom prst="roundRect">
            <a:avLst>
              <a:gd name="adj" fmla="val 34999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Mapill;424"/>
          <p:cNvSpPr txBox="1"/>
          <p:nvPr/>
        </p:nvSpPr>
        <p:spPr>
          <a:xfrm>
            <a:off x="8325916" y="300697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RF 16 a 24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Mapill;425"/>
          <p:cNvSpPr/>
          <p:nvPr/>
        </p:nvSpPr>
        <p:spPr>
          <a:xfrm>
            <a:off x="685800" y="3803904"/>
            <a:ext cx="3454298" cy="1865376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Mapill;426"/>
          <p:cNvSpPr txBox="1"/>
          <p:nvPr/>
        </p:nvSpPr>
        <p:spPr>
          <a:xfrm>
            <a:off x="960120" y="4033904"/>
            <a:ext cx="2905658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Lembretes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Mapill;427"/>
          <p:cNvSpPr txBox="1"/>
          <p:nvPr/>
        </p:nvSpPr>
        <p:spPr>
          <a:xfrm>
            <a:off x="960120" y="4393904"/>
            <a:ext cx="2905658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alarme com o app fechado e um aviso por horário</a:t>
            </a:r>
            <a:endParaRPr b="0" i="0" spc="0" sz="13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8" name="Mapill;428"/>
          <p:cNvSpPr/>
          <p:nvPr/>
        </p:nvSpPr>
        <p:spPr>
          <a:xfrm>
            <a:off x="960120" y="5073520"/>
            <a:ext cx="1280160" cy="365760"/>
          </a:xfrm>
          <a:prstGeom prst="roundRect">
            <a:avLst>
              <a:gd name="adj" fmla="val 34999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Mapill;429"/>
          <p:cNvSpPr txBox="1"/>
          <p:nvPr/>
        </p:nvSpPr>
        <p:spPr>
          <a:xfrm>
            <a:off x="960120" y="50735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RF 25 a 33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Mapill;430"/>
          <p:cNvSpPr/>
          <p:nvPr/>
        </p:nvSpPr>
        <p:spPr>
          <a:xfrm>
            <a:off x="4368698" y="3803904"/>
            <a:ext cx="3454298" cy="1865376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Mapill;431"/>
          <p:cNvSpPr txBox="1"/>
          <p:nvPr/>
        </p:nvSpPr>
        <p:spPr>
          <a:xfrm>
            <a:off x="4643018" y="4033904"/>
            <a:ext cx="2905658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Agenda clínica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Mapill;432"/>
          <p:cNvSpPr txBox="1"/>
          <p:nvPr/>
        </p:nvSpPr>
        <p:spPr>
          <a:xfrm>
            <a:off x="4643018" y="4393904"/>
            <a:ext cx="2905658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consultas, exames e doses no mesmo calendário</a:t>
            </a:r>
            <a:endParaRPr b="0" i="0" spc="0" sz="13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3" name="Mapill;433"/>
          <p:cNvSpPr/>
          <p:nvPr/>
        </p:nvSpPr>
        <p:spPr>
          <a:xfrm>
            <a:off x="4643018" y="5073520"/>
            <a:ext cx="1280160" cy="365760"/>
          </a:xfrm>
          <a:prstGeom prst="roundRect">
            <a:avLst>
              <a:gd name="adj" fmla="val 34999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Mapill;434"/>
          <p:cNvSpPr txBox="1"/>
          <p:nvPr/>
        </p:nvSpPr>
        <p:spPr>
          <a:xfrm>
            <a:off x="4643018" y="50735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RF 34 a 38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Mapill;435"/>
          <p:cNvSpPr/>
          <p:nvPr/>
        </p:nvSpPr>
        <p:spPr>
          <a:xfrm>
            <a:off x="8051596" y="3803904"/>
            <a:ext cx="3454298" cy="1865376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Mapill;436"/>
          <p:cNvSpPr txBox="1"/>
          <p:nvPr/>
        </p:nvSpPr>
        <p:spPr>
          <a:xfrm>
            <a:off x="8325916" y="4033904"/>
            <a:ext cx="2905658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pc="0" sz="15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Dados e direitos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Mapill;437"/>
          <p:cNvSpPr txBox="1"/>
          <p:nvPr/>
        </p:nvSpPr>
        <p:spPr>
          <a:xfrm>
            <a:off x="8325916" y="4393904"/>
            <a:ext cx="2905658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sincronização, taxa de adesão, exportar e apagar</a:t>
            </a:r>
            <a:endParaRPr b="0" i="0" spc="0" sz="13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8" name="Mapill;438"/>
          <p:cNvSpPr/>
          <p:nvPr/>
        </p:nvSpPr>
        <p:spPr>
          <a:xfrm>
            <a:off x="8325916" y="5073520"/>
            <a:ext cx="1280160" cy="365760"/>
          </a:xfrm>
          <a:prstGeom prst="roundRect">
            <a:avLst>
              <a:gd name="adj" fmla="val 34999"/>
            </a:avLst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Mapill;439"/>
          <p:cNvSpPr txBox="1"/>
          <p:nvPr/>
        </p:nvSpPr>
        <p:spPr>
          <a:xfrm>
            <a:off x="8325916" y="50735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300" u="none" cap="none" strike="noStrike">
                <a:solidFill>
                  <a:srgbClr val="0A3F8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RF 39 a 44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· SINCRONIZAÇÃO E SEGURANÇA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1"/>
          <p:cNvSpPr txBox="1"/>
          <p:nvPr/>
        </p:nvSpPr>
        <p:spPr>
          <a:xfrm>
            <a:off x="685800" y="804672"/>
            <a:ext cx="1082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Grava primeiro no aparelho. A nuvem é </a:t>
            </a:r>
            <a:r>
              <a:rPr b="1" i="0" lang="en-US" spc="0" sz="28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cópia </a:t>
            </a: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 </a:t>
            </a:r>
            <a:r>
              <a:rPr b="1" i="0" lang="en-US" spc="0" sz="28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ponte</a:t>
            </a:r>
            <a:endParaRPr b="0" i="0" spc="0" sz="1400" u="none" cap="none" strike="noStrike">
              <a:solidFill>
                <a:srgbClr val="0B5F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1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685800" y="1783080"/>
            <a:ext cx="6492240" cy="416052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55_0.jpeg" id="321" name="Google Shape;3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313" y="1984562"/>
            <a:ext cx="6341226" cy="375755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1"/>
          <p:cNvSpPr txBox="1"/>
          <p:nvPr/>
        </p:nvSpPr>
        <p:spPr>
          <a:xfrm>
            <a:off x="685800" y="6053328"/>
            <a:ext cx="6858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Figura 1 - Resolução de conflito pelo critério </a:t>
            </a:r>
            <a:r>
              <a:rPr b="0" i="1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Last-Write-Wins</a:t>
            </a: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Fonte: elaborado pelo autor (2026).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7498079" y="1783080"/>
            <a:ext cx="4005072" cy="1234440"/>
          </a:xfrm>
          <a:prstGeom prst="roundRect">
            <a:avLst>
              <a:gd fmla="val 103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7818120" y="1783080"/>
            <a:ext cx="3474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Vence a edição mais recente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inteira, sem mesclar campos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7498079" y="3200400"/>
            <a:ext cx="4005072" cy="1234440"/>
          </a:xfrm>
          <a:prstGeom prst="roundRect">
            <a:avLst>
              <a:gd fmla="val 103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7818120" y="3200400"/>
            <a:ext cx="3474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servidor aplica o mesmo critério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 recusa a atualização mais antiga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7498079" y="4617720"/>
            <a:ext cx="4005072" cy="1234440"/>
          </a:xfrm>
          <a:prstGeom prst="roundRect">
            <a:avLst>
              <a:gd fmla="val 1037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7818120" y="4871370"/>
            <a:ext cx="34746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Isolamento por usuário 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RLS em todas as tabelas e token JWT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7730284" y="5413181"/>
            <a:ext cx="307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US" spc="0" sz="800" u="none" cap="none" strike="noStrik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Row-Level Security </a:t>
            </a:r>
            <a:r>
              <a:rPr b="0" i="0" lang="en-US" spc="0" sz="800" u="none" cap="none" strike="noStrik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 JSON </a:t>
            </a:r>
            <a:r>
              <a:rPr b="0" i="1" lang="en-US" spc="0" sz="800" u="none" cap="none" strike="noStrike">
                <a:solidFill>
                  <a:srgbClr val="B7B7B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Web Token</a:t>
            </a:r>
            <a:endParaRPr b="0" i="1" spc="0" sz="800" u="none" cap="none" strike="noStrike">
              <a:solidFill>
                <a:srgbClr val="B7B7B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· DEMONSTRAÇÃO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2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aplicativo funcionando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2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2"/>
          <p:cNvSpPr txBox="1"/>
          <p:nvPr/>
        </p:nvSpPr>
        <p:spPr>
          <a:xfrm>
            <a:off x="10591495" y="641908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68_2.png" id="339" name="Google Shape;3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" y="1874519"/>
            <a:ext cx="1447710" cy="3246120"/>
          </a:xfrm>
          <a:prstGeom prst="roundRect">
            <a:avLst>
              <a:gd fmla="val 8842" name="adj"/>
            </a:avLst>
          </a:prstGeom>
          <a:noFill/>
          <a:ln>
            <a:noFill/>
          </a:ln>
        </p:spPr>
      </p:pic>
      <p:sp>
        <p:nvSpPr>
          <p:cNvPr id="340" name="Google Shape;340;p12"/>
          <p:cNvSpPr txBox="1"/>
          <p:nvPr/>
        </p:nvSpPr>
        <p:spPr>
          <a:xfrm>
            <a:off x="685800" y="5349240"/>
            <a:ext cx="161284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a.  </a:t>
            </a:r>
            <a:r>
              <a:rPr b="1" i="0" lang="en-US" spc="0" sz="1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Cadastro por código de barras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12" title="Screenshot_2026-10-10-19-26-56-131_com.gabsteffens.mapillapp.jpg"/>
          <p:cNvPicPr preferRelativeResize="0"/>
          <p:nvPr/>
        </p:nvPicPr>
        <p:blipFill rotWithShape="1">
          <a:blip r:embed="rId4">
            <a:alphaModFix/>
          </a:blip>
          <a:srcRect b="0" l="417" r="416" t="0"/>
          <a:stretch/>
        </p:blipFill>
        <p:spPr>
          <a:xfrm>
            <a:off x="2636977" y="1874519"/>
            <a:ext cx="1447800" cy="3246000"/>
          </a:xfrm>
          <a:prstGeom prst="roundRect">
            <a:avLst>
              <a:gd fmla="val 8842" name="adj"/>
            </a:avLst>
          </a:prstGeom>
          <a:noFill/>
          <a:ln>
            <a:noFill/>
          </a:ln>
        </p:spPr>
      </p:pic>
      <p:sp>
        <p:nvSpPr>
          <p:cNvPr id="342" name="Google Shape;342;p12"/>
          <p:cNvSpPr txBox="1"/>
          <p:nvPr/>
        </p:nvSpPr>
        <p:spPr>
          <a:xfrm>
            <a:off x="2527249" y="5349240"/>
            <a:ext cx="161284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b.  </a:t>
            </a:r>
            <a:r>
              <a:rPr b="1" i="0" lang="en-US" spc="0" sz="1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Tela inicial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72_0.png" id="343" name="Google Shape;34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8426" y="1874519"/>
            <a:ext cx="1447710" cy="3246120"/>
          </a:xfrm>
          <a:prstGeom prst="roundRect">
            <a:avLst>
              <a:gd fmla="val 8842" name="adj"/>
            </a:avLst>
          </a:prstGeom>
          <a:noFill/>
          <a:ln>
            <a:noFill/>
          </a:ln>
        </p:spPr>
      </p:pic>
      <p:sp>
        <p:nvSpPr>
          <p:cNvPr id="344" name="Google Shape;344;p12"/>
          <p:cNvSpPr txBox="1"/>
          <p:nvPr/>
        </p:nvSpPr>
        <p:spPr>
          <a:xfrm>
            <a:off x="4368698" y="5349240"/>
            <a:ext cx="161284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c.  </a:t>
            </a:r>
            <a:r>
              <a:rPr b="1" i="0" lang="en-US" spc="0" sz="1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Alarme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74_0.png" id="345" name="Google Shape;34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9875" y="1874519"/>
            <a:ext cx="1447710" cy="3246120"/>
          </a:xfrm>
          <a:prstGeom prst="roundRect">
            <a:avLst>
              <a:gd fmla="val 8842" name="adj"/>
            </a:avLst>
          </a:prstGeom>
          <a:noFill/>
          <a:ln>
            <a:noFill/>
          </a:ln>
        </p:spPr>
      </p:pic>
      <p:sp>
        <p:nvSpPr>
          <p:cNvPr id="346" name="Google Shape;346;p12"/>
          <p:cNvSpPr txBox="1"/>
          <p:nvPr/>
        </p:nvSpPr>
        <p:spPr>
          <a:xfrm>
            <a:off x="6210147" y="5349240"/>
            <a:ext cx="161284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d.  </a:t>
            </a:r>
            <a:r>
              <a:rPr b="1" i="0" lang="en-US" spc="0" sz="1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Adesão e calendário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2"/>
          <p:cNvSpPr txBox="1"/>
          <p:nvPr/>
        </p:nvSpPr>
        <p:spPr>
          <a:xfrm>
            <a:off x="8051596" y="5349240"/>
            <a:ext cx="161284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e.  </a:t>
            </a:r>
            <a:r>
              <a:rPr b="1" i="0" lang="en-US" spc="0" sz="1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Relatório em PDF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78_2.png" id="348" name="Google Shape;348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2774" y="1874519"/>
            <a:ext cx="1447800" cy="3246000"/>
          </a:xfrm>
          <a:prstGeom prst="roundRect">
            <a:avLst>
              <a:gd fmla="val 8842" name="adj"/>
            </a:avLst>
          </a:prstGeom>
          <a:noFill/>
          <a:ln>
            <a:noFill/>
          </a:ln>
        </p:spPr>
      </p:pic>
      <p:sp>
        <p:nvSpPr>
          <p:cNvPr id="349" name="Google Shape;349;p12"/>
          <p:cNvSpPr txBox="1"/>
          <p:nvPr/>
        </p:nvSpPr>
        <p:spPr>
          <a:xfrm>
            <a:off x="9893046" y="5349240"/>
            <a:ext cx="161284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f.  </a:t>
            </a:r>
            <a:r>
              <a:rPr b="1" i="0" lang="en-US" spc="0" sz="1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Temas e cores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 txBox="1"/>
          <p:nvPr/>
        </p:nvSpPr>
        <p:spPr>
          <a:xfrm>
            <a:off x="685800" y="6053325"/>
            <a:ext cx="2502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Telas: Figuras 4, 7, 8, 9, 10 e 12 do TCC.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12" title="Screenshot_2026-10-10-19-27-32-700_com.mi.globalbrowser.jpg"/>
          <p:cNvPicPr preferRelativeResize="0"/>
          <p:nvPr/>
        </p:nvPicPr>
        <p:blipFill rotWithShape="1">
          <a:blip r:embed="rId8">
            <a:alphaModFix/>
          </a:blip>
          <a:srcRect b="0" l="407" r="417" t="0"/>
          <a:stretch/>
        </p:blipFill>
        <p:spPr>
          <a:xfrm>
            <a:off x="8161274" y="1953644"/>
            <a:ext cx="1447800" cy="3246000"/>
          </a:xfrm>
          <a:prstGeom prst="roundRect">
            <a:avLst>
              <a:gd fmla="val 8842" name="adj"/>
            </a:avLst>
          </a:prstGeom>
          <a:noFill/>
          <a:ln>
            <a:noFill/>
          </a:ln>
        </p:spPr>
      </p:pic>
      <p:sp>
        <p:nvSpPr>
          <p:cNvPr id="352" name="Google Shape;352;p12"/>
          <p:cNvSpPr txBox="1"/>
          <p:nvPr/>
        </p:nvSpPr>
        <p:spPr>
          <a:xfrm>
            <a:off x="9609075" y="6419100"/>
            <a:ext cx="1612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sng" cap="none" strike="noStrike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9"/>
              </a:rPr>
              <a:t>Vídeo de demonstração</a:t>
            </a:r>
            <a:endParaRPr b="0" i="0" spc="0" sz="10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 txBox="1"/>
          <p:nvPr/>
        </p:nvSpPr>
        <p:spPr>
          <a:xfrm>
            <a:off x="685800" y="804672"/>
            <a:ext cx="1082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Cinco cenários offline-first aprovados em aparelho físico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3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3"/>
          <p:cNvSpPr txBox="1"/>
          <p:nvPr/>
        </p:nvSpPr>
        <p:spPr>
          <a:xfrm>
            <a:off x="10591495" y="6419088"/>
            <a:ext cx="91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</a:t>
            </a:r>
            <a:endParaRPr b="1" i="0" spc="0" sz="10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pc="0" sz="10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685800" y="1606176"/>
            <a:ext cx="6675000" cy="397800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 txBox="1"/>
          <p:nvPr/>
        </p:nvSpPr>
        <p:spPr>
          <a:xfrm>
            <a:off x="1059965" y="1958717"/>
            <a:ext cx="393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Ausência de conexão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5852160" y="1898795"/>
            <a:ext cx="1234500" cy="329100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 txBox="1"/>
          <p:nvPr/>
        </p:nvSpPr>
        <p:spPr>
          <a:xfrm>
            <a:off x="5852110" y="1980270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3"/>
          <p:cNvSpPr txBox="1"/>
          <p:nvPr/>
        </p:nvSpPr>
        <p:spPr>
          <a:xfrm>
            <a:off x="1005840" y="2699194"/>
            <a:ext cx="393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Restabelecimento da conectividade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5852160" y="2657747"/>
            <a:ext cx="1234500" cy="329100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 txBox="1"/>
          <p:nvPr/>
        </p:nvSpPr>
        <p:spPr>
          <a:xfrm>
            <a:off x="5852135" y="2729947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3"/>
          <p:cNvSpPr txBox="1"/>
          <p:nvPr/>
        </p:nvSpPr>
        <p:spPr>
          <a:xfrm>
            <a:off x="1005840" y="3422320"/>
            <a:ext cx="393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Sincronização por restauração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3"/>
          <p:cNvSpPr txBox="1"/>
          <p:nvPr/>
        </p:nvSpPr>
        <p:spPr>
          <a:xfrm>
            <a:off x="1005840" y="4145448"/>
            <a:ext cx="393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Sincronização entre dispositivos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3"/>
          <p:cNvSpPr txBox="1"/>
          <p:nvPr/>
        </p:nvSpPr>
        <p:spPr>
          <a:xfrm>
            <a:off x="1005840" y="4983925"/>
            <a:ext cx="393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Conflito entre registros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685800" y="60533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Fonte: Quadro 28 do TCC. Xiaomi Redmi Note 14 Pro 5G, Android 16.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5852110" y="4156897"/>
            <a:ext cx="1234500" cy="329100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5852110" y="4942522"/>
            <a:ext cx="1234500" cy="329100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5852110" y="4229060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5852135" y="3407360"/>
            <a:ext cx="1234500" cy="329100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 txBox="1"/>
          <p:nvPr/>
        </p:nvSpPr>
        <p:spPr>
          <a:xfrm>
            <a:off x="5852135" y="3479522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"/>
          <p:cNvSpPr txBox="1"/>
          <p:nvPr/>
        </p:nvSpPr>
        <p:spPr>
          <a:xfrm>
            <a:off x="5852110" y="5014685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9" name="Google Shape;379;p13" title="foto mockup.png"/>
          <p:cNvPicPr preferRelativeResize="0"/>
          <p:nvPr/>
        </p:nvPicPr>
        <p:blipFill rotWithShape="1">
          <a:blip r:embed="rId3">
            <a:alphaModFix/>
          </a:blip>
          <a:srcRect b="20013" l="25255" r="25706" t="0"/>
          <a:stretch/>
        </p:blipFill>
        <p:spPr>
          <a:xfrm>
            <a:off x="7726050" y="1372450"/>
            <a:ext cx="3362926" cy="548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8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RESULTADOS · ALARME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8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alarme tocou nas quatro situações testadas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8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8"/>
          <p:cNvSpPr txBox="1"/>
          <p:nvPr/>
        </p:nvSpPr>
        <p:spPr>
          <a:xfrm>
            <a:off x="10591495" y="6419088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685800" y="1783075"/>
            <a:ext cx="6675000" cy="3968100"/>
          </a:xfrm>
          <a:prstGeom prst="roundRect">
            <a:avLst>
              <a:gd fmla="val 30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 txBox="1"/>
          <p:nvPr/>
        </p:nvSpPr>
        <p:spPr>
          <a:xfrm>
            <a:off x="1005840" y="196596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Bloqueado, app nos recentes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5852160" y="2075688"/>
            <a:ext cx="1234440" cy="329184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 txBox="1"/>
          <p:nvPr/>
        </p:nvSpPr>
        <p:spPr>
          <a:xfrm>
            <a:off x="5852160" y="2075688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"/>
          <p:cNvSpPr txBox="1"/>
          <p:nvPr/>
        </p:nvSpPr>
        <p:spPr>
          <a:xfrm>
            <a:off x="1005840" y="2724912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Bloqueado, fora dos recentes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5852160" y="2834640"/>
            <a:ext cx="1234440" cy="329184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8"/>
          <p:cNvSpPr txBox="1"/>
          <p:nvPr/>
        </p:nvSpPr>
        <p:spPr>
          <a:xfrm>
            <a:off x="5852135" y="2906840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8"/>
          <p:cNvSpPr txBox="1"/>
          <p:nvPr/>
        </p:nvSpPr>
        <p:spPr>
          <a:xfrm>
            <a:off x="1005840" y="3483863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 uso, app nos recentes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8"/>
          <p:cNvSpPr txBox="1"/>
          <p:nvPr/>
        </p:nvSpPr>
        <p:spPr>
          <a:xfrm>
            <a:off x="1005840" y="4242816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 uso, fora dos recentes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8"/>
          <p:cNvSpPr txBox="1"/>
          <p:nvPr/>
        </p:nvSpPr>
        <p:spPr>
          <a:xfrm>
            <a:off x="1005840" y="5001768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Após reiniciar o aparelho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8"/>
          <p:cNvSpPr txBox="1"/>
          <p:nvPr/>
        </p:nvSpPr>
        <p:spPr>
          <a:xfrm>
            <a:off x="685800" y="60533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Fonte: seção 5.3 do TCC. Xiaomi Redmi Note 14 Pro 5G, Android 16.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8"/>
          <p:cNvSpPr/>
          <p:nvPr/>
        </p:nvSpPr>
        <p:spPr>
          <a:xfrm>
            <a:off x="7680960" y="1783080"/>
            <a:ext cx="3822191" cy="1920240"/>
          </a:xfrm>
          <a:prstGeom prst="roundRect">
            <a:avLst>
              <a:gd fmla="val 666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8"/>
          <p:cNvSpPr txBox="1"/>
          <p:nvPr/>
        </p:nvSpPr>
        <p:spPr>
          <a:xfrm>
            <a:off x="7946100" y="2163580"/>
            <a:ext cx="3291900" cy="11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200" sz="11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QUEM DISPARA O ALARME?</a:t>
            </a:r>
            <a:endParaRPr b="1" i="0" spc="200" sz="1100" u="none" cap="none" strike="noStrike">
              <a:solidFill>
                <a:srgbClr val="11803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pc="200" sz="1100" u="none" cap="none" strike="noStrike">
              <a:solidFill>
                <a:srgbClr val="11803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agendador do Android</a:t>
            </a:r>
            <a:endParaRPr b="1" i="0" spc="200" sz="1100" u="none" cap="none" strike="noStrike">
              <a:solidFill>
                <a:srgbClr val="11803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 não o app, por isso toca com o app fechado</a:t>
            </a:r>
            <a:endParaRPr b="1" i="0" spc="200" sz="1100" u="none" cap="none" strike="noStrike">
              <a:solidFill>
                <a:srgbClr val="11803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1" name="Google Shape;401;p8"/>
          <p:cNvSpPr/>
          <p:nvPr/>
        </p:nvSpPr>
        <p:spPr>
          <a:xfrm>
            <a:off x="7680950" y="3931925"/>
            <a:ext cx="3822300" cy="1819200"/>
          </a:xfrm>
          <a:prstGeom prst="roundRect">
            <a:avLst>
              <a:gd fmla="val 6363" name="adj"/>
            </a:avLst>
          </a:prstGeom>
          <a:solidFill>
            <a:srgbClr val="FDF3C4"/>
          </a:solidFill>
          <a:ln cap="flat" cmpd="sng" w="38100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8"/>
          <p:cNvSpPr txBox="1"/>
          <p:nvPr/>
        </p:nvSpPr>
        <p:spPr>
          <a:xfrm>
            <a:off x="8000950" y="4126671"/>
            <a:ext cx="3291900" cy="12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pc="200" sz="1100" u="none" cap="none" strike="noStrike">
                <a:solidFill>
                  <a:srgbClr val="5C4A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LIMITAÇÃO</a:t>
            </a:r>
            <a:endParaRPr b="1" i="0" spc="200" sz="1100" u="none" cap="none" strike="noStrike">
              <a:solidFill>
                <a:srgbClr val="5C4A0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pc="200" sz="1100" u="none" cap="none" strike="noStrike">
              <a:solidFill>
                <a:srgbClr val="5C4A0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Após reiniciar, esperou o desbloqueio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5C4A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app orienta liberar o início automático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5852110" y="4333790"/>
            <a:ext cx="1234500" cy="329100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5852110" y="5119415"/>
            <a:ext cx="1234500" cy="329100"/>
          </a:xfrm>
          <a:prstGeom prst="roundRect">
            <a:avLst>
              <a:gd fmla="val 50000" name="adj"/>
            </a:avLst>
          </a:prstGeom>
          <a:solidFill>
            <a:srgbClr val="FDF3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 txBox="1"/>
          <p:nvPr/>
        </p:nvSpPr>
        <p:spPr>
          <a:xfrm>
            <a:off x="5852110" y="4405953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5852135" y="3584253"/>
            <a:ext cx="1234500" cy="329100"/>
          </a:xfrm>
          <a:prstGeom prst="roundRect">
            <a:avLst>
              <a:gd fmla="val 5000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8"/>
          <p:cNvSpPr txBox="1"/>
          <p:nvPr/>
        </p:nvSpPr>
        <p:spPr>
          <a:xfrm>
            <a:off x="5852135" y="3656415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Aprovado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8"/>
          <p:cNvSpPr txBox="1"/>
          <p:nvPr/>
        </p:nvSpPr>
        <p:spPr>
          <a:xfrm>
            <a:off x="5852110" y="5191578"/>
            <a:ext cx="12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0" sz="1200" u="none" cap="none" strike="noStrike">
                <a:solidFill>
                  <a:srgbClr val="5C4A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 ressalva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8"/>
          <p:cNvSpPr txBox="1"/>
          <p:nvPr/>
        </p:nvSpPr>
        <p:spPr>
          <a:xfrm>
            <a:off x="9631800" y="3364750"/>
            <a:ext cx="185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pc="0" sz="1200" u="none" cap="none" strike="noStrike">
                <a:solidFill>
                  <a:srgbClr val="8888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react-native-notify-kit</a:t>
            </a:r>
            <a:endParaRPr b="0" i="1" spc="0" sz="1200" u="none" cap="none" strike="noStrike">
              <a:solidFill>
                <a:srgbClr val="88888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4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CONCLUSÃO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4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resposta à pergunta de pesquisa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4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4"/>
          <p:cNvSpPr txBox="1"/>
          <p:nvPr/>
        </p:nvSpPr>
        <p:spPr>
          <a:xfrm>
            <a:off x="10591495" y="6419088"/>
            <a:ext cx="91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685800" y="1783080"/>
            <a:ext cx="10820095" cy="731520"/>
          </a:xfrm>
          <a:prstGeom prst="roundRect">
            <a:avLst>
              <a:gd fmla="val 75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 txBox="1"/>
          <p:nvPr/>
        </p:nvSpPr>
        <p:spPr>
          <a:xfrm>
            <a:off x="1005840" y="178308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Centralizar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4"/>
          <p:cNvSpPr txBox="1"/>
          <p:nvPr/>
        </p:nvSpPr>
        <p:spPr>
          <a:xfrm>
            <a:off x="3749040" y="1783080"/>
            <a:ext cx="7498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remédios, estoque, consultas e receitas num só aplicativo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685800" y="2606040"/>
            <a:ext cx="10820095" cy="731520"/>
          </a:xfrm>
          <a:prstGeom prst="roundRect">
            <a:avLst>
              <a:gd fmla="val 75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 txBox="1"/>
          <p:nvPr/>
        </p:nvSpPr>
        <p:spPr>
          <a:xfrm>
            <a:off x="1005840" y="26060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Confiabilidade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4"/>
          <p:cNvSpPr txBox="1"/>
          <p:nvPr/>
        </p:nvSpPr>
        <p:spPr>
          <a:xfrm>
            <a:off x="3748977" y="2840990"/>
            <a:ext cx="7498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alarme toca com o app fechado, e nada depende de internet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685800" y="3429000"/>
            <a:ext cx="10820095" cy="731520"/>
          </a:xfrm>
          <a:prstGeom prst="roundRect">
            <a:avLst>
              <a:gd fmla="val 75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 txBox="1"/>
          <p:nvPr/>
        </p:nvSpPr>
        <p:spPr>
          <a:xfrm>
            <a:off x="1005840" y="342900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Segurança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4"/>
          <p:cNvSpPr txBox="1"/>
          <p:nvPr/>
        </p:nvSpPr>
        <p:spPr>
          <a:xfrm>
            <a:off x="3749040" y="3429000"/>
            <a:ext cx="7498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cada usuário só acessa os próprios dados, e dá para usar sem conta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685800" y="4251960"/>
            <a:ext cx="10820095" cy="731520"/>
          </a:xfrm>
          <a:prstGeom prst="roundRect">
            <a:avLst>
              <a:gd fmla="val 75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 txBox="1"/>
          <p:nvPr/>
        </p:nvSpPr>
        <p:spPr>
          <a:xfrm>
            <a:off x="1005840" y="425196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pc="0" sz="19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Usabilidade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4"/>
          <p:cNvSpPr txBox="1"/>
          <p:nvPr/>
        </p:nvSpPr>
        <p:spPr>
          <a:xfrm>
            <a:off x="3748977" y="4532635"/>
            <a:ext cx="7498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pc="0" sz="17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 guiado pelas heurísticas de Nielsen + tópicos em acessibilidade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685800" y="5166360"/>
            <a:ext cx="10820095" cy="640080"/>
          </a:xfrm>
          <a:prstGeom prst="roundRect">
            <a:avLst>
              <a:gd fmla="val 16470" name="adj"/>
            </a:avLst>
          </a:prstGeom>
          <a:solidFill>
            <a:srgbClr val="E3F6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 txBox="1"/>
          <p:nvPr/>
        </p:nvSpPr>
        <p:spPr>
          <a:xfrm>
            <a:off x="1005860" y="5347800"/>
            <a:ext cx="1008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pc="0" sz="1800" u="none" cap="none" strike="noStrike">
                <a:solidFill>
                  <a:srgbClr val="11803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Objetivos atendidos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5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TRABALHOS FUTUROS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5"/>
          <p:cNvSpPr txBox="1"/>
          <p:nvPr/>
        </p:nvSpPr>
        <p:spPr>
          <a:xfrm>
            <a:off x="685800" y="804672"/>
            <a:ext cx="108200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pc="0" sz="2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Cada limitação aponta um próximo passo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5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5"/>
          <p:cNvSpPr txBox="1"/>
          <p:nvPr/>
        </p:nvSpPr>
        <p:spPr>
          <a:xfrm>
            <a:off x="10591495" y="6419088"/>
            <a:ext cx="91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</a:t>
            </a:r>
            <a:endParaRPr b="1" i="0" spc="0" sz="10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pc="0" sz="10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pc="0" sz="10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685800" y="1783080"/>
            <a:ext cx="10820095" cy="713232"/>
          </a:xfrm>
          <a:prstGeom prst="roundRect">
            <a:avLst>
              <a:gd fmla="val 1794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 txBox="1"/>
          <p:nvPr/>
        </p:nvSpPr>
        <p:spPr>
          <a:xfrm>
            <a:off x="1005840" y="1783080"/>
            <a:ext cx="548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5"/>
          <p:cNvSpPr txBox="1"/>
          <p:nvPr/>
        </p:nvSpPr>
        <p:spPr>
          <a:xfrm>
            <a:off x="1554480" y="2001093"/>
            <a:ext cx="64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Avaliação com pacientes idosos e polimedicados</a:t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685800" y="2633472"/>
            <a:ext cx="10820095" cy="713232"/>
          </a:xfrm>
          <a:prstGeom prst="roundRect">
            <a:avLst>
              <a:gd fmla="val 179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 txBox="1"/>
          <p:nvPr/>
        </p:nvSpPr>
        <p:spPr>
          <a:xfrm>
            <a:off x="1005840" y="2633472"/>
            <a:ext cx="548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5"/>
          <p:cNvSpPr txBox="1"/>
          <p:nvPr/>
        </p:nvSpPr>
        <p:spPr>
          <a:xfrm>
            <a:off x="1554480" y="2633472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Alarme validado em outros fabricantes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685800" y="3483864"/>
            <a:ext cx="10820095" cy="713232"/>
          </a:xfrm>
          <a:prstGeom prst="roundRect">
            <a:avLst>
              <a:gd fmla="val 179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 txBox="1"/>
          <p:nvPr/>
        </p:nvSpPr>
        <p:spPr>
          <a:xfrm>
            <a:off x="1005840" y="3483864"/>
            <a:ext cx="548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5"/>
          <p:cNvSpPr txBox="1"/>
          <p:nvPr/>
        </p:nvSpPr>
        <p:spPr>
          <a:xfrm>
            <a:off x="1554480" y="3483864"/>
            <a:ext cx="6400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Versão para iOS e publicação nas lojas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685800" y="4334256"/>
            <a:ext cx="10820095" cy="713232"/>
          </a:xfrm>
          <a:prstGeom prst="roundRect">
            <a:avLst>
              <a:gd fmla="val 179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 txBox="1"/>
          <p:nvPr/>
        </p:nvSpPr>
        <p:spPr>
          <a:xfrm>
            <a:off x="1005840" y="4334256"/>
            <a:ext cx="548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5"/>
          <p:cNvSpPr txBox="1"/>
          <p:nvPr/>
        </p:nvSpPr>
        <p:spPr>
          <a:xfrm>
            <a:off x="1554480" y="4334256"/>
            <a:ext cx="9144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Acesso de consulta para médicos e cuidadores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685800" y="5184648"/>
            <a:ext cx="10820095" cy="713232"/>
          </a:xfrm>
          <a:prstGeom prst="roundRect">
            <a:avLst>
              <a:gd fmla="val 179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 txBox="1"/>
          <p:nvPr/>
        </p:nvSpPr>
        <p:spPr>
          <a:xfrm>
            <a:off x="1005840" y="5184648"/>
            <a:ext cx="548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5"/>
          <p:cNvSpPr txBox="1"/>
          <p:nvPr/>
        </p:nvSpPr>
        <p:spPr>
          <a:xfrm>
            <a:off x="1554480" y="5184648"/>
            <a:ext cx="9144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8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Cuidado organizado por tratamento, como na oncologia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5"/>
          <p:cNvSpPr txBox="1"/>
          <p:nvPr/>
        </p:nvSpPr>
        <p:spPr>
          <a:xfrm>
            <a:off x="8046720" y="2030505"/>
            <a:ext cx="3200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limitação -  sem teste com usuários finais</a:t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5"/>
          <p:cNvSpPr txBox="1"/>
          <p:nvPr/>
        </p:nvSpPr>
        <p:spPr>
          <a:xfrm>
            <a:off x="8046720" y="2779935"/>
            <a:ext cx="32004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limitação - 100% validado em somente um aparelho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5"/>
          <p:cNvSpPr txBox="1"/>
          <p:nvPr/>
        </p:nvSpPr>
        <p:spPr>
          <a:xfrm>
            <a:off x="8046720" y="3630314"/>
            <a:ext cx="32004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pc="0" sz="13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limitação -  disponível somente para dispositivos  Android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6"/>
          <p:cNvSpPr txBox="1"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pc="200" sz="12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REFERÊNCIAS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6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Mapill  ·  Gabriel Steffens  ·  Sistemas de Informação, UNIDAVI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6"/>
          <p:cNvSpPr txBox="1"/>
          <p:nvPr/>
        </p:nvSpPr>
        <p:spPr>
          <a:xfrm>
            <a:off x="10591495" y="6419088"/>
            <a:ext cx="91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16</a:t>
            </a:r>
            <a:endParaRPr b="1" i="0" spc="0" sz="10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pc="0" sz="10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8" name="Google Shape;468;p16"/>
          <p:cNvSpPr txBox="1"/>
          <p:nvPr/>
        </p:nvSpPr>
        <p:spPr>
          <a:xfrm>
            <a:off x="685800" y="1005840"/>
            <a:ext cx="52578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ALLSOPP, John.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web's future is offline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beyond tellerrand, 2014. Disponível em: https://www.youtube.com/watch?v=VvwhcoZhoI4. Acesso em: 8 maio 2026.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BADDELEY, Alan; EYSENCK, Michael W.; ANDERSON, Michael C.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Memória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Porto Alegre: Artmed, 2010.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BRASIL. [Lei Geral de Proteção de Dados Pessoais (LGPD)]. Lei nº 13.709, de 14 de agosto de 2018. Brasília, DF: Presidência da República, 2018.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KLEPPMANN, Martin.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Designing data-intensive applications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the big ideas behind reliable, scalable, and maintainable systems. Sebastopol: O'Reilly Media, 2017.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LOSHIN, David.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Master data management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Burlington: Morgan Kaufmann, 2010.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MARTIN, Robert C.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Arquitetura limpa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o guia do artesão para estrutura e design de software. Rio de Janeiro: Alta Books, 2019.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6"/>
          <p:cNvSpPr txBox="1"/>
          <p:nvPr/>
        </p:nvSpPr>
        <p:spPr>
          <a:xfrm>
            <a:off x="6217920" y="1005840"/>
            <a:ext cx="52578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MEDISAFE.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Medisafe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medication management. 2026. Disponível em: https://www.medisafe.com. Acesso em: 20 ago. 2026.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MYTHERAPY.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MyTherapy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medication reminder and pill tracker. 2026. Disponível em: https://www.mytherapyapp.com. Acesso em: 20 ago. 2026.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NIELSEN, Jakob.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Usability engineering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San Diego: Academic Press, 1994.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RISKO, Evan F.; GILBERT, Sam J. Cognitive offloading.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Trends in Cognitive Sciences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v. 20, n. 9, p. 676-688, 2016.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WORLD HEALTH ORGANIZATION (WHO).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Adherence to long-term therapies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evidence for action. Geneva: World Health Organization, 2003.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WORLD WIDE WEB CONSORTIUM (W3C). </a:t>
            </a:r>
            <a:r>
              <a:rPr b="1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Web Content Accessibility Guidelines (WCAG) 2.1</a:t>
            </a:r>
            <a:r>
              <a:rPr b="0" i="0" lang="en-US" spc="0" sz="11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Cambridge, MA: W3C, 2018. Disponível em: https://www.w3.org/TR/WCAG21/. Acesso em: 10 set. 2026.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7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EAF1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8403325" y="1280150"/>
            <a:ext cx="3200400" cy="43212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r.png" id="477" name="Google Shape;4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9096" y="1645920"/>
            <a:ext cx="246888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7"/>
          <p:cNvSpPr txBox="1"/>
          <p:nvPr/>
        </p:nvSpPr>
        <p:spPr>
          <a:xfrm>
            <a:off x="8403325" y="4343400"/>
            <a:ext cx="3200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pc="0" sz="17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Conheça o Mapill</a:t>
            </a:r>
            <a:endParaRPr b="1" i="0" spc="0" sz="17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pc="0" sz="1700" u="none" cap="none" strike="noStrike">
              <a:solidFill>
                <a:srgbClr val="191C1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pc="0" sz="12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Página do app, com o APK para Android</a:t>
            </a:r>
            <a:endParaRPr b="0" i="0" spc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pc="0" sz="1700" u="none" cap="none" strike="noStrike">
                <a:solidFill>
                  <a:schemeClr val="hlink"/>
                </a:solidFill>
                <a:uFill>
                  <a:noFill/>
                </a:uFill>
                <a:latin typeface="Plus Jakarta Sans"/>
                <a:ea typeface="Plus Jakarta Sans"/>
                <a:cs typeface="Plus Jakarta Sans"/>
                <a:sym typeface="Plus Jakarta Sans"/>
                <a:hlinkClick r:id="rId4"/>
              </a:rPr>
              <a:t>mapill-website.vercel.app</a:t>
            </a:r>
            <a:endParaRPr b="0" i="0" spc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ckup-claro.png" id="479" name="Google Shape;47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1188720"/>
            <a:ext cx="2196757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7"/>
          <p:cNvSpPr txBox="1"/>
          <p:nvPr/>
        </p:nvSpPr>
        <p:spPr>
          <a:xfrm>
            <a:off x="685800" y="233172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pc="0" sz="54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Obrigado!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7"/>
          <p:cNvSpPr txBox="1"/>
          <p:nvPr/>
        </p:nvSpPr>
        <p:spPr>
          <a:xfrm>
            <a:off x="685800" y="3657600"/>
            <a:ext cx="64008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pc="0" sz="1600" u="none" cap="none" strike="noStrike">
                <a:solidFill>
                  <a:srgbClr val="191C1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Gabriel Steffens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Sistemas de Informação, 8ª fase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45F7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Orientador: Prof. Me. Marciel de Liz Santos</a:t>
            </a:r>
            <a:endParaRPr b="0" i="0" spc="0" sz="14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545F7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0B5FD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gabriel.steffens@unidavi.edu.br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2" name="Google Shape;482;p17" title="image-removebg-preview.png"/>
          <p:cNvPicPr preferRelativeResize="0"/>
          <p:nvPr/>
        </p:nvPicPr>
        <p:blipFill rotWithShape="1">
          <a:blip r:embed="rId6">
            <a:alphaModFix/>
          </a:blip>
          <a:srcRect b="8691" l="0" r="0" t="8699"/>
          <a:stretch/>
        </p:blipFill>
        <p:spPr>
          <a:xfrm>
            <a:off x="685800" y="5601350"/>
            <a:ext cx="885524" cy="73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