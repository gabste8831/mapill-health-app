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gJzHqPEDzeaDoLyFypKWRNwS/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PlusJakartaSans-regular.fntdata"/><Relationship Id="rId24" Type="http://schemas.openxmlformats.org/officeDocument/2006/relationships/font" Target="fonts/PlusJakartaSans-bold.fntdata"/><Relationship Id="rId25" Type="http://schemas.openxmlformats.org/officeDocument/2006/relationships/font" Target="fonts/PlusJakartaSans-italic.fntdata"/><Relationship Id="rId26" Type="http://schemas.openxmlformats.org/officeDocument/2006/relationships/font" Target="fonts/PlusJakartaSans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Essa frase abre o meu trabalho, e resume por que ele existe. E não é um problema pequeno, a Organização Mundial da Saúde reconhece a baixa adesão ao tratamento como um dos maiores desafios da saúde pública.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80" name="Google Shape;18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2" name="Google Shape;21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9" name="Google Shape;24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[50 s]</a:t>
            </a:r>
          </a:p>
          <a:p>
            <a:r>
              <a:t>Os requisitos partiram dos problemas que o paciente enfrenta. São quarenta e quatro requisitos funcionais, nove não funcionais e vinte regras de negócio, e aqui eles estão organizados pelo problema que resolvem. Para o esquecimento, o alarme toca mesmo com o app fechado, e remédios no mesmo horário geram um aviso só. Para a posologia, o cadastro aceita dez formas farmacêuticas, quatro frequências e uma dose diferente em cada horário. Para o estoque, o app desconta a dose de verdade, e não uma unidade, então quem toma dois comprimidos tem dois descontados, e com isso prevê quando o remédio vai acabar. Consultas e exames aparecem no mesmo calendário das doses, e o app avisa quando a receita está para vencer. E tudo funciona sem internet e sem conta, com o paciente podendo exportar ou apagar os próprios dados.</a:t>
            </a:r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02" name="Google Shape;302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21" name="Google Shape;32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h16db80fa709ec415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h16db80fa709ec415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43" name="Google Shape;343;h16db80fa709ec415_0_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52" name="Google Shape;35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min]</a:t>
            </a:r>
          </a:p>
          <a:p>
            <a:r>
              <a:t>Para fechar, volto à pergunta do começo. O Mapill centraliza num só aplicativo os remédios, o estoque, as consultas e as receitas. É confiável porque o alarme toca mesmo com o aplicativo fechado, e nenhuma operação depende de internet. É seguro porque cada usuário só acessa os próprios dados, e quem não quiser criar conta pode usar tudo assim mesmo. O design foi guiado pelas heurísticas de Nielsen e por critérios de acessibilidade, mas ainda não foi testado com pacientes, e esse é justamente o primeiro passo que vem a seguir. Com isso, os objetivos do trabalho foram atendidos.</a:t>
            </a:r>
          </a:p>
        </p:txBody>
      </p:sp>
      <p:sp>
        <p:nvSpPr>
          <p:cNvPr id="382" name="Google Shape;38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limitações apontam os próximos passos. Como não testei com usuários, o principal é avaliar o app com os pacientes para quem ele foi pensado, idosos e polimedicados, porque só assim dá para medir o efeito real na adesão. Como testei num só modelo de aparelho, quero validar o alarme em outros fabricantes. Como o app é só para Android, vem a versão para iOS e a publicação nas lojas. Além disso, quero permitir que médicos e cuidadores consultem a conta do paciente, sincronizar as fotos e receitas anexadas, que hoje ficam só no aparelho, e organizar o cuidado por tratamento, como numa terapia oncológica com várias sessões e remédios ao mesmo tempo.</a:t>
            </a:r>
            <a:endParaRPr/>
          </a:p>
        </p:txBody>
      </p:sp>
      <p:sp>
        <p:nvSpPr>
          <p:cNvPr id="405" name="Google Shape;405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32" name="Google Shape;43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42" name="Google Shape;44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6.jp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hyperlink" Target="https://mapill-website.vercel.app/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6EF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1051560" y="5577840"/>
            <a:ext cx="100887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dos maiores desafios da saúde pública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·   reconhecido pela OMS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20h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o que a cabeça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teria de guardar ou calcular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proteção de dados pessoais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intuitiva e dados protegidos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 problema ao requisito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685800" y="5788152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Quadros 3 a 10 do TCC, que reúnem 44 requisitos funcionais, 9 não funcionais e 20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Mapill;1000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Mapill;1001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Mapill;1002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Mapill;1003"/>
          <p:cNvSpPr/>
          <p:nvPr/>
        </p:nvSpPr>
        <p:spPr>
          <a:xfrm>
            <a:off x="685800" y="1901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Mapill;1004"/>
          <p:cNvSpPr/>
          <p:nvPr/>
        </p:nvSpPr>
        <p:spPr>
          <a:xfrm>
            <a:off x="8549640" y="1901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Mapill;1005"/>
          <p:cNvSpPr txBox="1"/>
          <p:nvPr/>
        </p:nvSpPr>
        <p:spPr>
          <a:xfrm>
            <a:off x="1005840" y="1901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Mapill;1006"/>
          <p:cNvSpPr txBox="1"/>
          <p:nvPr/>
        </p:nvSpPr>
        <p:spPr>
          <a:xfrm>
            <a:off x="4320600" y="1901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com o app fechado, e um aviso só para remédios no mesmo horário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07" name="Mapill;1007"/>
          <p:cNvSpPr txBox="1"/>
          <p:nvPr/>
        </p:nvSpPr>
        <p:spPr>
          <a:xfrm>
            <a:off x="8778240" y="1901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25, 29 · RNF 02 · RN 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Mapill;1008"/>
          <p:cNvSpPr/>
          <p:nvPr/>
        </p:nvSpPr>
        <p:spPr>
          <a:xfrm>
            <a:off x="685800" y="2663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Mapill;1009"/>
          <p:cNvSpPr/>
          <p:nvPr/>
        </p:nvSpPr>
        <p:spPr>
          <a:xfrm>
            <a:off x="8549640" y="2663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Mapill;1010"/>
          <p:cNvSpPr txBox="1"/>
          <p:nvPr/>
        </p:nvSpPr>
        <p:spPr>
          <a:xfrm>
            <a:off x="1005840" y="2663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Posologia complexa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Mapill;1011"/>
          <p:cNvSpPr txBox="1"/>
          <p:nvPr/>
        </p:nvSpPr>
        <p:spPr>
          <a:xfrm>
            <a:off x="4320600" y="2663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dez formas farmacêuticas, quatro frequências e dose variável por horário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12" name="Mapill;1012"/>
          <p:cNvSpPr txBox="1"/>
          <p:nvPr/>
        </p:nvSpPr>
        <p:spPr>
          <a:xfrm>
            <a:off x="8778240" y="2663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07, 09, 10 · RN 08, 09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Mapill;1013"/>
          <p:cNvSpPr/>
          <p:nvPr/>
        </p:nvSpPr>
        <p:spPr>
          <a:xfrm>
            <a:off x="685800" y="3425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Mapill;1014"/>
          <p:cNvSpPr/>
          <p:nvPr/>
        </p:nvSpPr>
        <p:spPr>
          <a:xfrm>
            <a:off x="8549640" y="3425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Mapill;1015"/>
          <p:cNvSpPr txBox="1"/>
          <p:nvPr/>
        </p:nvSpPr>
        <p:spPr>
          <a:xfrm>
            <a:off x="1005840" y="3425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Mapill;1016"/>
          <p:cNvSpPr txBox="1"/>
          <p:nvPr/>
        </p:nvSpPr>
        <p:spPr>
          <a:xfrm>
            <a:off x="4320600" y="3425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dose, não a unidade, e prevê quando o remédio acaba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17" name="Mapill;1017"/>
          <p:cNvSpPr txBox="1"/>
          <p:nvPr/>
        </p:nvSpPr>
        <p:spPr>
          <a:xfrm>
            <a:off x="8778240" y="3425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18, 22 · RN 02, 03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Mapill;1018"/>
          <p:cNvSpPr/>
          <p:nvPr/>
        </p:nvSpPr>
        <p:spPr>
          <a:xfrm>
            <a:off x="685800" y="4187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Mapill;1019"/>
          <p:cNvSpPr/>
          <p:nvPr/>
        </p:nvSpPr>
        <p:spPr>
          <a:xfrm>
            <a:off x="8549640" y="4187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Mapill;1020"/>
          <p:cNvSpPr txBox="1"/>
          <p:nvPr/>
        </p:nvSpPr>
        <p:spPr>
          <a:xfrm>
            <a:off x="1005840" y="4187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 ou receita passar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Mapill;1021"/>
          <p:cNvSpPr txBox="1"/>
          <p:nvPr/>
        </p:nvSpPr>
        <p:spPr>
          <a:xfrm>
            <a:off x="4320600" y="4187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no mesmo calendário das doses, e aviso de receita vencendo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22" name="Mapill;1022"/>
          <p:cNvSpPr txBox="1"/>
          <p:nvPr/>
        </p:nvSpPr>
        <p:spPr>
          <a:xfrm>
            <a:off x="8778240" y="4187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34, 35, 38 · RN 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Mapill;1023"/>
          <p:cNvSpPr/>
          <p:nvPr/>
        </p:nvSpPr>
        <p:spPr>
          <a:xfrm>
            <a:off x="685800" y="4949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Mapill;1024"/>
          <p:cNvSpPr/>
          <p:nvPr/>
        </p:nvSpPr>
        <p:spPr>
          <a:xfrm>
            <a:off x="8549640" y="4949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Mapill;1025"/>
          <p:cNvSpPr txBox="1"/>
          <p:nvPr/>
        </p:nvSpPr>
        <p:spPr>
          <a:xfrm>
            <a:off x="1005840" y="4949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 internet ou privacidade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Mapill;1026"/>
          <p:cNvSpPr txBox="1"/>
          <p:nvPr/>
        </p:nvSpPr>
        <p:spPr>
          <a:xfrm>
            <a:off x="4320600" y="4949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offline e sem conta, e o paciente exporta ou apaga os dados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27" name="Mapill;1027"/>
          <p:cNvSpPr txBox="1"/>
          <p:nvPr/>
        </p:nvSpPr>
        <p:spPr>
          <a:xfrm>
            <a:off x="8778240" y="4949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01, 42, 43</a:t>
            </a:r>
            <a:b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RNF 01, 03 · RN 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09" name="Google Shape;30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b="0" i="0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b="0" i="1" spc="0" sz="800" u="none" cap="none" strike="noStrike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27" name="Google Shape;32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8" name="Google Shape;328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29" name="Google Shape;32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0" name="Google Shape;330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31" name="Google Shape;331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2" name="Google Shape;332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33" name="Google Shape;33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4" name="Google Shape;334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35" name="Google Shape;335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36" name="Google Shape;336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37" name="Google Shape;337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8" name="Google Shape;338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h16db80fa709ec415_0_4"/>
          <p:cNvSpPr txBox="1"/>
          <p:nvPr/>
        </p:nvSpPr>
        <p:spPr>
          <a:xfrm>
            <a:off x="685800" y="502920"/>
            <a:ext cx="8229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h16db80fa709ec415_0_4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Vídeo demonstrando o uso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h16db80fa709ec415_0_4"/>
          <p:cNvSpPr txBox="1"/>
          <p:nvPr/>
        </p:nvSpPr>
        <p:spPr>
          <a:xfrm>
            <a:off x="685800" y="641908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h16db80fa709ec415_0_4"/>
          <p:cNvSpPr txBox="1"/>
          <p:nvPr/>
        </p:nvSpPr>
        <p:spPr>
          <a:xfrm>
            <a:off x="10591495" y="6419088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7946100" y="2163580"/>
            <a:ext cx="329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 / 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 nos recentes ou 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 cap="flat" cmpd="sng" w="38100">
            <a:solidFill>
              <a:srgbClr val="FFF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</a:t>
            </a:r>
            <a:r>
              <a:rPr b="0" i="1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Autostart</a:t>
            </a: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do fabricante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resposta à pergunta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685800" y="178308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1005840" y="178308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3749040" y="178308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estoque, consultas e receitas num só aplicativo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685800" y="260604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1005840" y="26060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3748977" y="2840990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toca com o app fechado, e nada depende de internet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4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1005840" y="34290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4"/>
          <p:cNvSpPr txBox="1"/>
          <p:nvPr/>
        </p:nvSpPr>
        <p:spPr>
          <a:xfrm>
            <a:off x="3749040" y="342900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usuário só acessa os próprios dados, e dá para usar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4"/>
          <p:cNvSpPr/>
          <p:nvPr/>
        </p:nvSpPr>
        <p:spPr>
          <a:xfrm>
            <a:off x="685800" y="425196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1005840" y="425196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4"/>
          <p:cNvSpPr txBox="1"/>
          <p:nvPr/>
        </p:nvSpPr>
        <p:spPr>
          <a:xfrm>
            <a:off x="3748977" y="4532635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guiad</a:t>
            </a:r>
            <a:r>
              <a:rPr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pelas heurísticas de Nielsen + tópicos em acessibilidade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4"/>
          <p:cNvSpPr txBox="1"/>
          <p:nvPr/>
        </p:nvSpPr>
        <p:spPr>
          <a:xfrm>
            <a:off x="1005860" y="5347800"/>
            <a:ext cx="10088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limitação aponta um próximo passo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1554480" y="2001093"/>
            <a:ext cx="64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com pacientes idosos e polimedicados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 txBox="1"/>
          <p:nvPr/>
        </p:nvSpPr>
        <p:spPr>
          <a:xfrm>
            <a:off x="1554480" y="2633472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1554480" y="3483864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 txBox="1"/>
          <p:nvPr/>
        </p:nvSpPr>
        <p:spPr>
          <a:xfrm>
            <a:off x="8046720" y="2030505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sem teste com usuários fina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5"/>
          <p:cNvSpPr txBox="1"/>
          <p:nvPr/>
        </p:nvSpPr>
        <p:spPr>
          <a:xfrm>
            <a:off x="8046720" y="2779935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100% validado em somente um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 txBox="1"/>
          <p:nvPr/>
        </p:nvSpPr>
        <p:spPr>
          <a:xfrm>
            <a:off x="8046720" y="3630314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disponível somente para dispositivos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46" name="Google Shape;4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lang="en-US" spc="0" sz="1700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spc="0" sz="1700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pc="0" sz="1700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lang="en-US" spc="0" sz="1200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spc="0" sz="1300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pc="0" sz="1700" cap="none" strike="noStrike">
                <a:solidFill>
                  <a:schemeClr val="hlink"/>
                </a:solidFill>
                <a:uFill>
                  <a:noFill/>
                </a:uFill>
                <a:latin typeface="Plus Jakarta Sans"/>
                <a:ea typeface="Plus Jakarta Sans"/>
                <a:cs typeface="Plus Jakarta Sans"/>
                <a:sym typeface="Plus Jakarta Sans"/>
                <a:hlinkClick r:id="rId4"/>
              </a:rPr>
              <a:t>mapill-website.vercel.app</a:t>
            </a:r>
            <a:endParaRPr b="0" spc="0" sz="1800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48" name="Google Shape;4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idavi.png" id="451" name="Google Shape;45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