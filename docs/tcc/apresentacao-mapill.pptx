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s]</a:t>
            </a:r>
          </a:p>
          <a:p>
            <a:r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Essa frase abre o meu trabalho, e resume por que ele existe. As duas falhas que eu comentei aparecem no dia a dia de formas bem concretas. Na cognitiva, o paciente esquece a dose, ou não lembra se já tomou. O Mapill avisa no horário, mesmo com o aplicativo fechado, e guarda cada resposta com data e hora. Na logística, o remédio acaba sem aviso, ou a consulta e a receita passam do prazo. O app desconta o estoque a cada dose e avisa antes de acabar, e lembra dos compromissos e da validade da receita.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E o que já existe no mercado não resolve isso por completo. Os dois aplicativos mais conhecidos são o Medisafe e o MyTherapy. O Medisafe passou, em janeiro deste ano, a aceitar só dois medicamentos no plano gratuito, e o aviso de estoque ficou pago. O MyTherapy é gratuito, mas se sustenta repassando dados de uso, anonimizados, para empresas farmacêuticas. E nenhum dos dois descreve suporte a uma dose que muda conforme o horário, comum em tratamentos como o de insulina. O Mapill troca amplitude por profundidade, sem cobrar e sem repassar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Vou passar rápido pela fundamentação, só pelo que justifica as principais decisões do projeto. Esquecer a dose é uma falha da memória prospectiva, que é lembrar de fazer algo no futuro, e por isso o centro do app é um alarme. A desoneração cognitiva explica por que o app deve calcular estoque e horários pelo paciente. O conceito de fonte única de verdade justifica juntar tudo num só lugar. O paradigma offline-first e o critério Last-Write-Wins sustentam o funcionamento sem internet e a sincronização. E as heurísticas de Nielsen, as diretrizes de acessibilidade da WCAG e a LGPD orientam a interface e o tratamento dos dados de saúde.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Agora o Mapill em si. O desenvolvimento partiu de três exigências. O app tinha de funcionar sem internet, representar o tratamento com fidelidade, inclusive quando a dose muda ao longo do dia, e lembrar o paciente mesmo com o aplicativo fechado, que é justamente quando ele mais precisa. Desde o início, defini também o que o Mapill não é. Ele é um registro clínico pessoal, que lembra da dose e guarda o que de fato aconteceu. Ele não prescreve, não sugere dose e não avalia se o tratamento está certo, porque esse papel é do profissional de saúde. Cada conta é de um paciente, e dá para usar tudo sem criar conta.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Das vinte regras de negócio, estas quatro mostram o cuidado com o registro clínico. Uma dose que o paciente não respondeu nunca é marcada como pulada só porque o tempo passou, porque o app não pode afirmar algo que ninguém disse. O estoque desconta exatamente a quantidade da dose, então quem toma dois comprimidos de uma vez tem dois descontados. Uma correção nunca apaga o registro antigo, ela cria um novo apontando para ele, como num prontuário. E remédios no mesmo horário geram um aviso só, que pode ser adiado uma única vez, por cinco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 min]</a:t>
            </a:r>
          </a:p>
          <a:p>
            <a:r>
              <a:t>Agora vou mostrar o aplicativo funcionando no meu celular.</a:t>
            </a:r>
          </a:p>
          <a:p/>
          <a:p>
            <a:r>
              <a:t>Caminho (detalhe no roteiro):</a:t>
            </a:r>
          </a:p>
          <a:p>
            <a:r>
              <a:t>a. Cadastro por código de barras (1 min 30 s)</a:t>
            </a:r>
          </a:p>
          <a:p>
            <a:r>
              <a:t>b. Tela inicial (45 s)</a:t>
            </a:r>
          </a:p>
          <a:p>
            <a:r>
              <a:t>c. Alarme com o celular bloqueado (2 min)</a:t>
            </a:r>
          </a:p>
          <a:p>
            <a:r>
              <a:t>d. Adesão, calendário e correção (1 min 30 s)</a:t>
            </a:r>
          </a:p>
          <a:p>
            <a:r>
              <a:t>e. Relatório em PDF (1 min)</a:t>
            </a:r>
          </a:p>
          <a:p>
            <a:r>
              <a:t>f. Temas e cores (45 s)</a:t>
            </a:r>
          </a:p>
          <a:p>
            <a:r>
              <a:t>Folga de 30 s.</a:t>
            </a:r>
          </a:p>
          <a:p/>
          <a:p>
            <a:r>
              <a:t>Se o espelhamento falhar, abrir o vídeo reserva no trecho correspondente. Se tudo falhar, narrar a partir das telas deste slide.</a:t>
            </a:r>
          </a:p>
          <a:p>
            <a:r>
              <a:t>Se atrasar, cortar nesta ordem: f, depois e, depois a correção em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A validação foi feita por mim, num aparelho físico, seguindo um roteiro escrito em que cada passo tinha o resultado esperado. O segundo aparelho foi simulado direto na base remota. Os cinco cenários da arquitetura offline-first foram aprovados, três deles depois de ajustes que os próprios testes revelaram, como fazer a edição mais recente prevalecer também no servidor. O alarme funcionou nas quatro combinações de celular bloqueado ou em uso, com o app nos recentes ou fora deles. A limitação apareceu depois de reiniciar o celular. O alarme só tocou quando o aparelho foi desbloqueado, por uma restrição de inicialização automática que o fabricante aplica, e que o Android não deixa contornar. O app passou a orientar o paciente a liberar essa permissão.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Os objetivos foram atendidos, com a ressalva do alarme depois de reiniciar o celular. O trabalho mostra que é possível ter, no mesmo aplicativo, o funcionamento sem internet e a fidelidade do registro clínico. Os diferenciais em relação ao que as soluções analisadas descrevem são descontar o estoque pela dose de verdade, corrigir sem apagar o que foi registrado e separar a dose pulada da dose sem resposta, o que deixa confiável o histórico levado ao médico. As limitações são claras. Testei em um só modelo de aparelho, sem usuários do público-alvo, e apenas no Android, e as fotos e receitas anexadas ainda ficam só no aparelho.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</a:t>
            </a:r>
          </a:p>
          <a:p>
            <a:r>
              <a:t>Como próximos passos, o principal é avaliar o app com os pacientes para quem ele foi pensado, idosos e polimedicados, porque só assim dá para medir o efeito real na adesão. Também quero validar o alarme em aparelhos de outros fabricantes, fazer a versão para iOS e publicar nas lojas, permitir que médicos e cuidadores consultem a conta do paciente e organizar o cuidado por tratamento, como numa terapia oncológica com várias sessões e remédios ao mesmo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[só passar, ou mostrar se a banca pedir]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 s]</a:t>
            </a:r>
          </a:p>
          <a:p>
            <a:r>
              <a:t>Encerro por aqui. Quem quiser conhecer o Mapill pode usar o QR code, que leva à página do aplicativo, onde também está o APK para instalar no Android. Obrigado pela atenção, e fico à disposição para 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jpg"/><Relationship Id="rId8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idav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48640"/>
            <a:ext cx="686281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91C1E"/>
                </a:solidFill>
                <a:latin typeface="Plus Jakarta Sans"/>
              </a:rPr>
              <a:t>Centro Universitário para o Desenvolvimento do Alto Vale do Itajaí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Curso de Sistemas de Informação</a:t>
            </a:r>
          </a:p>
        </p:txBody>
      </p:sp>
      <p:pic>
        <p:nvPicPr>
          <p:cNvPr id="4" name="Picture 3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74519"/>
            <a:ext cx="2608649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91C1E"/>
                </a:solidFill>
                <a:latin typeface="Plus Jakarta Sans"/>
              </a:rPr>
              <a:t>Aplicação móvel para mitigação de falhas logísticas e cognitivas na adesão ao tratamento medicamentoso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Acadêmico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Prof. Me. Marciel de Liz Santos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Rio do Sul,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8" name="Picture 7" descr="p71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777240"/>
            <a:ext cx="2361778" cy="5303520"/>
          </a:xfrm>
          <a:prstGeom prst="roundRect">
            <a:avLst>
              <a:gd name="adj" fmla="val 10840"/>
            </a:avLst>
          </a:prstGeom>
          <a:effectLst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INTRODUÇÃO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 descontinuidade do tratamento desafia a saúde pública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A adesão depende de muitos fatores, e não só do paciente (WHO, 2003)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Polifarmácia e tratamentos longos geram sobrecarga mental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cognitiva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Esquecer a dose no horário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logística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O remédio acabar ou a consulta passar sem perceber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  <a:spcAft>
                <a:spcPts val="600"/>
              </a:spcAft>
            </a:pPr>
            <a:r>
              <a:rPr sz="11000" b="1">
                <a:solidFill>
                  <a:srgbClr val="0B5FD9"/>
                </a:solidFill>
                <a:latin typeface="Plus Jakarta Sans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700" b="0">
                <a:solidFill>
                  <a:srgbClr val="191C1E"/>
                </a:solidFill>
                <a:latin typeface="Plus Jakarta Sans"/>
              </a:rPr>
              <a:t>De que maneira uma aplicação móvel, baseada em arquitetura </a:t>
            </a:r>
            <a:r>
              <a:rPr sz="2700" b="1" i="1">
                <a:solidFill>
                  <a:srgbClr val="0B5FD9"/>
                </a:solidFill>
                <a:latin typeface="Plus Jakarta Sans"/>
              </a:rPr>
              <a:t>offline-first</a:t>
            </a:r>
            <a:r>
              <a:rPr sz="2700" b="0">
                <a:solidFill>
                  <a:srgbClr val="191C1E"/>
                </a:solidFill>
                <a:latin typeface="Plus Jakarta Sans"/>
              </a:rPr>
              <a:t>, pode centralizar medicamentos, estoque e compromissos terapêuticos, com usabilidade, segurança e confiabilidade?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JUSTIFICATIVA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“Os medicamentos não funcionam em pacientes que não os tomam.”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545F73"/>
                </a:solidFill>
                <a:latin typeface="Plus Jakarta Sans"/>
              </a:rPr>
              <a:t>C. Everett Koop, na epígrafe do TCC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40"/>
            <a:ext cx="5272887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606040"/>
            <a:ext cx="45413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FALHA COGNITIVA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454136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Esqueceu a dose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0B5FD9"/>
                </a:solidFill>
                <a:latin typeface="Plus Jakarta Sans"/>
              </a:rPr>
              <a:t>→  </a:t>
            </a:r>
            <a:r>
              <a:rPr sz="1500" b="0">
                <a:solidFill>
                  <a:srgbClr val="545F73"/>
                </a:solidFill>
                <a:latin typeface="Plus Jakarta Sans"/>
              </a:rPr>
              <a:t>alarme no horário, mesmo com o app fechado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4389120"/>
            <a:ext cx="454136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Não lembra se já tomou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0B5FD9"/>
                </a:solidFill>
                <a:latin typeface="Plus Jakarta Sans"/>
              </a:rPr>
              <a:t>→  </a:t>
            </a:r>
            <a:r>
              <a:rPr sz="1500" b="0">
                <a:solidFill>
                  <a:srgbClr val="545F73"/>
                </a:solidFill>
                <a:latin typeface="Plus Jakarta Sans"/>
              </a:rPr>
              <a:t>cada resposta fica registrada com data e 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5272887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98767" y="2606040"/>
            <a:ext cx="45413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FALHA LOGÍSTICA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3108960"/>
            <a:ext cx="454136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O remédio acabou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0B5FD9"/>
                </a:solidFill>
                <a:latin typeface="Plus Jakarta Sans"/>
              </a:rPr>
              <a:t>→  </a:t>
            </a:r>
            <a:r>
              <a:rPr sz="1500" b="0">
                <a:solidFill>
                  <a:srgbClr val="545F73"/>
                </a:solidFill>
                <a:latin typeface="Plus Jakarta Sans"/>
              </a:rPr>
              <a:t>estoque descontado a cada dose, com aviso antes de acabar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8767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598767" y="4389120"/>
            <a:ext cx="454136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A consulta ou a receita passou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0B5FD9"/>
                </a:solidFill>
                <a:latin typeface="Plus Jakarta Sans"/>
              </a:rPr>
              <a:t>→  </a:t>
            </a:r>
            <a:r>
              <a:rPr sz="1500" b="0">
                <a:solidFill>
                  <a:srgbClr val="545F73"/>
                </a:solidFill>
                <a:latin typeface="Plus Jakarta Sans"/>
              </a:rPr>
              <a:t>compromissos e validade da receita com lembrete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JUSTIFICATIVA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 mercado cobra, repassa dados ou simplifica a posologia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name="adj" fmla="val 7692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Mapill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Medisafe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MyTherapy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Funcionalidades essenciais gratuitas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Gratuidade sem repasse de dados a terceiros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Funcionamento sem conta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Controle de estoque com aviso, sem custo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Dose variável por horário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adaptado do Quadro 2 do TCC, com base em Medisafe (2026) e MyTherapy (2026).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874519"/>
            <a:ext cx="2606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Medisafe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Grátis só com 2 medicamentos desde jan. 2026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MyTherapy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Gratuito com repasse de dados anonimizados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0B5FD9"/>
                </a:solidFill>
                <a:latin typeface="Plus Jakarta Sans"/>
              </a:rPr>
              <a:t>Mapill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Troca amplitude por profundidade no tratamento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Apoiar a rotina medicamentosa sem depender de conexão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name="adj" fmla="val 9032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10088575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0A3F8F"/>
                </a:solidFill>
                <a:latin typeface="Plus Jakarta Sans"/>
              </a:rPr>
              <a:t>OBJETIVO GERAL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sz="1800" b="0" i="1">
                <a:solidFill>
                  <a:srgbClr val="191C1E"/>
                </a:solidFill>
                <a:latin typeface="Plus Jakarta Sans"/>
              </a:rPr>
              <a:t>offline-first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Levantar requisitos na literatura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071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Especificar requisitos e regras de negócio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Projetar arquitetura, dados e telas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Implementar a aplicação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250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Analisar o offline-first em cenários controlados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OBJETIVOS ESPECÍFICOS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Cada conceito sustenta uma decisão do Mapill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Memória prospectiva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Baddeley; Eysenck; Anderson, 2010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783080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783080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alarme é a pista externa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2633472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Desoneração cognitiva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Risko; Gilbert, 2016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633472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633472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app calcula estoque e horários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5840" y="3483864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Fonte única de verdade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Loshin, 2010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483864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483864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Remédios, estoque e consultas num lugar só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4334256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Offline-first e Last-Write-Wins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Allsopp, 2014; Kleppmann,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334256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334256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Funciona sem internet e sincroniza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5840" y="5184648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Usabilidade, acessibilidade e LGPD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Nielsen, 1994; W3C, 2018; Brasil, 2018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5184648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5184648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Interface segura e dados protegidos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Um registro clínico pessoal, que lembra e registra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60120" y="2066543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6654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28800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Funciona sem internet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Tudo é gravado primeiro no aparelho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44368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60120" y="3182111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44368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Posologia fiel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Inclusive dose variável por horário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59935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60120" y="4297679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976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059935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Lembra com o app fechado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Quem guarda o horário é o 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5780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Não prescreve, não sugere dose e não avalia o tratamento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Uma conta por paciente, e uso completo sem conta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600200"/>
            <a:ext cx="3520440" cy="4663440"/>
          </a:xfrm>
          <a:prstGeom prst="roundRect">
            <a:avLst>
              <a:gd name="adj" fmla="val 3636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20" name="Picture 19" descr="p7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1783080"/>
            <a:ext cx="1916686" cy="4297680"/>
          </a:xfrm>
          <a:prstGeom prst="roundRect">
            <a:avLst>
              <a:gd name="adj" fmla="val 11449"/>
            </a:avLst>
          </a:prstGeom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Clean Architecture em três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Apresentação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telas e design próprio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Dados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SQLite e Supabase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Plus Jakarta Sans"/>
              </a:rPr>
              <a:t>Domínio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Plus Jakarta Sans"/>
              </a:rPr>
              <a:t>TypeScript puro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dependência aponta para dentro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elaborado pelo autor (2026), a partir da seção 4.4.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 Native + Expo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base única com acesso nativo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TypeScript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tipagem nas regras clínicas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SQLite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banco no aparelho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Supabase (PostgreSQL)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cópia na nuvem, com RLS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react-native-notify-kit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alarme pelo agendador do Android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REGRAS DE NEGÓCIO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Quatro regras que protegem o registro clínico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51560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Dose sem resposta nunca vira “pulada”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Não responder não é decidir pular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598767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98767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O estoque desconta a dose, não a unidade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Dois comprimidos tomados, dois descontados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051560" y="4251959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51560" y="4251959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Correção nunca sobrescreve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Cria um novo registro, e o original continua rastreável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598767" y="4251959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598767" y="4251959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11 e 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Um aviso por horário, adiamento uma vez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Remédios no mesmo horário, um alarme só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10 do TCC, que reúne as vinte regras.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SINCRONIZAÇÃO E SEGURANÇA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Grava primeiro no aparelho, e a nuvem é cópia e ponte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7" name="Picture 6" descr="p55_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5943600" cy="35219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05332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Figura 1 - Resolução de conflito pelo critério Last-Write-Wins. Fonte: elaborado pelo autor (2026).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Vence a edição mais recente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inteira, sem mesclar campos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 servidor aplica o mesmo critério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e recusa a atualização mais antiga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Isolamento por usuário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RLS nas nove tabelas e token JWT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DEMONSTRAÇÃO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 aplicativo funcionando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12</a:t>
            </a:r>
          </a:p>
        </p:txBody>
      </p:sp>
      <p:pic>
        <p:nvPicPr>
          <p:cNvPr id="6" name="Picture 5" descr="p6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a.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Cadastro por código de barras</a:t>
            </a:r>
          </a:p>
        </p:txBody>
      </p:sp>
      <p:pic>
        <p:nvPicPr>
          <p:cNvPr id="8" name="Picture 7" descr="p71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6977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b.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Tela inicial</a:t>
            </a:r>
          </a:p>
        </p:txBody>
      </p:sp>
      <p:pic>
        <p:nvPicPr>
          <p:cNvPr id="10" name="Picture 9" descr="p72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8426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1" name="TextBox 10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c.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Alarme</a:t>
            </a:r>
          </a:p>
        </p:txBody>
      </p:sp>
      <p:pic>
        <p:nvPicPr>
          <p:cNvPr id="12" name="Picture 11" descr="p7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9875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d.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Adesão e calendário</a:t>
            </a:r>
          </a:p>
        </p:txBody>
      </p:sp>
      <p:pic>
        <p:nvPicPr>
          <p:cNvPr id="14" name="Picture 13" descr="p75_0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1324" y="2308859"/>
            <a:ext cx="1837113" cy="2377440"/>
          </a:xfrm>
          <a:prstGeom prst="roundRect">
            <a:avLst>
              <a:gd name="adj" fmla="val 6968"/>
            </a:avLst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e.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Relatório em PDF</a:t>
            </a:r>
          </a:p>
        </p:txBody>
      </p:sp>
      <p:pic>
        <p:nvPicPr>
          <p:cNvPr id="16" name="Picture 15" descr="p78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2774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f.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Temas e cores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Telas: Figuras 4, 7, 8, 9, 10 e 12 do TCC.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Cinco cenários offline-first aprovados em aparelho físico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67512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Ausência de conexão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Restabelecimento da conectividade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852160" y="2834640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por restauração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3593591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3593591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entre dispositivos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352544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846320" y="4352544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Conflito entre registros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51114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0" y="5111496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28 do TCC. Xiaomi Redmi Note 14 Pro 5G, Android 16.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001000" y="1783080"/>
            <a:ext cx="329184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11803E"/>
                </a:solidFill>
                <a:latin typeface="Plus Jakarta Sans"/>
              </a:rPr>
              <a:t>ALARME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Aprovado nas 4 combinações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Bloqueado ou em uso, app nos recentes ou não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name="adj" fmla="val 6363"/>
            </a:avLst>
          </a:prstGeom>
          <a:solidFill>
            <a:srgbClr val="FDF3C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01000" y="393192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C4A0F"/>
                </a:solidFill>
                <a:latin typeface="Plus Jakarta Sans"/>
              </a:rPr>
              <a:t>LIMITAÇÃO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Após reiniciar, o alarme esperou o desbloqueio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C4A0F"/>
                </a:solidFill>
                <a:latin typeface="Plus Jakarta Sans"/>
              </a:rPr>
              <a:t>Restrição de Autostart do fabricante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Offline e registro clínico fiel são compatíveis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77240"/>
          </a:xfrm>
          <a:prstGeom prst="roundRect">
            <a:avLst>
              <a:gd name="adj" fmla="val 1647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1008857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11803E"/>
                </a:solidFill>
                <a:latin typeface="Plus Jakarta Sans"/>
              </a:rPr>
              <a:t>Objetivos atendidos, com a ressalva do alarme após reiniciar o aparelho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Estoque pela dose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desconta a quantidade realmente tomada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88738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Correção que preserva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o registro original continua rastreável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71636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Pulada ≠ sem resposta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histórico fiel para o profissional de saúde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920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LIMITAÇÕES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Um modelo de aparelho  ·  sem teste com usuários  ·  só Android  ·  anexos ficam no aparelho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TRABALHOS FUTUROS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83080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A3F8F"/>
                </a:solidFill>
                <a:latin typeface="Plus Jakarta Sans"/>
              </a:rPr>
              <a:t>Avaliação de usabilidade com pacientes idosos e polimedicados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33472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Alarme validado em outros fabricantes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83864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Versão para iOS e publicação nas lojas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Acesso de consulta para médicos e cuidadores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Cuidado organizado por tratamento, como na oncologia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ALLSOPP, John.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The web's future is offline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beyond tellerrand, 2014. Disponível em: https://www.youtube.com/watch?v=VvwhcoZhoI4. Acesso em: 8 maio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BADDELEY, Alan; EYSENCK, Michael W.; ANDERSON, Michael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Memória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Porto Alegre: Artmed,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BRASIL. [Lei Geral de Proteção de Dados Pessoais (LGPD)]. Lei nº 13.709, de 14 de agosto de 2018. Brasília, DF: Presidência da República, 2018.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KLEPPMANN, Martin.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Designing data-intensive applications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the big ideas behind reliable, scalable, and maintainable systems. Sebastopol: O'Reilly Media, 2017.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LOSHIN, David.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Master data management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Burlington: Morgan Kaufmann,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MARTIN, Robert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Arquitetura limpa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o guia do artesão para estrutura e design de software. Rio de Janeiro: Alta Books, 2019.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MEDISAFE.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Medisafe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management. 2026. Disponível em: https://www.medisafe.com.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MYTHERAPY.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MyTherapy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reminder and pill tracker. 2026. Disponível em: https://www.mytherapyapp.com.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NIELSEN, Jakob.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Usability engineering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San Diego: Academic Press, 1994.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RISKO, Evan F.; GILBERT, Sam J. Cognitive offloading.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Trends in Cognitive Sciences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, v. 20, n. 9, p. 676-688, 2016.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HEALTH ORGANIZATION (WHO).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Adherence to long-term therapies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evidence for action. Geneva: World Health Organization, 2003.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WIDE WEB CONSORTIUM (W3C).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Web Content Accessibility Guidelines (WCAG) 2.1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Cambridge, MA: W3C, 2018. Disponível em: https://www.w3.org/TR/WCAG21/. Acesso em: 10 set.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403336" y="1280160"/>
            <a:ext cx="32004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4" name="Picture 3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9096" y="1645920"/>
            <a:ext cx="246888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03336" y="434340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Conheça o Mapill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45F73"/>
                </a:solidFill>
                <a:latin typeface="Plus Jakarta Sans"/>
              </a:rPr>
              <a:t>Página do app, com o APK para Android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5FD9"/>
                </a:solidFill>
                <a:latin typeface="Plus Jakarta Sans"/>
              </a:rPr>
              <a:t>mapill-website.vercel.app</a:t>
            </a:r>
          </a:p>
        </p:txBody>
      </p:sp>
      <p:pic>
        <p:nvPicPr>
          <p:cNvPr id="6" name="Picture 5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188720"/>
            <a:ext cx="2196757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191C1E"/>
                </a:solidFill>
                <a:latin typeface="Plus Jakarta Sans"/>
              </a:rPr>
              <a:t>Obrigado!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57600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Sistemas de Informação, 8ª fase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Orientador: Prof. Me. Marciel de Liz Santos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0B5FD9"/>
                </a:solidFill>
                <a:latin typeface="Plus Jakarta Sans"/>
              </a:rPr>
              <a:t>gabrielsteffens2003@gmail.com</a:t>
            </a:r>
          </a:p>
        </p:txBody>
      </p:sp>
      <p:pic>
        <p:nvPicPr>
          <p:cNvPr id="9" name="Picture 8" descr="unidav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715000"/>
            <a:ext cx="608798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