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jSvJh6ebE56uB912QqdW4DRvg0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PlusJakartaSans-regular.fntdata"/><Relationship Id="rId24" Type="http://schemas.openxmlformats.org/officeDocument/2006/relationships/font" Target="fonts/PlusJakartaSans-bold.fntdata"/><Relationship Id="rId25" Type="http://schemas.openxmlformats.org/officeDocument/2006/relationships/font" Target="fonts/PlusJakartaSans-italic.fntdata"/><Relationship Id="rId26" Type="http://schemas.openxmlformats.org/officeDocument/2006/relationships/font" Target="fonts/PlusJakartaSans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[45 s]</a:t>
            </a:r>
          </a:p>
          <a:p>
            <a:r>
              <a:t>Essa frase abre o meu trabalho, e resume por que ele existe. E não é um problema pequeno, a Organização Mundial da Saúde reconhece a baixa adesão ao tratamento como um dos maiores desafios da saúde pública.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  <a:endParaRPr/>
          </a:p>
        </p:txBody>
      </p:sp>
      <p:sp>
        <p:nvSpPr>
          <p:cNvPr id="274" name="Google Shape;27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00" name="Google Shape;30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8" name="Google Shape;31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19" name="Google Shape;31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6db80fa709ec415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h16db80fa709ec415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41" name="Google Shape;341;h16db80fa709ec415_0_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50" name="Google Shape;350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min]</a:t>
            </a:r>
          </a:p>
          <a:p>
            <a:r>
              <a:t>Para fechar, volto à pergunta do começo. O Mapill centraliza num só aplicativo os remédios, o estoque, as consultas e as receitas. É confiável porque o histórico não mente, já que uma correção nunca apaga o que foi registrado e uma dose esquecida nunca é marcada como pulada. É seguro porque cada usuário só acessa os próprios dados, e quem não quiser criar conta pode usar tudo assim mesmo. A usabilidade foi guiada pelas heurísticas de Nielsen, mas ainda não foi testada com pacientes, e esse é justamente o primeiro passo que vem a seguir. Com isso, os objetivos do trabalho foram atendidos.</a:t>
            </a:r>
          </a:p>
        </p:txBody>
      </p:sp>
      <p:sp>
        <p:nvSpPr>
          <p:cNvPr id="380" name="Google Shape;38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[45 s]</a:t>
            </a:r>
          </a:p>
          <a:p>
            <a:r>
              <a:t>As limitações apontam os próximos passos. Como não testei com usuários, o principal é avaliar o app com os pacientes para quem ele foi pensado, idosos e polimedicados, porque só assim dá para medir o efeito real na adesão. Como testei num só modelo de aparelho, quero validar o alarme em outros fabricantes. Como o app é só para Android, vem a versão para iOS e a publicação nas lojas. Além disso, quero permitir que médicos e cuidadores consultem a conta do paciente, sincronizar as fotos e receitas anexadas, que hoje ficam só no aparelho, e organizar o cuidado por tratamento, como numa terapia oncológica com várias sessões e remédios ao mesmo tempo.</a:t>
            </a:r>
          </a:p>
        </p:txBody>
      </p:sp>
      <p:sp>
        <p:nvSpPr>
          <p:cNvPr id="398" name="Google Shape;398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22" name="Google Shape;42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32" name="Google Shape;43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9.jpg"/><Relationship Id="rId8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Mapill;950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6470"/>
            </a:avLst>
          </a:prstGeom>
          <a:solidFill>
            <a:srgbClr val="E6EF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Mapill;951"/>
          <p:cNvSpPr txBox="1"/>
          <p:nvPr/>
        </p:nvSpPr>
        <p:spPr>
          <a:xfrm>
            <a:off x="1051560" y="5577840"/>
            <a:ext cx="100887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dos maiores desafios da saúde pública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·   reconhecido pela OMS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/>
          </a:p>
        </p:txBody>
      </p:sp>
      <p:sp>
        <p:nvSpPr>
          <p:cNvPr id="219" name="Google Shape;219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20h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/>
          </a:p>
        </p:txBody>
      </p:sp>
      <p:sp>
        <p:nvSpPr>
          <p:cNvPr id="224" name="Google Shape;224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o que a cabeça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teria de guardar ou calcular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/>
          </a:p>
        </p:txBody>
      </p:sp>
      <p:sp>
        <p:nvSpPr>
          <p:cNvPr id="232" name="Google Shape;232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/>
          </a:p>
        </p:txBody>
      </p:sp>
      <p:sp>
        <p:nvSpPr>
          <p:cNvPr id="238" name="Google Shape;238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/>
          </a:p>
        </p:txBody>
      </p:sp>
      <p:sp>
        <p:nvSpPr>
          <p:cNvPr id="239" name="Google Shape;239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/>
          </a:p>
        </p:txBody>
      </p:sp>
      <p:sp>
        <p:nvSpPr>
          <p:cNvPr id="242" name="Google Shape;242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proteção de dados pessoais</a:t>
            </a:r>
            <a:endParaRPr/>
          </a:p>
        </p:txBody>
      </p:sp>
      <p:sp>
        <p:nvSpPr>
          <p:cNvPr id="243" name="Google Shape;243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</a:t>
            </a:r>
            <a:r>
              <a:rPr b="1" lang="en-US" sz="13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intuitiva </a:t>
            </a: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dados protegidos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Quatro regras que protegem o registro clínico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sem resposta nunca vira “pulada”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responder não é decidir pular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0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estoque desconta a dose, não a unidade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Dois comprimidos tomados, dois descontados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0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0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nunca sobrescreve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Cria um novo registro, e o original continua rastreável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11 e 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aviso por horário, adiamento uma vez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 no mesmo horário, um alarme só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0"/>
          <p:cNvSpPr txBox="1"/>
          <p:nvPr/>
        </p:nvSpPr>
        <p:spPr>
          <a:xfrm>
            <a:off x="685800" y="605332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10 do TCC, que reúne as vinte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07" name="Google Shape;30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i="1" sz="800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25" name="Google Shape;32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6" name="Google Shape;326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27" name="Google Shape;32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8" name="Google Shape;328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29" name="Google Shape;32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0" name="Google Shape;330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31" name="Google Shape;331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2" name="Google Shape;332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33" name="Google Shape;333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34" name="Google Shape;334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35" name="Google Shape;335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6" name="Google Shape;336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16db80fa709ec415_0_4"/>
          <p:cNvSpPr txBox="1"/>
          <p:nvPr/>
        </p:nvSpPr>
        <p:spPr>
          <a:xfrm>
            <a:off x="685800" y="502920"/>
            <a:ext cx="8229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h16db80fa709ec415_0_4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Vídeo demonstrando o uso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h16db80fa709ec415_0_4"/>
          <p:cNvSpPr txBox="1"/>
          <p:nvPr/>
        </p:nvSpPr>
        <p:spPr>
          <a:xfrm>
            <a:off x="685800" y="641908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h16db80fa709ec415_0_4"/>
          <p:cNvSpPr txBox="1"/>
          <p:nvPr/>
        </p:nvSpPr>
        <p:spPr>
          <a:xfrm>
            <a:off x="10591495" y="6419088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7946100" y="2163580"/>
            <a:ext cx="329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</a:t>
            </a:r>
            <a:r>
              <a:rPr lang="en-US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/ </a:t>
            </a:r>
            <a:endParaRPr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 nos recentes ou 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 cap="flat" cmpd="sng" w="38100">
            <a:solidFill>
              <a:srgbClr val="FFF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</a:t>
            </a:r>
            <a:r>
              <a:rPr b="0" i="1" lang="en-US" spc="0" sz="1400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Autostart</a:t>
            </a: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do fabricante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resposta à pergunta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Mapill;900"/>
          <p:cNvSpPr/>
          <p:nvPr/>
        </p:nvSpPr>
        <p:spPr>
          <a:xfrm>
            <a:off x="685800" y="178308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Mapill;901"/>
          <p:cNvSpPr txBox="1"/>
          <p:nvPr/>
        </p:nvSpPr>
        <p:spPr>
          <a:xfrm>
            <a:off x="1005840" y="178308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Mapill;902"/>
          <p:cNvSpPr txBox="1"/>
          <p:nvPr/>
        </p:nvSpPr>
        <p:spPr>
          <a:xfrm>
            <a:off x="3749040" y="178308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estoque, consultas e receitas num só aplicativo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Mapill;903"/>
          <p:cNvSpPr/>
          <p:nvPr/>
        </p:nvSpPr>
        <p:spPr>
          <a:xfrm>
            <a:off x="685800" y="260604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Mapill;904"/>
          <p:cNvSpPr txBox="1"/>
          <p:nvPr/>
        </p:nvSpPr>
        <p:spPr>
          <a:xfrm>
            <a:off x="1005840" y="26060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Mapill;905"/>
          <p:cNvSpPr txBox="1"/>
          <p:nvPr/>
        </p:nvSpPr>
        <p:spPr>
          <a:xfrm>
            <a:off x="3749040" y="260604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corrigir não apaga o original, e pulada não vira sem resposta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Mapill;906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Mapill;907"/>
          <p:cNvSpPr txBox="1"/>
          <p:nvPr/>
        </p:nvSpPr>
        <p:spPr>
          <a:xfrm>
            <a:off x="1005840" y="34290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Mapill;908"/>
          <p:cNvSpPr txBox="1"/>
          <p:nvPr/>
        </p:nvSpPr>
        <p:spPr>
          <a:xfrm>
            <a:off x="3749040" y="342900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usuário só acessa os próprios dados, e dá para usar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Mapill;909"/>
          <p:cNvSpPr/>
          <p:nvPr/>
        </p:nvSpPr>
        <p:spPr>
          <a:xfrm>
            <a:off x="685800" y="425196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Mapill;910"/>
          <p:cNvSpPr txBox="1"/>
          <p:nvPr/>
        </p:nvSpPr>
        <p:spPr>
          <a:xfrm>
            <a:off x="1005840" y="425196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Mapill;911"/>
          <p:cNvSpPr txBox="1"/>
          <p:nvPr/>
        </p:nvSpPr>
        <p:spPr>
          <a:xfrm>
            <a:off x="3749040" y="425196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guiada pelas heurísticas de Nielsen, ainda sem teste com pacientes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1005860" y="5347800"/>
            <a:ext cx="10088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limitação aponta um próximo passo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5"/>
          <p:cNvSpPr txBox="1"/>
          <p:nvPr/>
        </p:nvSpPr>
        <p:spPr>
          <a:xfrm>
            <a:off x="1554480" y="2001093"/>
            <a:ext cx="64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pc="0" sz="1800" u="none" cap="none" strike="noStrik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com pacientes idosos e polimedicados</a:t>
            </a:r>
            <a:endParaRPr i="0" spc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1554480" y="2633472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1554480" y="3483864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Mapill;912"/>
          <p:cNvSpPr txBox="1"/>
          <p:nvPr/>
        </p:nvSpPr>
        <p:spPr>
          <a:xfrm>
            <a:off x="8046720" y="1783080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sem teste com usuários</a:t>
            </a:r>
            <a:endParaRPr i="0" spc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913" name="Mapill;913"/>
          <p:cNvSpPr txBox="1"/>
          <p:nvPr/>
        </p:nvSpPr>
        <p:spPr>
          <a:xfrm>
            <a:off x="8046720" y="2633472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um só modelo de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Mapill;914"/>
          <p:cNvSpPr txBox="1"/>
          <p:nvPr/>
        </p:nvSpPr>
        <p:spPr>
          <a:xfrm>
            <a:off x="8046720" y="3483864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só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36" name="Google Shape;43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i="0" spc="0" sz="17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z="17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i="0" spc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mapill-website.vercel.app</a:t>
            </a:r>
            <a:endParaRPr b="0" i="0" spc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38" name="Google Shape;4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idavi.png" id="441" name="Google Shape;44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