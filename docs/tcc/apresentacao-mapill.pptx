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y="6858000" cx="12191675"/>
  <p:notesSz cx="6858000" cy="9144000"/>
  <p:embeddedFontLst>
    <p:embeddedFont>
      <p:font typeface="Plus Jakarta Sans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7" roundtripDataSignature="AMtx7mjSvJh6ebE56uB912QqdW4DRvg0h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font" Target="fonts/PlusJakartaSans-regular.fntdata"/><Relationship Id="rId24" Type="http://schemas.openxmlformats.org/officeDocument/2006/relationships/font" Target="fonts/PlusJakartaSans-bold.fntdata"/><Relationship Id="rId25" Type="http://schemas.openxmlformats.org/officeDocument/2006/relationships/font" Target="fonts/PlusJakartaSans-italic.fntdata"/><Relationship Id="rId26" Type="http://schemas.openxmlformats.org/officeDocument/2006/relationships/font" Target="fonts/PlusJakartaSans-boldItalic.fntdata"/><Relationship Id="rId2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[20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Boa noite a todos. Meu nome é Gabriel Steffens e vou apresentar o meu trabalho de conclusão de curso, o Mapill, uma aplicação móvel para mitigação de falhas logísticas e cognitivas na adesão ao tratamento medicamentoso, orientado pelo professor Marciel de Liz Santos.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 descontinuidade do tratamento medicamentoso é um dos grandes desafios da saúde pública. A Organização Mundial da Saúde mostra que a adesão depende de muitos fatores, e que a responsabilidade não é só do paciente. Quem toma vários remédios por muito tempo precisa lembrar de vários horários, controlar quanto ainda tem de cada um e não perder as consultas. Isso gera dois tipos de falha. A cognitiva, que é simplesmente esquecer a dose, e a logística, que é o remédio acabar ou a consulta passar sem que a pessoa perceba.</a:t>
            </a:r>
            <a:endParaRPr/>
          </a:p>
        </p:txBody>
      </p:sp>
      <p:sp>
        <p:nvSpPr>
          <p:cNvPr id="95" name="Google Shape;95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[30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Daí vem a pergunta que o trabalho tenta responder. Como uma aplicação móvel, que funcione mesmo sem internet, pode concentrar os medicamentos, o estoque e os compromissos de saúde num lugar só, sendo fácil de usar, segura e confiável.</a:t>
            </a:r>
            <a:endParaRPr/>
          </a:p>
        </p:txBody>
      </p:sp>
      <p:sp>
        <p:nvSpPr>
          <p:cNvPr id="111" name="Google Shape;111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1" name="Google Shape;121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[45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Essa frase abre o meu trabalho, e resume por que ele existe. As duas falhas que eu comentei aparecem no dia a dia de formas bem concretas. Na cognitiva, o paciente esquece a dose, ou não lembra se já tomou. O Mapill avisa no horário, mesmo com o aplicativo fechado, e guarda cada resposta com data e hora. Na logística, o remédio acaba sem aviso, ou a consulta e a receita passam do prazo. O app desconta o estoque a cada dose e avisa antes de acabar, e lembra dos compromissos e da validade da receita.</a:t>
            </a:r>
            <a:endParaRPr/>
          </a:p>
        </p:txBody>
      </p:sp>
      <p:sp>
        <p:nvSpPr>
          <p:cNvPr id="122" name="Google Shape;122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1" name="Google Shape;141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[45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 o que já existe no mercado não resolve isso por completo. Os dois aplicativos mais conhecidos são o Medisafe e o MyTherapy. O Medisafe passou, em janeiro deste ano, a aceitar só dois medicamentos no plano gratuito, e o aviso de estoque ficou pago. O MyTherapy é gratuito, mas se sustenta repassando dados de uso, anonimizados, para empresas farmacêuticas. E nenhum dos dois descreve suporte a uma dose que muda conforme o horário, comum em tratamentos como o de insulina. O Mapill troca amplitude por profundidade, sem cobrar e sem repassar dados.</a:t>
            </a:r>
            <a:endParaRPr/>
          </a:p>
        </p:txBody>
      </p:sp>
      <p:sp>
        <p:nvSpPr>
          <p:cNvPr id="142" name="Google Shape;142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" name="Google Shape;177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O objetivo geral foi desenvolver uma aplicação móvel que apoiasse a gestão da rotina medicamentosa, juntando o agendamento e o registro das doses, o controle de estoque e os compromissos de saúde, numa arquitetura que funciona primeiro no aparelho. Para chegar lá, os objetivos específicos seguiram o caminho natural de um projeto de software. Primeiro levantar os requisitos na literatura, depois especificá-los, projetar a arquitetura e as telas, implementar e, por fim, analisar como a arquitetura se comporta sem conexão, na volta da conexão e em conflitos entre registros.</a:t>
            </a:r>
            <a:endParaRPr/>
          </a:p>
        </p:txBody>
      </p:sp>
      <p:sp>
        <p:nvSpPr>
          <p:cNvPr id="178" name="Google Shape;178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9" name="Google Shape;209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[1 min 10 s]</a:t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Vou passar rápido pela fundamentação, só pelo que sustenta as decisões do projeto. A memória prospectiva é a que usamos para lembrar de fazer algo no futuro, como tomar o remédio às oito horas, e é justamente ela que falha quando a dose é esquecida. Por isso o centro do app é um alarme, que lembra pelo paciente. A desoneração cognitiva é passar para uma ferramenta aquilo que a cabeça teria de guardar ou calcular, e é o que o app faz com o estoque e os horários. A fonte única de verdade é ter um só lugar com a informação certa, por isso remédios, estoque e consultas ficam no mesmo aplicativo. O offline-first é o app funcionar sem internet, e o Last-Write-Wins define que, num conflito entre duas edições, vence a mais recente. E as heurísticas de Nielsen, a WCAG e a LGPD orientam a interface, a acessibilidade e a proteção dos dados.</a:t>
            </a:r>
            <a:endParaRPr/>
          </a:p>
        </p:txBody>
      </p:sp>
      <p:sp>
        <p:nvSpPr>
          <p:cNvPr id="210" name="Google Shape;210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 aplicação segue a Clean Architecture, em três camadas, e a dependência sempre aponta para dentro. No centro fica o domínio, com as regras de negócio escritas em TypeScript puro, sem depender de nenhuma biblioteca. Isso permite verificar cálculos como a geração de horários e a taxa de adesão sem precisar de um celular. Em volta fica a camada de dados, com o SQLite no aparelho e o Supabase na nuvem, e por fora a apresentação, com as telas sobre um sistema de design próprio. O app foi feito em React Native com Expo, e o alarme é entregue pelo agendador do próprio Android, e não por um processo do app. É isso que faz ele tocar mesmo com o aplicativo fechado.</a:t>
            </a:r>
            <a:endParaRPr/>
          </a:p>
        </p:txBody>
      </p:sp>
      <p:sp>
        <p:nvSpPr>
          <p:cNvPr id="247" name="Google Shape;247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3" name="Google Shape;273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Das vinte regras de negócio, estas quatro mostram o cuidado com o registro clínico. Uma dose que o paciente não respondeu nunca é marcada como pulada só porque o tempo passou, porque o app não pode afirmar algo que ninguém disse. O estoque desconta exatamente a quantidade da dose, então quem toma dois comprimidos de uma vez tem dois descontados. Uma correção nunca apaga o registro antigo, ela cria um novo apontando para ele, como num prontuário. E remédios no mesmo horário geram um aviso só, que pode ser adiado uma única vez, por cinco minutos.</a:t>
            </a:r>
            <a:endParaRPr/>
          </a:p>
        </p:txBody>
      </p:sp>
      <p:sp>
        <p:nvSpPr>
          <p:cNvPr id="274" name="Google Shape;274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9" name="Google Shape;299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[45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Toda operação é gravada primeiro no próprio aparelho, e a nuvem funciona como cópia de segurança e ponte entre dispositivos. Quando o mesmo registro é editado em dois lugares, vence a edição mais recente, e vence inteira, sem misturar campos. No diagrama, o dispositivo B editou por último, então a versão dele prevalece nos dois lados. Se o app juntasse campos de versões diferentes, poderia criar uma posologia que ninguém escreveu. O servidor aplica o mesmo critério, e cada tabela tem políticas de segurança em nível de linha, então cada usuário só acessa os próprios dados, identificado pelo token JWT.</a:t>
            </a:r>
            <a:endParaRPr/>
          </a:p>
        </p:txBody>
      </p:sp>
      <p:sp>
        <p:nvSpPr>
          <p:cNvPr id="300" name="Google Shape;300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8" name="Google Shape;318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[8 min]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Agora vou mostrar o aplicativo funcionando no meu celular.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Caminho (detalhe no roteiro):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a. Cadastro por código de barras (1 min 30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b. Tela inicial (45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c. Alarme com o celular bloqueado (2 min)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d. Adesão, calendário e correção (1 min 30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e. Relatório em PDF (1 min)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f. Temas e cores (45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Folga de 30 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Se o espelhamento falhar, abrir o vídeo reserva no trecho correspondente. Se tudo falhar, narrar a partir das telas deste slide.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Se atrasar, cortar nesta ordem: f, depois e, depois a correção em d.</a:t>
            </a:r>
            <a:endParaRPr/>
          </a:p>
        </p:txBody>
      </p:sp>
      <p:sp>
        <p:nvSpPr>
          <p:cNvPr id="319" name="Google Shape;319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h16db80fa709ec415_0_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0" name="Google Shape;340;h16db80fa709ec415_0_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[8 min]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Agora vou mostrar o aplicativo funcionando no meu celular.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Caminho (detalhe no roteiro):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a. Cadastro por código de barras (1 min 30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b. Tela inicial (45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c. Alarme com o celular bloqueado (2 min)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d. Adesão, calendário e correção (1 min 30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e. Relatório em PDF (1 min)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f. Temas e cores (45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Folga de 30 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Se o espelhamento falhar, abrir o vídeo reserva no trecho correspondente. Se tudo falhar, narrar a partir das telas deste slide.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Se atrasar, cortar nesta ordem: f, depois e, depois a correção em d.</a:t>
            </a:r>
            <a:endParaRPr/>
          </a:p>
        </p:txBody>
      </p:sp>
      <p:sp>
        <p:nvSpPr>
          <p:cNvPr id="341" name="Google Shape;341;h16db80fa709ec415_0_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9" name="Google Shape;349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[1 min]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 validação foi feita por mim, num aparelho físico, seguindo um roteiro escrito em que cada passo tinha o resultado esperado. O segundo aparelho foi simulado direto na base remota. Os cinco cenários da arquitetura offline-first foram aprovados, três deles depois de ajustes que os próprios testes revelaram, como fazer a edição mais recente prevalecer também no servidor. O alarme funcionou nas quatro combinações de celular bloqueado ou em uso, com o app nos recentes ou fora deles. A limitação apareceu depois de reiniciar o celular. O alarme só tocou quando o aparelho foi desbloqueado, por uma restrição de inicialização automática que o fabricante aplica, e que o Android não deixa contornar. O app passou a orientar o paciente a liberar essa permissão.</a:t>
            </a:r>
            <a:endParaRPr/>
          </a:p>
        </p:txBody>
      </p:sp>
      <p:sp>
        <p:nvSpPr>
          <p:cNvPr id="350" name="Google Shape;350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9" name="Google Shape;379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[1 min]</a:t>
            </a:r>
          </a:p>
          <a:p>
            <a:r>
              <a:t>Para fechar, volto à pergunta do começo. O Mapill centraliza num só aplicativo os remédios, o estoque, as consultas e as receitas. É confiável porque o histórico não mente, já que uma correção nunca apaga o que foi registrado e uma dose esquecida nunca é marcada como pulada. É seguro porque cada usuário só acessa os próprios dados, e quem não quiser criar conta pode usar tudo assim mesmo. A usabilidade foi guiada pelas heurísticas de Nielsen, mas ainda não foi testada com pacientes, e esse é justamente o primeiro passo que vem a seguir. Com isso, os objetivos do trabalho foram atendidos.</a:t>
            </a:r>
          </a:p>
        </p:txBody>
      </p:sp>
      <p:sp>
        <p:nvSpPr>
          <p:cNvPr id="380" name="Google Shape;380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7" name="Google Shape;397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[45 s]</a:t>
            </a:r>
          </a:p>
          <a:p>
            <a:r>
              <a:t>As limitações apontam os próximos passos. Como não testei com usuários, o principal é avaliar o app com os pacientes para quem ele foi pensado, idosos e polimedicados, porque só assim dá para medir o efeito real na adesão. Como testei num só modelo de aparelho, quero validar o alarme em outros fabricantes. Como o app é só para Android, vem a versão para iOS e a publicação nas lojas. Além disso, quero permitir que médicos e cuidadores consultem a conta do paciente, sincronizar as fotos e receitas anexadas, que hoje ficam só no aparelho, e organizar o cuidado por tratamento, como numa terapia oncológica com várias sessões e remédios ao mesmo tempo.</a:t>
            </a:r>
          </a:p>
        </p:txBody>
      </p:sp>
      <p:sp>
        <p:nvSpPr>
          <p:cNvPr id="398" name="Google Shape;398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1" name="Google Shape;421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[só passar, ou mostrar se a banca pedir]</a:t>
            </a:r>
            <a:endParaRPr/>
          </a:p>
        </p:txBody>
      </p:sp>
      <p:sp>
        <p:nvSpPr>
          <p:cNvPr id="422" name="Google Shape;422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1" name="Google Shape;431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[15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Encerro por aqui. Quem quiser conhecer o Mapill pode usar o QR code, que leva à página do aplicativo, onde também está o APK para instalar no Android. Obrigado pela atenção, e fico à disposição para as perguntas.</a:t>
            </a:r>
            <a:endParaRPr/>
          </a:p>
        </p:txBody>
      </p:sp>
      <p:sp>
        <p:nvSpPr>
          <p:cNvPr id="432" name="Google Shape;432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pc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pc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pc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pc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7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9.jpg"/><Relationship Id="rId8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1.pn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unidavi.png" id="85" name="Google Shape;8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548640"/>
            <a:ext cx="686281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"/>
          <p:cNvSpPr txBox="1"/>
          <p:nvPr/>
        </p:nvSpPr>
        <p:spPr>
          <a:xfrm>
            <a:off x="1463040" y="566928"/>
            <a:ext cx="5943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Centro Universitário para o Desenvolvimento do Alto Vale do Itajaí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pc="0" sz="12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Curso de Sistemas de Informação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ockup-claro.png" id="87" name="Google Shape;87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800" y="1874519"/>
            <a:ext cx="2608649" cy="86868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"/>
          <p:cNvSpPr txBox="1"/>
          <p:nvPr/>
        </p:nvSpPr>
        <p:spPr>
          <a:xfrm>
            <a:off x="685800" y="2971800"/>
            <a:ext cx="64008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pc="0" sz="2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Aplicação móvel para mitigação de falhas logísticas e cognitivas na adesão ao tratamento medicamentoso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685800" y="4709160"/>
            <a:ext cx="6400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Acadêmico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Gabriel Steffens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Orientador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Prof. Me. Marciel de Liz Santos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Rio do Sul, 2026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71_1.png" id="91" name="Google Shape;91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732520" y="777240"/>
            <a:ext cx="2361778" cy="5303520"/>
          </a:xfrm>
          <a:prstGeom prst="roundRect">
            <a:avLst>
              <a:gd fmla="val 10840" name="adj"/>
            </a:avLst>
          </a:prstGeom>
          <a:noFill/>
          <a:ln cap="flat" cmpd="sng" w="38100">
            <a:solidFill>
              <a:srgbClr val="434343"/>
            </a:solidFill>
            <a:prstDash val="solid"/>
            <a:round/>
            <a:headEnd len="sm" w="sm" type="none"/>
            <a:tailEnd len="sm" w="sm" type="none"/>
          </a:ln>
          <a:effectLst>
            <a:outerShdw blurRad="214313" rotWithShape="0" algn="bl" dir="5400000" dist="66675">
              <a:srgbClr val="000000">
                <a:alpha val="10196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INTRODUÇÃO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descontinuidade do tratamento desafia a saúde pública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685800" y="2011680"/>
            <a:ext cx="493776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pc="0" sz="20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adesão depende de muitos fatores, e não só do paciente (WHO, 2003)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pc="0" sz="20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Polifarmácia e tratamentos longos geram sobrecarga mental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/>
          <p:nvPr/>
        </p:nvSpPr>
        <p:spPr>
          <a:xfrm>
            <a:off x="6400800" y="1920240"/>
            <a:ext cx="5102352" cy="16002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6400800" y="192024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6812280" y="2221992"/>
            <a:ext cx="44805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pc="0" sz="22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cognitiva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Esquecer a dose no horário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"/>
          <p:cNvSpPr/>
          <p:nvPr/>
        </p:nvSpPr>
        <p:spPr>
          <a:xfrm>
            <a:off x="6400800" y="3794760"/>
            <a:ext cx="5102352" cy="16002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6400800" y="379476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6812280" y="4096512"/>
            <a:ext cx="44805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pc="0" sz="22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logística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remédio acabar ou a consulta passar sem perceber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PROBLEMA DE PESQUISA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685800" y="1325880"/>
            <a:ext cx="10820095" cy="4480560"/>
          </a:xfrm>
          <a:prstGeom prst="roundRect">
            <a:avLst>
              <a:gd fmla="val 28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3"/>
          <p:cNvSpPr txBox="1"/>
          <p:nvPr/>
        </p:nvSpPr>
        <p:spPr>
          <a:xfrm>
            <a:off x="960120" y="1143000"/>
            <a:ext cx="109728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0"/>
              <a:buFont typeface="Arial"/>
              <a:buNone/>
            </a:pPr>
            <a:r>
              <a:rPr b="1" i="0" lang="en-US" spc="0" sz="110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“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3"/>
          <p:cNvSpPr txBox="1"/>
          <p:nvPr/>
        </p:nvSpPr>
        <p:spPr>
          <a:xfrm>
            <a:off x="1783080" y="1965960"/>
            <a:ext cx="8808415" cy="3291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-US" spc="0" sz="2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 que maneira uma aplicação móvel, baseada em arquitetura </a:t>
            </a:r>
            <a:r>
              <a:rPr b="1" i="1" lang="en-US" spc="0" sz="2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</a:t>
            </a:r>
            <a:r>
              <a:rPr b="0" i="0" lang="en-US" spc="0" sz="2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pode centralizar medicamentos, estoque e compromissos terapêuticos, com usabilidade, segurança e confiabilidade?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JUSTIFICATIVA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4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4"/>
          <p:cNvSpPr txBox="1"/>
          <p:nvPr/>
        </p:nvSpPr>
        <p:spPr>
          <a:xfrm>
            <a:off x="685800" y="868680"/>
            <a:ext cx="1082009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“Os medicamentos não funcionam em pacientes que não os tomam.”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4"/>
          <p:cNvSpPr txBox="1"/>
          <p:nvPr/>
        </p:nvSpPr>
        <p:spPr>
          <a:xfrm>
            <a:off x="685800" y="18288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C. Everett Koop, na epígrafe do TCC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685800" y="2377440"/>
            <a:ext cx="5272887" cy="3429000"/>
          </a:xfrm>
          <a:prstGeom prst="roundRect">
            <a:avLst>
              <a:gd fmla="val 373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 txBox="1"/>
          <p:nvPr/>
        </p:nvSpPr>
        <p:spPr>
          <a:xfrm>
            <a:off x="1051560" y="2606040"/>
            <a:ext cx="45413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COGNITIVA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4"/>
          <p:cNvSpPr txBox="1"/>
          <p:nvPr/>
        </p:nvSpPr>
        <p:spPr>
          <a:xfrm>
            <a:off x="1051560" y="310896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Esqueceu a dose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 no horário, mesmo com o app fechado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1051560" y="4206240"/>
            <a:ext cx="4541367" cy="18288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"/>
          <p:cNvSpPr txBox="1"/>
          <p:nvPr/>
        </p:nvSpPr>
        <p:spPr>
          <a:xfrm>
            <a:off x="1051560" y="438912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 lembra se já tomou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resposta fica registrada com data e hora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4"/>
          <p:cNvSpPr/>
          <p:nvPr/>
        </p:nvSpPr>
        <p:spPr>
          <a:xfrm>
            <a:off x="6233007" y="2377440"/>
            <a:ext cx="5272887" cy="3429000"/>
          </a:xfrm>
          <a:prstGeom prst="roundRect">
            <a:avLst>
              <a:gd fmla="val 373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 txBox="1"/>
          <p:nvPr/>
        </p:nvSpPr>
        <p:spPr>
          <a:xfrm>
            <a:off x="6598767" y="2606040"/>
            <a:ext cx="45413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LOGÍSTICA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4"/>
          <p:cNvSpPr txBox="1"/>
          <p:nvPr/>
        </p:nvSpPr>
        <p:spPr>
          <a:xfrm>
            <a:off x="6598767" y="310896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remédio acabou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estoque descontado a cada dose, com aviso antes de acabar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6598767" y="4206240"/>
            <a:ext cx="4541367" cy="18288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4"/>
          <p:cNvSpPr txBox="1"/>
          <p:nvPr/>
        </p:nvSpPr>
        <p:spPr>
          <a:xfrm>
            <a:off x="6598767" y="438912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consulta ou a receita passou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compromissos e validade da receita com lembrete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JUSTIFICATIVA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5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mercado cobra, repassa dados ou simplifica a posologia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5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5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5"/>
          <p:cNvSpPr/>
          <p:nvPr/>
        </p:nvSpPr>
        <p:spPr>
          <a:xfrm>
            <a:off x="685800" y="1783079"/>
            <a:ext cx="7772400" cy="3630168"/>
          </a:xfrm>
          <a:prstGeom prst="roundRect">
            <a:avLst>
              <a:gd fmla="val 352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5"/>
          <p:cNvSpPr/>
          <p:nvPr/>
        </p:nvSpPr>
        <p:spPr>
          <a:xfrm>
            <a:off x="4754880" y="1874519"/>
            <a:ext cx="1188720" cy="3401568"/>
          </a:xfrm>
          <a:prstGeom prst="roundRect">
            <a:avLst>
              <a:gd fmla="val 7692" name="adj"/>
            </a:avLst>
          </a:prstGeom>
          <a:solidFill>
            <a:srgbClr val="F5F7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5"/>
          <p:cNvSpPr txBox="1"/>
          <p:nvPr/>
        </p:nvSpPr>
        <p:spPr>
          <a:xfrm>
            <a:off x="4754880" y="1874519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5"/>
          <p:cNvSpPr txBox="1"/>
          <p:nvPr/>
        </p:nvSpPr>
        <p:spPr>
          <a:xfrm>
            <a:off x="5943600" y="1874519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5"/>
          <p:cNvSpPr txBox="1"/>
          <p:nvPr/>
        </p:nvSpPr>
        <p:spPr>
          <a:xfrm>
            <a:off x="7132320" y="1874519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5"/>
          <p:cNvSpPr txBox="1"/>
          <p:nvPr/>
        </p:nvSpPr>
        <p:spPr>
          <a:xfrm>
            <a:off x="960120" y="2441448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Funcionalidades essenciais gratuitas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5"/>
          <p:cNvSpPr txBox="1"/>
          <p:nvPr/>
        </p:nvSpPr>
        <p:spPr>
          <a:xfrm>
            <a:off x="4754880" y="2441448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5"/>
          <p:cNvSpPr txBox="1"/>
          <p:nvPr/>
        </p:nvSpPr>
        <p:spPr>
          <a:xfrm>
            <a:off x="5943600" y="2441448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5"/>
          <p:cNvSpPr txBox="1"/>
          <p:nvPr/>
        </p:nvSpPr>
        <p:spPr>
          <a:xfrm>
            <a:off x="7132320" y="2441448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5"/>
          <p:cNvSpPr txBox="1"/>
          <p:nvPr/>
        </p:nvSpPr>
        <p:spPr>
          <a:xfrm>
            <a:off x="960120" y="3008376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Gratuidade sem repasse de dados a terceiros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5"/>
          <p:cNvSpPr txBox="1"/>
          <p:nvPr/>
        </p:nvSpPr>
        <p:spPr>
          <a:xfrm>
            <a:off x="4754880" y="3008376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5"/>
          <p:cNvSpPr txBox="1"/>
          <p:nvPr/>
        </p:nvSpPr>
        <p:spPr>
          <a:xfrm>
            <a:off x="5943600" y="3008376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5"/>
          <p:cNvSpPr txBox="1"/>
          <p:nvPr/>
        </p:nvSpPr>
        <p:spPr>
          <a:xfrm>
            <a:off x="7132320" y="3008376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5"/>
          <p:cNvSpPr txBox="1"/>
          <p:nvPr/>
        </p:nvSpPr>
        <p:spPr>
          <a:xfrm>
            <a:off x="960120" y="3575303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Funcionamento sem conta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5"/>
          <p:cNvSpPr txBox="1"/>
          <p:nvPr/>
        </p:nvSpPr>
        <p:spPr>
          <a:xfrm>
            <a:off x="4754880" y="3575303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5"/>
          <p:cNvSpPr txBox="1"/>
          <p:nvPr/>
        </p:nvSpPr>
        <p:spPr>
          <a:xfrm>
            <a:off x="5943600" y="3575303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5"/>
          <p:cNvSpPr txBox="1"/>
          <p:nvPr/>
        </p:nvSpPr>
        <p:spPr>
          <a:xfrm>
            <a:off x="7132320" y="3575303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5"/>
          <p:cNvSpPr txBox="1"/>
          <p:nvPr/>
        </p:nvSpPr>
        <p:spPr>
          <a:xfrm>
            <a:off x="960120" y="4142231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Controle de estoque com aviso, sem custo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5"/>
          <p:cNvSpPr txBox="1"/>
          <p:nvPr/>
        </p:nvSpPr>
        <p:spPr>
          <a:xfrm>
            <a:off x="4754880" y="4142231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5"/>
          <p:cNvSpPr txBox="1"/>
          <p:nvPr/>
        </p:nvSpPr>
        <p:spPr>
          <a:xfrm>
            <a:off x="5943600" y="4142231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5"/>
          <p:cNvSpPr txBox="1"/>
          <p:nvPr/>
        </p:nvSpPr>
        <p:spPr>
          <a:xfrm>
            <a:off x="7132320" y="4142231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5"/>
          <p:cNvSpPr txBox="1"/>
          <p:nvPr/>
        </p:nvSpPr>
        <p:spPr>
          <a:xfrm>
            <a:off x="960120" y="4709160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Dose variável por horário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4754938" y="4877126"/>
            <a:ext cx="1188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5"/>
          <p:cNvSpPr txBox="1"/>
          <p:nvPr/>
        </p:nvSpPr>
        <p:spPr>
          <a:xfrm>
            <a:off x="5943600" y="4709160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5"/>
          <p:cNvSpPr txBox="1"/>
          <p:nvPr/>
        </p:nvSpPr>
        <p:spPr>
          <a:xfrm>
            <a:off x="7132320" y="4709160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5"/>
          <p:cNvSpPr txBox="1"/>
          <p:nvPr/>
        </p:nvSpPr>
        <p:spPr>
          <a:xfrm>
            <a:off x="685800" y="550468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adaptado do Quadro 2 do TCC, com base em Medisafe (2026) e MyTherapy (2026).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5"/>
          <p:cNvSpPr txBox="1"/>
          <p:nvPr/>
        </p:nvSpPr>
        <p:spPr>
          <a:xfrm>
            <a:off x="8915400" y="1874525"/>
            <a:ext cx="2749500" cy="345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Grátis só com 2 medicamentos. </a:t>
            </a:r>
            <a:b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</a:br>
            <a:r>
              <a:rPr b="0" i="0" lang="en-US" spc="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(desde jan. 2026)</a:t>
            </a:r>
            <a:endParaRPr b="0" i="0" spc="0" sz="11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pc="0" sz="15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Gratuito com repasse de dados anonimizados</a:t>
            </a:r>
            <a:endParaRPr b="0" i="0" spc="0" sz="15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pc="0" sz="15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Troca amplitude por profundidade no tratamento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6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Apoiar a rotina medicamentosa sem depender de conexão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6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6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685800" y="1828800"/>
            <a:ext cx="10820095" cy="1417320"/>
          </a:xfrm>
          <a:prstGeom prst="roundRect">
            <a:avLst>
              <a:gd fmla="val 9032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 txBox="1"/>
          <p:nvPr/>
        </p:nvSpPr>
        <p:spPr>
          <a:xfrm>
            <a:off x="960135" y="2048375"/>
            <a:ext cx="10088700" cy="100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 GERAL</a:t>
            </a:r>
            <a:endParaRPr b="1" i="0" spc="200" sz="1100" u="none" cap="none" strike="noStrike">
              <a:solidFill>
                <a:srgbClr val="0A3F8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i="0" spc="200" sz="1100" u="none" cap="none" strike="noStrike">
              <a:solidFill>
                <a:srgbClr val="0A3F8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Desenvolver uma aplicação móvel que integra o agendamento e o registro de doses, o estoque e os compromissos terapêuticos, numa arquitetura </a:t>
            </a:r>
            <a:r>
              <a:rPr b="1" i="1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</a:t>
            </a:r>
            <a:endParaRPr b="1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685800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96012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 txBox="1"/>
          <p:nvPr/>
        </p:nvSpPr>
        <p:spPr>
          <a:xfrm>
            <a:off x="96012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6"/>
          <p:cNvSpPr txBox="1"/>
          <p:nvPr/>
        </p:nvSpPr>
        <p:spPr>
          <a:xfrm>
            <a:off x="960120" y="4663440"/>
            <a:ext cx="15147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Levantar requisitos na literatura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6"/>
          <p:cNvSpPr/>
          <p:nvPr/>
        </p:nvSpPr>
        <p:spPr>
          <a:xfrm>
            <a:off x="2886395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6"/>
          <p:cNvSpPr/>
          <p:nvPr/>
        </p:nvSpPr>
        <p:spPr>
          <a:xfrm>
            <a:off x="316071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6"/>
          <p:cNvSpPr txBox="1"/>
          <p:nvPr/>
        </p:nvSpPr>
        <p:spPr>
          <a:xfrm>
            <a:off x="3160715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6"/>
          <p:cNvSpPr txBox="1"/>
          <p:nvPr/>
        </p:nvSpPr>
        <p:spPr>
          <a:xfrm>
            <a:off x="3160715" y="4663440"/>
            <a:ext cx="15147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Especificar requisitos e regras de negócio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6"/>
          <p:cNvSpPr/>
          <p:nvPr/>
        </p:nvSpPr>
        <p:spPr>
          <a:xfrm>
            <a:off x="5086990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6"/>
          <p:cNvSpPr/>
          <p:nvPr/>
        </p:nvSpPr>
        <p:spPr>
          <a:xfrm>
            <a:off x="536131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6"/>
          <p:cNvSpPr txBox="1"/>
          <p:nvPr/>
        </p:nvSpPr>
        <p:spPr>
          <a:xfrm>
            <a:off x="536131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6"/>
          <p:cNvSpPr txBox="1"/>
          <p:nvPr/>
        </p:nvSpPr>
        <p:spPr>
          <a:xfrm>
            <a:off x="5361310" y="4663440"/>
            <a:ext cx="15147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Projetar arquitetura, dados e telas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6"/>
          <p:cNvSpPr/>
          <p:nvPr/>
        </p:nvSpPr>
        <p:spPr>
          <a:xfrm>
            <a:off x="7287585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6"/>
          <p:cNvSpPr/>
          <p:nvPr/>
        </p:nvSpPr>
        <p:spPr>
          <a:xfrm>
            <a:off x="756190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6"/>
          <p:cNvSpPr txBox="1"/>
          <p:nvPr/>
        </p:nvSpPr>
        <p:spPr>
          <a:xfrm>
            <a:off x="7561905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6"/>
          <p:cNvSpPr txBox="1"/>
          <p:nvPr/>
        </p:nvSpPr>
        <p:spPr>
          <a:xfrm>
            <a:off x="7561905" y="4663440"/>
            <a:ext cx="15147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Implementar a aplicação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6"/>
          <p:cNvSpPr/>
          <p:nvPr/>
        </p:nvSpPr>
        <p:spPr>
          <a:xfrm>
            <a:off x="9488180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6"/>
          <p:cNvSpPr/>
          <p:nvPr/>
        </p:nvSpPr>
        <p:spPr>
          <a:xfrm>
            <a:off x="976250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6"/>
          <p:cNvSpPr txBox="1"/>
          <p:nvPr/>
        </p:nvSpPr>
        <p:spPr>
          <a:xfrm>
            <a:off x="976250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6"/>
          <p:cNvSpPr txBox="1"/>
          <p:nvPr/>
        </p:nvSpPr>
        <p:spPr>
          <a:xfrm>
            <a:off x="9762500" y="4663440"/>
            <a:ext cx="1514700" cy="9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Analisar o </a:t>
            </a:r>
            <a:r>
              <a:rPr b="1" i="1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</a:t>
            </a: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em cenários controlados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6"/>
          <p:cNvSpPr txBox="1"/>
          <p:nvPr/>
        </p:nvSpPr>
        <p:spPr>
          <a:xfrm>
            <a:off x="685800" y="34747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OBJETIVOS ESPECÍFICOS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7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FUNDAMENTAÇÃO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7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conceito sustenta uma decisão do 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7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7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7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7"/>
          <p:cNvSpPr txBox="1"/>
          <p:nvPr/>
        </p:nvSpPr>
        <p:spPr>
          <a:xfrm>
            <a:off x="1005840" y="157276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CONCEITO</a:t>
            </a:r>
            <a:endParaRPr/>
          </a:p>
        </p:txBody>
      </p:sp>
      <p:sp>
        <p:nvSpPr>
          <p:cNvPr id="217" name="Google Shape;217;p7"/>
          <p:cNvSpPr txBox="1"/>
          <p:nvPr/>
        </p:nvSpPr>
        <p:spPr>
          <a:xfrm>
            <a:off x="4297680" y="1572768"/>
            <a:ext cx="4160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QUE É</a:t>
            </a:r>
            <a:endParaRPr/>
          </a:p>
        </p:txBody>
      </p:sp>
      <p:sp>
        <p:nvSpPr>
          <p:cNvPr id="218" name="Google Shape;218;p7"/>
          <p:cNvSpPr txBox="1"/>
          <p:nvPr/>
        </p:nvSpPr>
        <p:spPr>
          <a:xfrm>
            <a:off x="8778240" y="1572768"/>
            <a:ext cx="2423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 MAPILL</a:t>
            </a:r>
            <a:endParaRPr/>
          </a:p>
        </p:txBody>
      </p:sp>
      <p:sp>
        <p:nvSpPr>
          <p:cNvPr id="219" name="Google Shape;219;p7"/>
          <p:cNvSpPr/>
          <p:nvPr/>
        </p:nvSpPr>
        <p:spPr>
          <a:xfrm>
            <a:off x="685800" y="1901952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7"/>
          <p:cNvSpPr/>
          <p:nvPr/>
        </p:nvSpPr>
        <p:spPr>
          <a:xfrm>
            <a:off x="8549640" y="1901952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7"/>
          <p:cNvSpPr txBox="1"/>
          <p:nvPr/>
        </p:nvSpPr>
        <p:spPr>
          <a:xfrm>
            <a:off x="1005840" y="1901952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Memória prospectiva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Baddeley; Eysenck; Anderson, 2010</a:t>
            </a:r>
            <a:endParaRPr/>
          </a:p>
        </p:txBody>
      </p:sp>
      <p:sp>
        <p:nvSpPr>
          <p:cNvPr id="222" name="Google Shape;222;p7"/>
          <p:cNvSpPr txBox="1"/>
          <p:nvPr/>
        </p:nvSpPr>
        <p:spPr>
          <a:xfrm>
            <a:off x="4320600" y="2090098"/>
            <a:ext cx="4160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lembrar de fazer algo no futuro, como tomar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o remédio às </a:t>
            </a:r>
            <a:r>
              <a:rPr lang="en-US" sz="13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20h</a:t>
            </a:r>
            <a:endParaRPr/>
          </a:p>
        </p:txBody>
      </p:sp>
      <p:sp>
        <p:nvSpPr>
          <p:cNvPr id="223" name="Google Shape;223;p7"/>
          <p:cNvSpPr txBox="1"/>
          <p:nvPr/>
        </p:nvSpPr>
        <p:spPr>
          <a:xfrm>
            <a:off x="8778240" y="1901952"/>
            <a:ext cx="24231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alarme lembra pelo paciente</a:t>
            </a:r>
            <a:endParaRPr/>
          </a:p>
        </p:txBody>
      </p:sp>
      <p:sp>
        <p:nvSpPr>
          <p:cNvPr id="224" name="Google Shape;224;p7"/>
          <p:cNvSpPr/>
          <p:nvPr/>
        </p:nvSpPr>
        <p:spPr>
          <a:xfrm>
            <a:off x="685800" y="2743200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7"/>
          <p:cNvSpPr/>
          <p:nvPr/>
        </p:nvSpPr>
        <p:spPr>
          <a:xfrm>
            <a:off x="8549640" y="2743200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7"/>
          <p:cNvSpPr txBox="1"/>
          <p:nvPr/>
        </p:nvSpPr>
        <p:spPr>
          <a:xfrm>
            <a:off x="1005840" y="2743200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Desoneração cognitiva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Risko; Gilbert, 2016</a:t>
            </a:r>
            <a:endParaRPr/>
          </a:p>
        </p:txBody>
      </p:sp>
      <p:sp>
        <p:nvSpPr>
          <p:cNvPr id="227" name="Google Shape;227;p7"/>
          <p:cNvSpPr txBox="1"/>
          <p:nvPr/>
        </p:nvSpPr>
        <p:spPr>
          <a:xfrm>
            <a:off x="4320605" y="2913050"/>
            <a:ext cx="4160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passar para uma ferramenta o que a cabeça 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teria de guardar ou calcular</a:t>
            </a:r>
            <a:endParaRPr/>
          </a:p>
        </p:txBody>
      </p:sp>
      <p:sp>
        <p:nvSpPr>
          <p:cNvPr id="228" name="Google Shape;228;p7"/>
          <p:cNvSpPr txBox="1"/>
          <p:nvPr/>
        </p:nvSpPr>
        <p:spPr>
          <a:xfrm>
            <a:off x="8778240" y="2743200"/>
            <a:ext cx="24231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app calcula estoque e horários</a:t>
            </a:r>
            <a:endParaRPr/>
          </a:p>
        </p:txBody>
      </p:sp>
      <p:sp>
        <p:nvSpPr>
          <p:cNvPr id="229" name="Google Shape;229;p7"/>
          <p:cNvSpPr/>
          <p:nvPr/>
        </p:nvSpPr>
        <p:spPr>
          <a:xfrm>
            <a:off x="685800" y="3584448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7"/>
          <p:cNvSpPr/>
          <p:nvPr/>
        </p:nvSpPr>
        <p:spPr>
          <a:xfrm>
            <a:off x="8549640" y="3584448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7"/>
          <p:cNvSpPr txBox="1"/>
          <p:nvPr/>
        </p:nvSpPr>
        <p:spPr>
          <a:xfrm>
            <a:off x="1005840" y="3584448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 única de verdade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Loshin, 2010</a:t>
            </a:r>
            <a:endParaRPr/>
          </a:p>
        </p:txBody>
      </p:sp>
      <p:sp>
        <p:nvSpPr>
          <p:cNvPr id="232" name="Google Shape;232;p7"/>
          <p:cNvSpPr txBox="1"/>
          <p:nvPr/>
        </p:nvSpPr>
        <p:spPr>
          <a:xfrm>
            <a:off x="4320605" y="3754298"/>
            <a:ext cx="4160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um só lugar com a versão certa da informação,</a:t>
            </a:r>
            <a:endParaRPr sz="1300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centralização dos dados</a:t>
            </a:r>
            <a:endParaRPr sz="1300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233" name="Google Shape;233;p7"/>
          <p:cNvSpPr txBox="1"/>
          <p:nvPr/>
        </p:nvSpPr>
        <p:spPr>
          <a:xfrm>
            <a:off x="8778240" y="3584448"/>
            <a:ext cx="24231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remédios, estoque e consultas juntos</a:t>
            </a:r>
            <a:endParaRPr/>
          </a:p>
        </p:txBody>
      </p:sp>
      <p:sp>
        <p:nvSpPr>
          <p:cNvPr id="234" name="Google Shape;234;p7"/>
          <p:cNvSpPr/>
          <p:nvPr/>
        </p:nvSpPr>
        <p:spPr>
          <a:xfrm>
            <a:off x="685800" y="4425696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7"/>
          <p:cNvSpPr/>
          <p:nvPr/>
        </p:nvSpPr>
        <p:spPr>
          <a:xfrm>
            <a:off x="8549640" y="4425696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7"/>
          <p:cNvSpPr txBox="1"/>
          <p:nvPr/>
        </p:nvSpPr>
        <p:spPr>
          <a:xfrm>
            <a:off x="1005840" y="4425696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 e Last-Write-Wins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Allsopp, 2014; Kleppmann, 2017</a:t>
            </a:r>
            <a:endParaRPr/>
          </a:p>
        </p:txBody>
      </p:sp>
      <p:sp>
        <p:nvSpPr>
          <p:cNvPr id="237" name="Google Shape;237;p7"/>
          <p:cNvSpPr txBox="1"/>
          <p:nvPr/>
        </p:nvSpPr>
        <p:spPr>
          <a:xfrm>
            <a:off x="4320605" y="4490396"/>
            <a:ext cx="4160400" cy="62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funcionamento integral que independe de conexão, com possibilidade de sincronização dos dados em nuvem</a:t>
            </a:r>
            <a:endParaRPr/>
          </a:p>
        </p:txBody>
      </p:sp>
      <p:sp>
        <p:nvSpPr>
          <p:cNvPr id="238" name="Google Shape;238;p7"/>
          <p:cNvSpPr txBox="1"/>
          <p:nvPr/>
        </p:nvSpPr>
        <p:spPr>
          <a:xfrm>
            <a:off x="8778240" y="4425696"/>
            <a:ext cx="24231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grava no aparelho e sincroniza depois</a:t>
            </a:r>
            <a:endParaRPr/>
          </a:p>
        </p:txBody>
      </p:sp>
      <p:sp>
        <p:nvSpPr>
          <p:cNvPr id="239" name="Google Shape;239;p7"/>
          <p:cNvSpPr/>
          <p:nvPr/>
        </p:nvSpPr>
        <p:spPr>
          <a:xfrm>
            <a:off x="685800" y="5266944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7"/>
          <p:cNvSpPr/>
          <p:nvPr/>
        </p:nvSpPr>
        <p:spPr>
          <a:xfrm>
            <a:off x="8549640" y="5266944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7"/>
          <p:cNvSpPr txBox="1"/>
          <p:nvPr/>
        </p:nvSpPr>
        <p:spPr>
          <a:xfrm>
            <a:off x="1005840" y="5266944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Nielsen, WCAG e LGPD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Nielsen, 1994; W3C, 2018; Brasil, 2018</a:t>
            </a:r>
            <a:endParaRPr/>
          </a:p>
        </p:txBody>
      </p:sp>
      <p:sp>
        <p:nvSpPr>
          <p:cNvPr id="242" name="Google Shape;242;p7"/>
          <p:cNvSpPr txBox="1"/>
          <p:nvPr/>
        </p:nvSpPr>
        <p:spPr>
          <a:xfrm>
            <a:off x="4320605" y="5436794"/>
            <a:ext cx="4160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regras de usabilidade,  acessibilidade e de proteção de dados pessoais</a:t>
            </a:r>
            <a:endParaRPr/>
          </a:p>
        </p:txBody>
      </p:sp>
      <p:sp>
        <p:nvSpPr>
          <p:cNvPr id="243" name="Google Shape;243;p7"/>
          <p:cNvSpPr txBox="1"/>
          <p:nvPr/>
        </p:nvSpPr>
        <p:spPr>
          <a:xfrm>
            <a:off x="8778240" y="5436794"/>
            <a:ext cx="24231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interface</a:t>
            </a:r>
            <a:r>
              <a:rPr b="1" lang="en-US" sz="13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intuitiva </a:t>
            </a: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 dados protegidos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9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ARQUITETURA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9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Clean Architecture em três camadas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9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9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8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9"/>
          <p:cNvSpPr/>
          <p:nvPr/>
        </p:nvSpPr>
        <p:spPr>
          <a:xfrm>
            <a:off x="1280160" y="1783080"/>
            <a:ext cx="4114800" cy="4114800"/>
          </a:xfrm>
          <a:prstGeom prst="ellipse">
            <a:avLst/>
          </a:prstGeom>
          <a:solidFill>
            <a:srgbClr val="DCE7F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9"/>
          <p:cNvSpPr/>
          <p:nvPr/>
        </p:nvSpPr>
        <p:spPr>
          <a:xfrm>
            <a:off x="1920239" y="2423160"/>
            <a:ext cx="2834640" cy="2834640"/>
          </a:xfrm>
          <a:prstGeom prst="ellipse">
            <a:avLst/>
          </a:prstGeom>
          <a:solidFill>
            <a:srgbClr val="9D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9"/>
          <p:cNvSpPr/>
          <p:nvPr/>
        </p:nvSpPr>
        <p:spPr>
          <a:xfrm>
            <a:off x="2560320" y="3063240"/>
            <a:ext cx="1554480" cy="155448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9"/>
          <p:cNvSpPr txBox="1"/>
          <p:nvPr/>
        </p:nvSpPr>
        <p:spPr>
          <a:xfrm>
            <a:off x="1965960" y="1911096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Apresentação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telas e design próprio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9"/>
          <p:cNvSpPr txBox="1"/>
          <p:nvPr/>
        </p:nvSpPr>
        <p:spPr>
          <a:xfrm>
            <a:off x="1965960" y="2551176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SQLite e Supabase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9"/>
          <p:cNvSpPr txBox="1"/>
          <p:nvPr/>
        </p:nvSpPr>
        <p:spPr>
          <a:xfrm>
            <a:off x="2560320" y="3063240"/>
            <a:ext cx="15544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Domínio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TypeScript puro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9"/>
          <p:cNvSpPr txBox="1"/>
          <p:nvPr/>
        </p:nvSpPr>
        <p:spPr>
          <a:xfrm>
            <a:off x="5532120" y="3566160"/>
            <a:ext cx="1051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dependência aponta para dentro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9"/>
          <p:cNvSpPr txBox="1"/>
          <p:nvPr/>
        </p:nvSpPr>
        <p:spPr>
          <a:xfrm>
            <a:off x="685800" y="60533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elaborado pelo autor (2026), a partir da seção 4.4.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9"/>
          <p:cNvSpPr/>
          <p:nvPr/>
        </p:nvSpPr>
        <p:spPr>
          <a:xfrm>
            <a:off x="6812280" y="182880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9"/>
          <p:cNvSpPr txBox="1"/>
          <p:nvPr/>
        </p:nvSpPr>
        <p:spPr>
          <a:xfrm>
            <a:off x="7086600" y="182880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React Native + Expo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base única com acesso nativo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6812280" y="265176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9"/>
          <p:cNvSpPr txBox="1"/>
          <p:nvPr/>
        </p:nvSpPr>
        <p:spPr>
          <a:xfrm>
            <a:off x="7086600" y="265176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TypeScript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tipagem nas regras clínicas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9"/>
          <p:cNvSpPr/>
          <p:nvPr/>
        </p:nvSpPr>
        <p:spPr>
          <a:xfrm>
            <a:off x="6812280" y="347472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 txBox="1"/>
          <p:nvPr/>
        </p:nvSpPr>
        <p:spPr>
          <a:xfrm>
            <a:off x="7086600" y="347472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SQLite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banco no aparelho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9"/>
          <p:cNvSpPr/>
          <p:nvPr/>
        </p:nvSpPr>
        <p:spPr>
          <a:xfrm>
            <a:off x="6812280" y="429768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9"/>
          <p:cNvSpPr txBox="1"/>
          <p:nvPr/>
        </p:nvSpPr>
        <p:spPr>
          <a:xfrm>
            <a:off x="7086600" y="429768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Supabase (PostgreSQL)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cópia na nuvem, com RLS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9"/>
          <p:cNvSpPr/>
          <p:nvPr/>
        </p:nvSpPr>
        <p:spPr>
          <a:xfrm>
            <a:off x="6812280" y="512064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9"/>
          <p:cNvSpPr txBox="1"/>
          <p:nvPr/>
        </p:nvSpPr>
        <p:spPr>
          <a:xfrm>
            <a:off x="7086600" y="512064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react-native-notify-kit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alarme pelo agendador do Android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0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REGRAS DE NEGÓCIO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0"/>
          <p:cNvSpPr txBox="1"/>
          <p:nvPr/>
        </p:nvSpPr>
        <p:spPr>
          <a:xfrm>
            <a:off x="685800" y="804672"/>
            <a:ext cx="108201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Quatro regras que protegem o registro clínico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0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0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9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0"/>
          <p:cNvSpPr/>
          <p:nvPr/>
        </p:nvSpPr>
        <p:spPr>
          <a:xfrm>
            <a:off x="685800" y="1828800"/>
            <a:ext cx="5272887" cy="1874519"/>
          </a:xfrm>
          <a:prstGeom prst="roundRect">
            <a:avLst>
              <a:gd fmla="val 682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0"/>
          <p:cNvSpPr/>
          <p:nvPr/>
        </p:nvSpPr>
        <p:spPr>
          <a:xfrm>
            <a:off x="1051560" y="2103120"/>
            <a:ext cx="868680" cy="329184"/>
          </a:xfrm>
          <a:prstGeom prst="roundRect">
            <a:avLst>
              <a:gd fmla="val 50000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0"/>
          <p:cNvSpPr txBox="1"/>
          <p:nvPr/>
        </p:nvSpPr>
        <p:spPr>
          <a:xfrm>
            <a:off x="1051560" y="2103120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RN 01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10"/>
          <p:cNvSpPr txBox="1"/>
          <p:nvPr/>
        </p:nvSpPr>
        <p:spPr>
          <a:xfrm>
            <a:off x="1051560" y="2578608"/>
            <a:ext cx="4541367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Dose sem resposta nunca vira “pulada”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 responder não é decidir pular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0"/>
          <p:cNvSpPr/>
          <p:nvPr/>
        </p:nvSpPr>
        <p:spPr>
          <a:xfrm>
            <a:off x="6233007" y="1828800"/>
            <a:ext cx="5272887" cy="1874519"/>
          </a:xfrm>
          <a:prstGeom prst="roundRect">
            <a:avLst>
              <a:gd fmla="val 682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0"/>
          <p:cNvSpPr/>
          <p:nvPr/>
        </p:nvSpPr>
        <p:spPr>
          <a:xfrm>
            <a:off x="6598767" y="2103120"/>
            <a:ext cx="868680" cy="329184"/>
          </a:xfrm>
          <a:prstGeom prst="roundRect">
            <a:avLst>
              <a:gd fmla="val 50000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0"/>
          <p:cNvSpPr txBox="1"/>
          <p:nvPr/>
        </p:nvSpPr>
        <p:spPr>
          <a:xfrm>
            <a:off x="6598767" y="2103120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RN 02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10"/>
          <p:cNvSpPr txBox="1"/>
          <p:nvPr/>
        </p:nvSpPr>
        <p:spPr>
          <a:xfrm>
            <a:off x="6598767" y="2578608"/>
            <a:ext cx="4541367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estoque desconta a dose, não a unidade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Dois comprimidos tomados, dois descontados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0"/>
          <p:cNvSpPr/>
          <p:nvPr/>
        </p:nvSpPr>
        <p:spPr>
          <a:xfrm>
            <a:off x="685800" y="3977639"/>
            <a:ext cx="5272887" cy="1874519"/>
          </a:xfrm>
          <a:prstGeom prst="roundRect">
            <a:avLst>
              <a:gd fmla="val 682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0"/>
          <p:cNvSpPr/>
          <p:nvPr/>
        </p:nvSpPr>
        <p:spPr>
          <a:xfrm>
            <a:off x="1051560" y="4251959"/>
            <a:ext cx="868680" cy="329184"/>
          </a:xfrm>
          <a:prstGeom prst="roundRect">
            <a:avLst>
              <a:gd fmla="val 50000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0"/>
          <p:cNvSpPr txBox="1"/>
          <p:nvPr/>
        </p:nvSpPr>
        <p:spPr>
          <a:xfrm>
            <a:off x="1051560" y="4251959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RN 06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10"/>
          <p:cNvSpPr txBox="1"/>
          <p:nvPr/>
        </p:nvSpPr>
        <p:spPr>
          <a:xfrm>
            <a:off x="1051560" y="4727448"/>
            <a:ext cx="4541367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Correção nunca sobrescreve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Cria um novo registro, e o original continua rastreável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0"/>
          <p:cNvSpPr/>
          <p:nvPr/>
        </p:nvSpPr>
        <p:spPr>
          <a:xfrm>
            <a:off x="6233007" y="3977639"/>
            <a:ext cx="5272887" cy="1874519"/>
          </a:xfrm>
          <a:prstGeom prst="roundRect">
            <a:avLst>
              <a:gd fmla="val 682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0"/>
          <p:cNvSpPr/>
          <p:nvPr/>
        </p:nvSpPr>
        <p:spPr>
          <a:xfrm>
            <a:off x="6598767" y="4251959"/>
            <a:ext cx="1325880" cy="329184"/>
          </a:xfrm>
          <a:prstGeom prst="roundRect">
            <a:avLst>
              <a:gd fmla="val 50000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0"/>
          <p:cNvSpPr txBox="1"/>
          <p:nvPr/>
        </p:nvSpPr>
        <p:spPr>
          <a:xfrm>
            <a:off x="6598767" y="4251959"/>
            <a:ext cx="13258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RN 11 e 12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0"/>
          <p:cNvSpPr txBox="1"/>
          <p:nvPr/>
        </p:nvSpPr>
        <p:spPr>
          <a:xfrm>
            <a:off x="6598767" y="4727448"/>
            <a:ext cx="4541367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Um aviso por horário, adiamento uma vez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Remédios no mesmo horário, um alarme só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0"/>
          <p:cNvSpPr txBox="1"/>
          <p:nvPr/>
        </p:nvSpPr>
        <p:spPr>
          <a:xfrm>
            <a:off x="685800" y="6053328"/>
            <a:ext cx="7315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Quadro 10 do TCC, que reúne as vinte regras de negócio.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SINCRONIZAÇÃO E SEGURANÇA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11"/>
          <p:cNvSpPr txBox="1"/>
          <p:nvPr/>
        </p:nvSpPr>
        <p:spPr>
          <a:xfrm>
            <a:off x="685800" y="804672"/>
            <a:ext cx="108201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Grava primeiro no aparelho, e a nuvem é </a:t>
            </a:r>
            <a:r>
              <a:rPr b="1" i="0" lang="en-US" spc="0" sz="28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cópia </a:t>
            </a: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 </a:t>
            </a:r>
            <a:r>
              <a:rPr b="1" i="0" lang="en-US" spc="0" sz="28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ponte</a:t>
            </a:r>
            <a:endParaRPr b="0" i="0" spc="0" sz="1400" u="none" cap="none" strike="noStrike">
              <a:solidFill>
                <a:srgbClr val="0B5FD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1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11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10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1"/>
          <p:cNvSpPr/>
          <p:nvPr/>
        </p:nvSpPr>
        <p:spPr>
          <a:xfrm>
            <a:off x="685800" y="1783080"/>
            <a:ext cx="6492240" cy="4160520"/>
          </a:xfrm>
          <a:prstGeom prst="roundRect">
            <a:avLst>
              <a:gd fmla="val 307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55_0.jpeg" id="307" name="Google Shape;30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313" y="1984562"/>
            <a:ext cx="6341226" cy="3757551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11"/>
          <p:cNvSpPr txBox="1"/>
          <p:nvPr/>
        </p:nvSpPr>
        <p:spPr>
          <a:xfrm>
            <a:off x="685800" y="6053328"/>
            <a:ext cx="68580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Figura 1 - Resolução de conflito pelo critério </a:t>
            </a:r>
            <a:r>
              <a:rPr b="0" i="1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Last-Write-Wins</a:t>
            </a: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Fonte: elaborado pelo autor (2026).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11"/>
          <p:cNvSpPr/>
          <p:nvPr/>
        </p:nvSpPr>
        <p:spPr>
          <a:xfrm>
            <a:off x="7498079" y="1783080"/>
            <a:ext cx="4005072" cy="1234440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1"/>
          <p:cNvSpPr txBox="1"/>
          <p:nvPr/>
        </p:nvSpPr>
        <p:spPr>
          <a:xfrm>
            <a:off x="7818120" y="1783080"/>
            <a:ext cx="34747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Vence a edição mais recente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inteira, sem mesclar campos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11"/>
          <p:cNvSpPr/>
          <p:nvPr/>
        </p:nvSpPr>
        <p:spPr>
          <a:xfrm>
            <a:off x="7498079" y="3200400"/>
            <a:ext cx="4005072" cy="1234440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1"/>
          <p:cNvSpPr txBox="1"/>
          <p:nvPr/>
        </p:nvSpPr>
        <p:spPr>
          <a:xfrm>
            <a:off x="7818120" y="3200400"/>
            <a:ext cx="34747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servidor aplica o mesmo critério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 recusa a atualização mais antiga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1"/>
          <p:cNvSpPr/>
          <p:nvPr/>
        </p:nvSpPr>
        <p:spPr>
          <a:xfrm>
            <a:off x="7498079" y="4617720"/>
            <a:ext cx="4005072" cy="1234440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1"/>
          <p:cNvSpPr txBox="1"/>
          <p:nvPr/>
        </p:nvSpPr>
        <p:spPr>
          <a:xfrm>
            <a:off x="7818120" y="4617720"/>
            <a:ext cx="34747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Isolamento por usuário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RLS nas nove tabelas e token JWT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11"/>
          <p:cNvSpPr txBox="1"/>
          <p:nvPr/>
        </p:nvSpPr>
        <p:spPr>
          <a:xfrm>
            <a:off x="7730284" y="5413181"/>
            <a:ext cx="3071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800">
                <a:solidFill>
                  <a:srgbClr val="B7B7B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Row-Level Security </a:t>
            </a:r>
            <a:r>
              <a:rPr lang="en-US" sz="800">
                <a:solidFill>
                  <a:srgbClr val="B7B7B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/ JSON </a:t>
            </a:r>
            <a:r>
              <a:rPr i="1" lang="en-US" sz="800">
                <a:solidFill>
                  <a:srgbClr val="B7B7B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Web Token</a:t>
            </a:r>
            <a:endParaRPr i="1" sz="800">
              <a:solidFill>
                <a:srgbClr val="B7B7B7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2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DEMONSTRAÇÃO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aplicativo funcionando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2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11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68_2.png" id="325" name="Google Shape;325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5528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26" name="Google Shape;326;p12"/>
          <p:cNvSpPr txBox="1"/>
          <p:nvPr/>
        </p:nvSpPr>
        <p:spPr>
          <a:xfrm>
            <a:off x="685800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Cadastro por código de barras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1_2.png" id="327" name="Google Shape;327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36977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28" name="Google Shape;328;p12"/>
          <p:cNvSpPr txBox="1"/>
          <p:nvPr/>
        </p:nvSpPr>
        <p:spPr>
          <a:xfrm>
            <a:off x="2527249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Tela inicial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2_0.png" id="329" name="Google Shape;329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78426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30" name="Google Shape;330;p12"/>
          <p:cNvSpPr txBox="1"/>
          <p:nvPr/>
        </p:nvSpPr>
        <p:spPr>
          <a:xfrm>
            <a:off x="4368698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4_0.png" id="331" name="Google Shape;331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19875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32" name="Google Shape;332;p12"/>
          <p:cNvSpPr txBox="1"/>
          <p:nvPr/>
        </p:nvSpPr>
        <p:spPr>
          <a:xfrm>
            <a:off x="6210147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Adesão e calendário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5_0.jpeg" id="333" name="Google Shape;333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24485" y="2892725"/>
            <a:ext cx="1721400" cy="2227800"/>
          </a:xfrm>
          <a:prstGeom prst="roundRect">
            <a:avLst>
              <a:gd fmla="val 6968" name="adj"/>
            </a:avLst>
          </a:prstGeom>
          <a:noFill/>
          <a:ln>
            <a:noFill/>
          </a:ln>
        </p:spPr>
      </p:pic>
      <p:sp>
        <p:nvSpPr>
          <p:cNvPr id="334" name="Google Shape;334;p12"/>
          <p:cNvSpPr txBox="1"/>
          <p:nvPr/>
        </p:nvSpPr>
        <p:spPr>
          <a:xfrm>
            <a:off x="8051596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Relatório em PDF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8_2.png" id="335" name="Google Shape;335;p1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002774" y="1874519"/>
            <a:ext cx="1447800" cy="324600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36" name="Google Shape;336;p12"/>
          <p:cNvSpPr txBox="1"/>
          <p:nvPr/>
        </p:nvSpPr>
        <p:spPr>
          <a:xfrm>
            <a:off x="9893046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Temas e cores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2"/>
          <p:cNvSpPr txBox="1"/>
          <p:nvPr/>
        </p:nvSpPr>
        <p:spPr>
          <a:xfrm>
            <a:off x="685800" y="605332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Telas: Figuras 4, 7, 8, 9, 10 e 12 do TCC.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h16db80fa709ec415_0_4"/>
          <p:cNvSpPr txBox="1"/>
          <p:nvPr/>
        </p:nvSpPr>
        <p:spPr>
          <a:xfrm>
            <a:off x="685800" y="502920"/>
            <a:ext cx="8229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DEMONSTRAÇÃO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h16db80fa709ec415_0_4"/>
          <p:cNvSpPr txBox="1"/>
          <p:nvPr/>
        </p:nvSpPr>
        <p:spPr>
          <a:xfrm>
            <a:off x="685800" y="804672"/>
            <a:ext cx="108201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Vídeo demonstrando o uso do 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h16db80fa709ec415_0_4"/>
          <p:cNvSpPr txBox="1"/>
          <p:nvPr/>
        </p:nvSpPr>
        <p:spPr>
          <a:xfrm>
            <a:off x="685800" y="6419088"/>
            <a:ext cx="7315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h16db80fa709ec415_0_4"/>
          <p:cNvSpPr txBox="1"/>
          <p:nvPr/>
        </p:nvSpPr>
        <p:spPr>
          <a:xfrm>
            <a:off x="10591495" y="6419088"/>
            <a:ext cx="914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3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RESULTADOS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13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Cinco cenários offline-first aprovados em aparelho físico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1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13"/>
          <p:cNvSpPr/>
          <p:nvPr/>
        </p:nvSpPr>
        <p:spPr>
          <a:xfrm>
            <a:off x="685800" y="1783080"/>
            <a:ext cx="6675000" cy="4160400"/>
          </a:xfrm>
          <a:prstGeom prst="roundRect">
            <a:avLst>
              <a:gd fmla="val 307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3"/>
          <p:cNvSpPr txBox="1"/>
          <p:nvPr/>
        </p:nvSpPr>
        <p:spPr>
          <a:xfrm>
            <a:off x="1005840" y="196596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Ausência de conexão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13"/>
          <p:cNvSpPr/>
          <p:nvPr/>
        </p:nvSpPr>
        <p:spPr>
          <a:xfrm>
            <a:off x="5852160" y="2075688"/>
            <a:ext cx="123444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3"/>
          <p:cNvSpPr txBox="1"/>
          <p:nvPr/>
        </p:nvSpPr>
        <p:spPr>
          <a:xfrm>
            <a:off x="5852160" y="2075688"/>
            <a:ext cx="12344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13"/>
          <p:cNvSpPr txBox="1"/>
          <p:nvPr/>
        </p:nvSpPr>
        <p:spPr>
          <a:xfrm>
            <a:off x="1005840" y="2724912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Restabelecimento da conectividade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13"/>
          <p:cNvSpPr/>
          <p:nvPr/>
        </p:nvSpPr>
        <p:spPr>
          <a:xfrm>
            <a:off x="5852160" y="2834640"/>
            <a:ext cx="123444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3"/>
          <p:cNvSpPr txBox="1"/>
          <p:nvPr/>
        </p:nvSpPr>
        <p:spPr>
          <a:xfrm>
            <a:off x="5852135" y="2906840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13"/>
          <p:cNvSpPr txBox="1"/>
          <p:nvPr/>
        </p:nvSpPr>
        <p:spPr>
          <a:xfrm>
            <a:off x="1005840" y="3483863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Sincronização por restauração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13"/>
          <p:cNvSpPr txBox="1"/>
          <p:nvPr/>
        </p:nvSpPr>
        <p:spPr>
          <a:xfrm>
            <a:off x="1005840" y="4242816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Sincronização entre dispositivos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3"/>
          <p:cNvSpPr txBox="1"/>
          <p:nvPr/>
        </p:nvSpPr>
        <p:spPr>
          <a:xfrm>
            <a:off x="1005840" y="5001768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Conflito entre registros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13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Quadro 28 do TCC. Xiaomi Redmi Note 14 Pro 5G, Android 16.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13"/>
          <p:cNvSpPr/>
          <p:nvPr/>
        </p:nvSpPr>
        <p:spPr>
          <a:xfrm>
            <a:off x="7680960" y="1783080"/>
            <a:ext cx="3822191" cy="1920240"/>
          </a:xfrm>
          <a:prstGeom prst="roundRect">
            <a:avLst>
              <a:gd fmla="val 666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3"/>
          <p:cNvSpPr txBox="1"/>
          <p:nvPr/>
        </p:nvSpPr>
        <p:spPr>
          <a:xfrm>
            <a:off x="7946100" y="2163580"/>
            <a:ext cx="32919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</a:t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spc="200" sz="1100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 nas 4 combinações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Bloqueado ou em uso</a:t>
            </a:r>
            <a:r>
              <a:rPr lang="en-US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/ </a:t>
            </a:r>
            <a:endParaRPr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app nos recentes ou 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7680960" y="3931920"/>
            <a:ext cx="3822191" cy="2011680"/>
          </a:xfrm>
          <a:prstGeom prst="roundRect">
            <a:avLst>
              <a:gd fmla="val 6363" name="adj"/>
            </a:avLst>
          </a:prstGeom>
          <a:solidFill>
            <a:srgbClr val="FDF3C4"/>
          </a:solidFill>
          <a:ln cap="flat" cmpd="sng" w="38100">
            <a:solidFill>
              <a:srgbClr val="FFF2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3"/>
          <p:cNvSpPr txBox="1"/>
          <p:nvPr/>
        </p:nvSpPr>
        <p:spPr>
          <a:xfrm>
            <a:off x="8000975" y="4304608"/>
            <a:ext cx="3291900" cy="126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C4A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LIMITAÇÃO</a:t>
            </a:r>
            <a:endParaRPr b="1" i="0" spc="200" sz="1100" u="none" cap="none" strike="noStrike">
              <a:solidFill>
                <a:srgbClr val="5C4A0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spc="200" sz="1100">
              <a:solidFill>
                <a:srgbClr val="5C4A0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Após reiniciar, o alarme esperou o desbloqueio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C4A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Restrição de </a:t>
            </a:r>
            <a:r>
              <a:rPr b="0" i="1" lang="en-US" spc="0" sz="1400" cap="none" strike="noStrike">
                <a:solidFill>
                  <a:srgbClr val="5C4A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Autostart</a:t>
            </a:r>
            <a:r>
              <a:rPr b="0" i="0" lang="en-US" spc="0" sz="1400" u="none" cap="none" strike="noStrike">
                <a:solidFill>
                  <a:srgbClr val="5C4A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do fabricante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13"/>
          <p:cNvSpPr/>
          <p:nvPr/>
        </p:nvSpPr>
        <p:spPr>
          <a:xfrm>
            <a:off x="5852110" y="4333790"/>
            <a:ext cx="1234500" cy="329100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3"/>
          <p:cNvSpPr/>
          <p:nvPr/>
        </p:nvSpPr>
        <p:spPr>
          <a:xfrm>
            <a:off x="5852110" y="5119415"/>
            <a:ext cx="1234500" cy="329100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3"/>
          <p:cNvSpPr txBox="1"/>
          <p:nvPr/>
        </p:nvSpPr>
        <p:spPr>
          <a:xfrm>
            <a:off x="5852110" y="4405953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13"/>
          <p:cNvSpPr/>
          <p:nvPr/>
        </p:nvSpPr>
        <p:spPr>
          <a:xfrm>
            <a:off x="5852135" y="3584253"/>
            <a:ext cx="1234500" cy="329100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5852135" y="3656415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3"/>
          <p:cNvSpPr txBox="1"/>
          <p:nvPr/>
        </p:nvSpPr>
        <p:spPr>
          <a:xfrm>
            <a:off x="5852110" y="5191578"/>
            <a:ext cx="12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14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CONCLUSÃO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4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resposta à pergunta de pesquisa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14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1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14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Mapill;900"/>
          <p:cNvSpPr/>
          <p:nvPr/>
        </p:nvSpPr>
        <p:spPr>
          <a:xfrm>
            <a:off x="685800" y="1783080"/>
            <a:ext cx="10820095" cy="73152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1" name="Mapill;901"/>
          <p:cNvSpPr txBox="1"/>
          <p:nvPr/>
        </p:nvSpPr>
        <p:spPr>
          <a:xfrm>
            <a:off x="1005840" y="178308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Centralizar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2" name="Mapill;902"/>
          <p:cNvSpPr txBox="1"/>
          <p:nvPr/>
        </p:nvSpPr>
        <p:spPr>
          <a:xfrm>
            <a:off x="3749040" y="1783080"/>
            <a:ext cx="74980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remédios, estoque, consultas e receitas num só aplicativo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3" name="Mapill;903"/>
          <p:cNvSpPr/>
          <p:nvPr/>
        </p:nvSpPr>
        <p:spPr>
          <a:xfrm>
            <a:off x="685800" y="2606040"/>
            <a:ext cx="10820095" cy="73152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" name="Mapill;904"/>
          <p:cNvSpPr txBox="1"/>
          <p:nvPr/>
        </p:nvSpPr>
        <p:spPr>
          <a:xfrm>
            <a:off x="1005840" y="260604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Confiabilidade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" name="Mapill;905"/>
          <p:cNvSpPr txBox="1"/>
          <p:nvPr/>
        </p:nvSpPr>
        <p:spPr>
          <a:xfrm>
            <a:off x="3749040" y="2606040"/>
            <a:ext cx="74980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corrigir não apaga o original, e pulada não vira sem resposta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Mapill;906"/>
          <p:cNvSpPr/>
          <p:nvPr/>
        </p:nvSpPr>
        <p:spPr>
          <a:xfrm>
            <a:off x="685800" y="3429000"/>
            <a:ext cx="10820095" cy="73152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" name="Mapill;907"/>
          <p:cNvSpPr txBox="1"/>
          <p:nvPr/>
        </p:nvSpPr>
        <p:spPr>
          <a:xfrm>
            <a:off x="1005840" y="342900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Segurança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8" name="Mapill;908"/>
          <p:cNvSpPr txBox="1"/>
          <p:nvPr/>
        </p:nvSpPr>
        <p:spPr>
          <a:xfrm>
            <a:off x="3749040" y="3429000"/>
            <a:ext cx="74980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usuário só acessa os próprios dados, e dá para usar sem conta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9" name="Mapill;909"/>
          <p:cNvSpPr/>
          <p:nvPr/>
        </p:nvSpPr>
        <p:spPr>
          <a:xfrm>
            <a:off x="685800" y="4251960"/>
            <a:ext cx="10820095" cy="73152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0" name="Mapill;910"/>
          <p:cNvSpPr txBox="1"/>
          <p:nvPr/>
        </p:nvSpPr>
        <p:spPr>
          <a:xfrm>
            <a:off x="1005840" y="425196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Usabilidade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Mapill;911"/>
          <p:cNvSpPr txBox="1"/>
          <p:nvPr/>
        </p:nvSpPr>
        <p:spPr>
          <a:xfrm>
            <a:off x="3749040" y="4251960"/>
            <a:ext cx="74980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guiada pelas heurísticas de Nielsen, ainda sem teste com pacientes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14"/>
          <p:cNvSpPr/>
          <p:nvPr/>
        </p:nvSpPr>
        <p:spPr>
          <a:xfrm>
            <a:off x="685800" y="5166360"/>
            <a:ext cx="10820095" cy="640080"/>
          </a:xfrm>
          <a:prstGeom prst="roundRect">
            <a:avLst>
              <a:gd fmla="val 1647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4"/>
          <p:cNvSpPr txBox="1"/>
          <p:nvPr/>
        </p:nvSpPr>
        <p:spPr>
          <a:xfrm>
            <a:off x="1005860" y="5347800"/>
            <a:ext cx="10088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pc="0" sz="18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Objetivos atendidos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15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TRABALHOS FUTUROS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15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limitação aponta um próximo passo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15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15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15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15"/>
          <p:cNvSpPr/>
          <p:nvPr/>
        </p:nvSpPr>
        <p:spPr>
          <a:xfrm>
            <a:off x="685800" y="1783080"/>
            <a:ext cx="10820095" cy="713232"/>
          </a:xfrm>
          <a:prstGeom prst="roundRect">
            <a:avLst>
              <a:gd fmla="val 17948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5"/>
          <p:cNvSpPr txBox="1"/>
          <p:nvPr/>
        </p:nvSpPr>
        <p:spPr>
          <a:xfrm>
            <a:off x="1005840" y="1783080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15"/>
          <p:cNvSpPr txBox="1"/>
          <p:nvPr/>
        </p:nvSpPr>
        <p:spPr>
          <a:xfrm>
            <a:off x="1554480" y="2001093"/>
            <a:ext cx="64008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US" spc="0" sz="1800" u="none" cap="none" strike="noStrike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Avaliação com pacientes idosos e polimedicados</a:t>
            </a:r>
            <a:endParaRPr i="0" spc="0" sz="1400" u="none" cap="none" strike="noStrike">
              <a:solidFill>
                <a:schemeClr val="dk1"/>
              </a:solidFill>
            </a:endParaRPr>
          </a:p>
        </p:txBody>
      </p:sp>
      <p:sp>
        <p:nvSpPr>
          <p:cNvPr id="407" name="Google Shape;407;p15"/>
          <p:cNvSpPr/>
          <p:nvPr/>
        </p:nvSpPr>
        <p:spPr>
          <a:xfrm>
            <a:off x="685800" y="2633472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5"/>
          <p:cNvSpPr txBox="1"/>
          <p:nvPr/>
        </p:nvSpPr>
        <p:spPr>
          <a:xfrm>
            <a:off x="1005840" y="2633472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15"/>
          <p:cNvSpPr txBox="1"/>
          <p:nvPr/>
        </p:nvSpPr>
        <p:spPr>
          <a:xfrm>
            <a:off x="1554480" y="2633472"/>
            <a:ext cx="64008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 validado em outros fabricantes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15"/>
          <p:cNvSpPr/>
          <p:nvPr/>
        </p:nvSpPr>
        <p:spPr>
          <a:xfrm>
            <a:off x="685800" y="3483864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5"/>
          <p:cNvSpPr txBox="1"/>
          <p:nvPr/>
        </p:nvSpPr>
        <p:spPr>
          <a:xfrm>
            <a:off x="1005840" y="3483864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15"/>
          <p:cNvSpPr txBox="1"/>
          <p:nvPr/>
        </p:nvSpPr>
        <p:spPr>
          <a:xfrm>
            <a:off x="1554480" y="3483864"/>
            <a:ext cx="64008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Versão para iOS e publicação nas lojas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15"/>
          <p:cNvSpPr/>
          <p:nvPr/>
        </p:nvSpPr>
        <p:spPr>
          <a:xfrm>
            <a:off x="685800" y="4334256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5"/>
          <p:cNvSpPr txBox="1"/>
          <p:nvPr/>
        </p:nvSpPr>
        <p:spPr>
          <a:xfrm>
            <a:off x="1005840" y="4334256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15"/>
          <p:cNvSpPr txBox="1"/>
          <p:nvPr/>
        </p:nvSpPr>
        <p:spPr>
          <a:xfrm>
            <a:off x="1554480" y="4334256"/>
            <a:ext cx="9144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Acesso de consulta para médicos e cuidadores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15"/>
          <p:cNvSpPr/>
          <p:nvPr/>
        </p:nvSpPr>
        <p:spPr>
          <a:xfrm>
            <a:off x="685800" y="5184648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5"/>
          <p:cNvSpPr txBox="1"/>
          <p:nvPr/>
        </p:nvSpPr>
        <p:spPr>
          <a:xfrm>
            <a:off x="1005840" y="5184648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15"/>
          <p:cNvSpPr txBox="1"/>
          <p:nvPr/>
        </p:nvSpPr>
        <p:spPr>
          <a:xfrm>
            <a:off x="1554480" y="5184648"/>
            <a:ext cx="9144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Cuidado organizado por tratamento, como na oncologia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2" name="Mapill;912"/>
          <p:cNvSpPr txBox="1"/>
          <p:nvPr/>
        </p:nvSpPr>
        <p:spPr>
          <a:xfrm>
            <a:off x="8046720" y="1783080"/>
            <a:ext cx="32004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limitação · sem teste com usuários</a:t>
            </a:r>
            <a:endParaRPr i="0" spc="0" sz="1400" u="none" cap="none" strike="noStrike">
              <a:solidFill>
                <a:schemeClr val="dk1"/>
              </a:solidFill>
            </a:endParaRPr>
          </a:p>
        </p:txBody>
      </p:sp>
      <p:sp>
        <p:nvSpPr>
          <p:cNvPr id="913" name="Mapill;913"/>
          <p:cNvSpPr txBox="1"/>
          <p:nvPr/>
        </p:nvSpPr>
        <p:spPr>
          <a:xfrm>
            <a:off x="8046720" y="2633472"/>
            <a:ext cx="32004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limitação · um só modelo de aparelho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4" name="Mapill;914"/>
          <p:cNvSpPr txBox="1"/>
          <p:nvPr/>
        </p:nvSpPr>
        <p:spPr>
          <a:xfrm>
            <a:off x="8046720" y="3483864"/>
            <a:ext cx="32004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limitação · só Android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16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REFERÊNCIAS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16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16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6"/>
          <p:cNvSpPr txBox="1"/>
          <p:nvPr/>
        </p:nvSpPr>
        <p:spPr>
          <a:xfrm>
            <a:off x="685800" y="1005840"/>
            <a:ext cx="52578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ALLSOPP, John.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The web's future is offline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beyond tellerrand, 2014. Disponível em: https://www.youtube.com/watch?v=VvwhcoZhoI4. Acesso em: 8 maio 2026.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BADDELEY, Alan; EYSENCK, Michael W.; ANDERSON, Michael C.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Memória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Porto Alegre: Artmed, 2010.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BRASIL. [Lei Geral de Proteção de Dados Pessoais (LGPD)]. Lei nº 13.709, de 14 de agosto de 2018. Brasília, DF: Presidência da República, 2018.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KLEPPMANN, Martin.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Designing data-intensive applications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the big ideas behind reliable, scalable, and maintainable systems. Sebastopol: O'Reilly Media, 2017.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LOSHIN, David.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Master data management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Burlington: Morgan Kaufmann, 2010.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MARTIN, Robert C.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Arquitetura limpa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o guia do artesão para estrutura e design de software. Rio de Janeiro: Alta Books, 2019.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16"/>
          <p:cNvSpPr txBox="1"/>
          <p:nvPr/>
        </p:nvSpPr>
        <p:spPr>
          <a:xfrm>
            <a:off x="6217920" y="1005840"/>
            <a:ext cx="52578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medication management. 2026. Disponível em: https://www.medisafe.com. Acesso em: 20 ago. 2026.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medication reminder and pill tracker. 2026. Disponível em: https://www.mytherapyapp.com. Acesso em: 20 ago. 2026.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NIELSEN, Jakob.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Usability engineering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San Diego: Academic Press, 1994.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RISKO, Evan F.; GILBERT, Sam J. Cognitive offloading.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Trends in Cognitive Sciences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v. 20, n. 9, p. 676-688, 2016.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WORLD HEALTH ORGANIZATION (WHO).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Adherence to long-term therapies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evidence for action. Geneva: World Health Organization, 2003.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WORLD WIDE WEB CONSORTIUM (W3C).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Web Content Accessibility Guidelines (WCAG) 2.1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Cambridge, MA: W3C, 2018. Disponível em: https://www.w3.org/TR/WCAG21/. Acesso em: 10 set. 2026.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17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7"/>
          <p:cNvSpPr/>
          <p:nvPr/>
        </p:nvSpPr>
        <p:spPr>
          <a:xfrm>
            <a:off x="8403325" y="1280150"/>
            <a:ext cx="3200400" cy="4321200"/>
          </a:xfrm>
          <a:prstGeom prst="roundRect">
            <a:avLst>
              <a:gd fmla="val 4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qr.png" id="436" name="Google Shape;43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69096" y="1645920"/>
            <a:ext cx="2468880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17"/>
          <p:cNvSpPr txBox="1"/>
          <p:nvPr/>
        </p:nvSpPr>
        <p:spPr>
          <a:xfrm>
            <a:off x="8403325" y="4343400"/>
            <a:ext cx="3200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Conheça o Mapill</a:t>
            </a:r>
            <a:endParaRPr b="1" i="0" spc="0" sz="17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1" sz="1700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2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Página do app, com o APK para Android</a:t>
            </a:r>
            <a:endParaRPr b="0" i="0" spc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mapill-website.vercel.app</a:t>
            </a:r>
            <a:endParaRPr b="0" i="0" spc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ockup-claro.png" id="438" name="Google Shape;4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800" y="1188720"/>
            <a:ext cx="2196757" cy="731520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17"/>
          <p:cNvSpPr txBox="1"/>
          <p:nvPr/>
        </p:nvSpPr>
        <p:spPr>
          <a:xfrm>
            <a:off x="685800" y="2331720"/>
            <a:ext cx="6400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1" i="0" lang="en-US" spc="0" sz="5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Obrigado!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17"/>
          <p:cNvSpPr txBox="1"/>
          <p:nvPr/>
        </p:nvSpPr>
        <p:spPr>
          <a:xfrm>
            <a:off x="685800" y="3657600"/>
            <a:ext cx="6400800" cy="14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Gabriel Steffens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Sistemas de Informação, 8ª fase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Orientador: Prof. Me. Marciel de Liz Santos</a:t>
            </a:r>
            <a:endParaRPr b="0" i="0" spc="0" sz="14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gabriel.steffens@unidavi.edu.br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idavi.png" id="441" name="Google Shape;441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5800" y="5715000"/>
            <a:ext cx="608798" cy="502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