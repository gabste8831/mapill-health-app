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[20 s]</a:t>
            </a:r>
          </a:p>
          <a:p>
            <a:r>
              <a:t>Boa noite a todos. Meu nome é Gabriel Steffens e vou apresentar o meu trabalho de conclusão de curso, o Mapill, uma aplicação móvel para mitigação de falhas logísticas e cognitivas na adesão ao tratamento medicamentoso, orientado pelo professor Marciel de Liz Santos.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[50 s]</a:t>
            </a:r>
          </a:p>
          <a:p>
            <a:r>
              <a:t>A descontinuidade do tratamento medicamentoso é um dos grandes desafios da saúde pública. A Organização Mundial da Saúde mostra que a adesão depende de muitos fatores, e que a responsabilidade não é só do paciente. Quem toma vários remédios por muito tempo precisa lembrar de vários horários, controlar quanto ainda tem de cada um e não perder as consultas. Isso gera dois tipos de falha. A cognitiva, que é simplesmente esquecer a dose, e a logística, que é o remédio acabar ou a consulta passar sem que a pessoa perceba.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[30 s]</a:t>
            </a:r>
          </a:p>
          <a:p>
            <a:r>
              <a:t>Daí vem a pergunta que o trabalho tenta responder. Como uma aplicação móvel, que funcione mesmo sem internet, pode concentrar os medicamentos, o estoque e os compromissos de saúde num lugar só, sendo fácil de usar, segura e confiável.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[45 s]</a:t>
            </a:r>
          </a:p>
          <a:p>
            <a:r>
              <a:t>Essa frase abre o meu trabalho, e resume por que ele existe. Quase nunca o paciente deixa de tomar o remédio por descuido. O lembrete que ele usa, como um bilhete na geladeira, só funciona se ele passar por ali na hora certa, e controlar de cabeça o estoque e os horários de vários remédios cansa. E o horário importa, porque fora do intervalo o remédio oscila entre não fazer efeito e se tornar tóxico. Por isso o Mapill não tenta ser um aplicativo de saúde completo. Ele atua no ponto exato da falha, que é lembrar da dose, registrar o que aconteceu e avisar antes de o remédio acabar.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[45 s]</a:t>
            </a:r>
          </a:p>
          <a:p>
            <a:r>
              <a:t>E o que já existe no mercado não resolve isso por completo. Os dois aplicativos mais conhecidos são o Medisafe e o MyTherapy. O Medisafe passou, em janeiro deste ano, a aceitar só dois medicamentos no plano gratuito, e o aviso de estoque ficou pago. O MyTherapy é gratuito, mas se sustenta repassando dados de uso, anonimizados, para empresas farmacêuticas. E nenhum dos dois descreve suporte a uma dose que muda conforme o horário, comum em tratamentos como o de insulina. O Mapill troca amplitude por profundidade, sem cobrar e sem repassar dados.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[50 s]</a:t>
            </a:r>
          </a:p>
          <a:p>
            <a:r>
              <a:t>O objetivo geral foi desenvolver uma aplicação móvel que apoiasse a gestão da rotina medicamentosa, juntando o agendamento e o registro das doses, o controle de estoque e os compromissos de saúde, numa arquitetura que funciona primeiro no aparelho. Para chegar lá, os objetivos específicos seguiram o caminho natural de um projeto de software. Primeiro levantar os requisitos na literatura, depois especificá-los, projetar a arquitetura e as telas, implementar e, por fim, analisar como a arquitetura se comporta sem conexão, na volta da conexão e em conflitos entre registros.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 min]</a:t>
            </a:r>
          </a:p>
          <a:p>
            <a:r>
              <a:t>Vou passar rápido pela fundamentação, só pelo que justifica as principais decisões do projeto. Esquecer a dose é uma falha da memória prospectiva, que é lembrar de fazer algo no futuro, e por isso o centro do app é um alarme. A desoneração cognitiva explica por que o app deve calcular estoque e horários pelo paciente. O conceito de fonte única de verdade justifica juntar tudo num só lugar. O paradigma offline-first e o critério Last-Write-Wins sustentam o funcionamento sem internet e a sincronização. E as heurísticas de Nielsen, as diretrizes de acessibilidade da WCAG e a LGPD orientam a interface e o tratamento dos dados de saúde.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[45 s]</a:t>
            </a:r>
          </a:p>
          <a:p>
            <a:r>
              <a:t>Agora o Mapill em si. O desenvolvimento partiu de três exigências. O app tinha de funcionar sem internet, representar o tratamento com fidelidade, inclusive quando a dose muda ao longo do dia, e lembrar o paciente mesmo com o aplicativo fechado, que é justamente quando ele mais precisa. Desde o início, defini também o que o Mapill não é. Ele é um registro clínico pessoal, que lembra da dose e guarda o que de fato aconteceu. Ele não prescreve, não sugere dose e não avalia se o tratamento está certo, porque esse papel é do profissional de saúde. Cada conta é de um paciente, e dá para usar tudo sem criar conta.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[50 s]</a:t>
            </a:r>
          </a:p>
          <a:p>
            <a:r>
              <a:t>A aplicação segue a Clean Architecture, em três camadas, e a dependência sempre aponta para dentro. No centro fica o domínio, com as regras de negócio escritas em TypeScript puro, sem depender de nenhuma biblioteca. Isso permite verificar cálculos como a geração de horários e a taxa de adesão sem precisar de um celular. Em volta fica a camada de dados, com o SQLite no aparelho e o Supabase na nuvem, e por fora a apresentação, com as telas sobre um sistema de design próprio. O app foi feito em React Native com Expo, e o alarme é entregue pelo agendador do próprio Android, e não por um processo do app. É isso que faz ele tocar mesmo com o aplicativo fechado.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[50 s]</a:t>
            </a:r>
          </a:p>
          <a:p>
            <a:r>
              <a:t>Das vinte regras de negócio, estas quatro mostram o cuidado com o registro clínico. Uma dose que o paciente não respondeu nunca é marcada como pulada só porque o tempo passou, porque o app não pode afirmar algo que ninguém disse. O estoque desconta exatamente a quantidade da dose, então quem toma dois comprimidos de uma vez tem dois descontados. Uma correção nunca apaga o registro antigo, ela cria um novo apontando para ele, como num prontuário. E remédios no mesmo horário geram um aviso só, que pode ser adiado uma única vez, por cinco minutos.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[45 s]</a:t>
            </a:r>
          </a:p>
          <a:p>
            <a:r>
              <a:t>Toda operação é gravada primeiro no próprio aparelho, e a nuvem funciona como cópia de segurança e ponte entre dispositivos. Quando o mesmo registro é editado em dois lugares, vence a edição mais recente, e vence inteira, sem misturar campos. No diagrama, o dispositivo B editou por último, então a versão dele prevalece nos dois lados. Se o app juntasse campos de versões diferentes, poderia criar uma posologia que ninguém escreveu. O servidor aplica o mesmo critério, e cada tabela tem políticas de segurança em nível de linha, então cada usuário só acessa os próprios dados, identificado pelo token JWT.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[8 min]</a:t>
            </a:r>
          </a:p>
          <a:p>
            <a:r>
              <a:t>Agora vou mostrar o aplicativo funcionando no meu celular.</a:t>
            </a:r>
          </a:p>
          <a:p/>
          <a:p>
            <a:r>
              <a:t>Caminho (detalhe no roteiro):</a:t>
            </a:r>
          </a:p>
          <a:p>
            <a:r>
              <a:t>a. Cadastro por código de barras (1 min 30 s)</a:t>
            </a:r>
          </a:p>
          <a:p>
            <a:r>
              <a:t>b. Tela inicial (45 s)</a:t>
            </a:r>
          </a:p>
          <a:p>
            <a:r>
              <a:t>c. Alarme com o celular bloqueado (2 min)</a:t>
            </a:r>
          </a:p>
          <a:p>
            <a:r>
              <a:t>d. Adesão, calendário e correção (1 min 30 s)</a:t>
            </a:r>
          </a:p>
          <a:p>
            <a:r>
              <a:t>e. Relatório em PDF (1 min)</a:t>
            </a:r>
          </a:p>
          <a:p>
            <a:r>
              <a:t>f. Temas e cores (45 s)</a:t>
            </a:r>
          </a:p>
          <a:p>
            <a:r>
              <a:t>Folga de 30 s.</a:t>
            </a:r>
          </a:p>
          <a:p/>
          <a:p>
            <a:r>
              <a:t>Se o espelhamento falhar, abrir o vídeo reserva no trecho correspondente. Se tudo falhar, narrar a partir das telas deste slide.</a:t>
            </a:r>
          </a:p>
          <a:p>
            <a:r>
              <a:t>Se atrasar, cortar nesta ordem: f, depois e, depois a correção em 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 min]</a:t>
            </a:r>
          </a:p>
          <a:p>
            <a:r>
              <a:t>A validação foi feita por mim, num aparelho físico, seguindo um roteiro escrito em que cada passo tinha o resultado esperado. O segundo aparelho foi simulado direto na base remota. Os cinco cenários da arquitetura offline-first foram aprovados, três deles depois de ajustes que os próprios testes revelaram, como fazer a edição mais recente prevalecer também no servidor. O alarme funcionou nas quatro combinações de celular bloqueado ou em uso, com o app nos recentes ou fora deles. A limitação apareceu depois de reiniciar o celular. O alarme só tocou quando o aparelho foi desbloqueado, por uma restrição de inicialização automática que o fabricante aplica, e que o Android não deixa contornar. O app passou a orientar o paciente a liberar essa permissão.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 min]</a:t>
            </a:r>
          </a:p>
          <a:p>
            <a:r>
              <a:t>Os objetivos foram atendidos, com a ressalva do alarme depois de reiniciar o celular. O trabalho mostra que é possível ter, no mesmo aplicativo, o funcionamento sem internet e a fidelidade do registro clínico. Os diferenciais em relação ao que as soluções analisadas descrevem são descontar o estoque pela dose de verdade, corrigir sem apagar o que foi registrado e separar a dose pulada da dose sem resposta, o que deixa confiável o histórico levado ao médico. As limitações são claras. Testei em um só modelo de aparelho, sem usuários do público-alvo, e apenas no Android, e as fotos e receitas anexadas ainda ficam só no aparelho.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[40 s]</a:t>
            </a:r>
          </a:p>
          <a:p>
            <a:r>
              <a:t>Como próximos passos, o principal é avaliar o app com os pacientes para quem ele foi pensado, idosos e polimedicados, porque só assim dá para medir o efeito real na adesão. Também quero validar o alarme em aparelhos de outros fabricantes, fazer a versão para iOS e publicar nas lojas, permitir que médicos e cuidadores consultem a conta do paciente e organizar o cuidado por tratamento, como numa terapia oncológica com várias sessões e remédios ao mesmo tempo.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[só passar, ou mostrar se a banca pedir]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[15 s]</a:t>
            </a:r>
          </a:p>
          <a:p>
            <a:r>
              <a:t>Encerro por aqui. Quem quiser conhecer o Mapill pode usar o QR code, que leva à página do aplicativo, onde também está o APK para instalar no Android. Obrigado pela atenção, e fico à disposição para as perguntas.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4.png"/><Relationship Id="rId6" Type="http://schemas.openxmlformats.org/officeDocument/2006/relationships/image" Target="../media/image8.png"/><Relationship Id="rId7" Type="http://schemas.openxmlformats.org/officeDocument/2006/relationships/image" Target="../media/image9.jpg"/><Relationship Id="rId8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1.png"/><Relationship Id="rId4" Type="http://schemas.openxmlformats.org/officeDocument/2006/relationships/image" Target="../media/image2.png"/><Relationship Id="rId5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nidav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548640"/>
            <a:ext cx="686281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463040" y="566928"/>
            <a:ext cx="5943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191C1E"/>
                </a:solidFill>
                <a:latin typeface="Plus Jakarta Sans"/>
              </a:rPr>
              <a:t>Centro Universitário para o Desenvolvimento do Alto Vale do Itajaí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545F73"/>
                </a:solidFill>
                <a:latin typeface="Plus Jakarta Sans"/>
              </a:rPr>
              <a:t>Curso de Sistemas de Informação</a:t>
            </a:r>
          </a:p>
        </p:txBody>
      </p:sp>
      <p:pic>
        <p:nvPicPr>
          <p:cNvPr id="4" name="Picture 3" descr="lockup-clar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1874519"/>
            <a:ext cx="2608649" cy="868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2971800"/>
            <a:ext cx="64008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400" b="1">
                <a:solidFill>
                  <a:srgbClr val="191C1E"/>
                </a:solidFill>
                <a:latin typeface="Plus Jakarta Sans"/>
              </a:rPr>
              <a:t>Aplicação móvel para mitigação de falhas logísticas e cognitivas na adesão ao tratamento medicamentoso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709160"/>
            <a:ext cx="6400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545F73"/>
                </a:solidFill>
                <a:latin typeface="Plus Jakarta Sans"/>
              </a:rPr>
              <a:t>Acadêmico  </a:t>
            </a:r>
            <a:r>
              <a:rPr sz="1400" b="1">
                <a:solidFill>
                  <a:srgbClr val="191C1E"/>
                </a:solidFill>
                <a:latin typeface="Plus Jakarta Sans"/>
              </a:rPr>
              <a:t>Gabriel Steffens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545F73"/>
                </a:solidFill>
                <a:latin typeface="Plus Jakarta Sans"/>
              </a:rPr>
              <a:t>Orientador  </a:t>
            </a:r>
            <a:r>
              <a:rPr sz="1400" b="1">
                <a:solidFill>
                  <a:srgbClr val="191C1E"/>
                </a:solidFill>
                <a:latin typeface="Plus Jakarta Sans"/>
              </a:rPr>
              <a:t>Prof. Me. Marciel de Liz Santos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545F73"/>
                </a:solidFill>
                <a:latin typeface="Plus Jakarta Sans"/>
              </a:rPr>
              <a:t>Rio do Sul,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7818120" y="0"/>
            <a:ext cx="4373575" cy="6858000"/>
          </a:xfrm>
          <a:prstGeom prst="rect">
            <a:avLst/>
          </a:prstGeom>
          <a:solidFill>
            <a:srgbClr val="EAF1FE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pic>
        <p:nvPicPr>
          <p:cNvPr id="8" name="Picture 7" descr="p71_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32520" y="777240"/>
            <a:ext cx="2361778" cy="5303520"/>
          </a:xfrm>
          <a:prstGeom prst="roundRect">
            <a:avLst>
              <a:gd name="adj" fmla="val 10840"/>
            </a:avLst>
          </a:prstGeom>
          <a:effectLst/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spc="200">
                <a:solidFill>
                  <a:srgbClr val="0B5FD9"/>
                </a:solidFill>
                <a:latin typeface="Plus Jakarta Sans"/>
              </a:rPr>
              <a:t>INTRODUÇÃO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>
                <a:solidFill>
                  <a:srgbClr val="191C1E"/>
                </a:solidFill>
                <a:latin typeface="Plus Jakarta Sans"/>
              </a:rPr>
              <a:t>A descontinuidade do tratamento desafia a saúde pública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41908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545F73"/>
                </a:solidFill>
                <a:latin typeface="Plus Jakarta Sans"/>
              </a:rPr>
              <a:t>Mapill  ·  Gabriel Steffens  ·  Sistemas de Informação, UNIDAVI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91495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1">
                <a:solidFill>
                  <a:srgbClr val="545F73"/>
                </a:solidFill>
                <a:latin typeface="Plus Jakarta Sans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011680"/>
            <a:ext cx="493776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200"/>
              </a:spcAft>
            </a:pPr>
            <a:r>
              <a:rPr sz="2000" b="0">
                <a:solidFill>
                  <a:srgbClr val="191C1E"/>
                </a:solidFill>
                <a:latin typeface="Plus Jakarta Sans"/>
              </a:rPr>
              <a:t>A adesão depende de muitos fatores, e não só do paciente (WHO, 2003)</a:t>
            </a:r>
          </a:p>
          <a:p>
            <a:pPr algn="l">
              <a:lnSpc>
                <a:spcPct val="115000"/>
              </a:lnSpc>
              <a:spcAft>
                <a:spcPts val="2200"/>
              </a:spcAft>
            </a:pPr>
            <a:r>
              <a:rPr sz="2000" b="0">
                <a:solidFill>
                  <a:srgbClr val="191C1E"/>
                </a:solidFill>
                <a:latin typeface="Plus Jakarta Sans"/>
              </a:rPr>
              <a:t>Polifarmácia e tratamentos longos geram sobrecarga mental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920240"/>
            <a:ext cx="5102352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6400800" y="1920240"/>
            <a:ext cx="109728" cy="1600200"/>
          </a:xfrm>
          <a:prstGeom prst="rect">
            <a:avLst/>
          </a:prstGeom>
          <a:solidFill>
            <a:srgbClr val="0B5FD9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812280" y="2221992"/>
            <a:ext cx="44805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191C1E"/>
                </a:solidFill>
                <a:latin typeface="Plus Jakarta Sans"/>
              </a:rPr>
              <a:t>Falha cognitiva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545F73"/>
                </a:solidFill>
                <a:latin typeface="Plus Jakarta Sans"/>
              </a:rPr>
              <a:t>Esquecer a dose no horário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3794760"/>
            <a:ext cx="5102352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6400800" y="3794760"/>
            <a:ext cx="109728" cy="1600200"/>
          </a:xfrm>
          <a:prstGeom prst="rect">
            <a:avLst/>
          </a:prstGeom>
          <a:solidFill>
            <a:srgbClr val="0B5FD9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812280" y="4096512"/>
            <a:ext cx="44805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191C1E"/>
                </a:solidFill>
                <a:latin typeface="Plus Jakarta Sans"/>
              </a:rPr>
              <a:t>Falha logística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545F73"/>
                </a:solidFill>
                <a:latin typeface="Plus Jakarta Sans"/>
              </a:rPr>
              <a:t>O remédio acabar ou a consulta passar sem perceber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spc="200">
                <a:solidFill>
                  <a:srgbClr val="0B5FD9"/>
                </a:solidFill>
                <a:latin typeface="Plus Jakarta Sans"/>
              </a:rPr>
              <a:t>PROBLEMA DE PESQUISA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41908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545F73"/>
                </a:solidFill>
                <a:latin typeface="Plus Jakarta Sans"/>
              </a:rPr>
              <a:t>Mapill  ·  Gabriel Steffens  ·  Sistemas de Informação, UNIDAVI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91495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1">
                <a:solidFill>
                  <a:srgbClr val="545F73"/>
                </a:solidFill>
                <a:latin typeface="Plus Jakarta Sans"/>
              </a:rPr>
              <a:t>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325880"/>
            <a:ext cx="10820095" cy="448056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60120" y="1143000"/>
            <a:ext cx="109728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80000"/>
              </a:lnSpc>
              <a:spcAft>
                <a:spcPts val="600"/>
              </a:spcAft>
            </a:pPr>
            <a:r>
              <a:rPr sz="11000" b="1">
                <a:solidFill>
                  <a:srgbClr val="0B5FD9"/>
                </a:solidFill>
                <a:latin typeface="Plus Jakarta Sans"/>
              </a:rPr>
              <a:t>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1965960"/>
            <a:ext cx="8808415" cy="3291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700" b="0">
                <a:solidFill>
                  <a:srgbClr val="191C1E"/>
                </a:solidFill>
                <a:latin typeface="Plus Jakarta Sans"/>
              </a:rPr>
              <a:t>De que maneira uma aplicação móvel, baseada em arquitetura </a:t>
            </a:r>
            <a:r>
              <a:rPr sz="2700" b="1" i="1">
                <a:solidFill>
                  <a:srgbClr val="0B5FD9"/>
                </a:solidFill>
                <a:latin typeface="Plus Jakarta Sans"/>
              </a:rPr>
              <a:t>offline-first</a:t>
            </a:r>
            <a:r>
              <a:rPr sz="2700" b="0">
                <a:solidFill>
                  <a:srgbClr val="191C1E"/>
                </a:solidFill>
                <a:latin typeface="Plus Jakarta Sans"/>
              </a:rPr>
              <a:t>, pode centralizar medicamentos, estoque e compromissos terapêuticos, com usabilidade, segurança e confiabilidade?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spc="200">
                <a:solidFill>
                  <a:srgbClr val="0B5FD9"/>
                </a:solidFill>
                <a:latin typeface="Plus Jakarta Sans"/>
              </a:rPr>
              <a:t>JUSTIFICATIVA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41908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545F73"/>
                </a:solidFill>
                <a:latin typeface="Plus Jakarta Sans"/>
              </a:rPr>
              <a:t>Mapill  ·  Gabriel Steffens  ·  Sistemas de Informação, UNIDAVI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91495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1">
                <a:solidFill>
                  <a:srgbClr val="545F73"/>
                </a:solidFill>
                <a:latin typeface="Plus Jakarta Sans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868680"/>
            <a:ext cx="1082009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>
                <a:solidFill>
                  <a:srgbClr val="191C1E"/>
                </a:solidFill>
                <a:latin typeface="Plus Jakarta Sans"/>
              </a:rPr>
              <a:t>“Os medicamentos não funcionam em pacientes que não os tomam.”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2880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545F73"/>
                </a:solidFill>
                <a:latin typeface="Plus Jakarta Sans"/>
              </a:rPr>
              <a:t>C. Everett Koop, na epígrafe do TCC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377440"/>
            <a:ext cx="3454298" cy="1920240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685800" y="2377440"/>
            <a:ext cx="3454298" cy="91440"/>
          </a:xfrm>
          <a:prstGeom prst="rect">
            <a:avLst/>
          </a:prstGeom>
          <a:solidFill>
            <a:srgbClr val="0B5FD9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005840" y="2697480"/>
            <a:ext cx="2814218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900" b="1">
                <a:solidFill>
                  <a:srgbClr val="191C1E"/>
                </a:solidFill>
                <a:latin typeface="Plus Jakarta Sans"/>
              </a:rPr>
              <a:t>Lembrete preso ao lugar</a:t>
            </a:r>
          </a:p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500" b="0">
                <a:solidFill>
                  <a:srgbClr val="545F73"/>
                </a:solidFill>
                <a:latin typeface="Plus Jakarta Sans"/>
              </a:rPr>
              <a:t>o bilhete na geladeira só lembra quem passa por ela (Norman, 2013)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68698" y="2377440"/>
            <a:ext cx="3454298" cy="1920240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4368698" y="2377440"/>
            <a:ext cx="3454298" cy="91440"/>
          </a:xfrm>
          <a:prstGeom prst="rect">
            <a:avLst/>
          </a:prstGeom>
          <a:solidFill>
            <a:srgbClr val="0B5FD9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4688738" y="2697480"/>
            <a:ext cx="2814218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900" b="1">
                <a:solidFill>
                  <a:srgbClr val="191C1E"/>
                </a:solidFill>
                <a:latin typeface="Plus Jakarta Sans"/>
              </a:rPr>
              <a:t>Tudo de cabeça</a:t>
            </a:r>
          </a:p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500" b="0">
                <a:solidFill>
                  <a:srgbClr val="545F73"/>
                </a:solidFill>
                <a:latin typeface="Plus Jakarta Sans"/>
              </a:rPr>
              <a:t>controlar estoque e horários de vários remédios cansa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51596" y="2377440"/>
            <a:ext cx="3454298" cy="1920240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8051596" y="2377440"/>
            <a:ext cx="3454298" cy="91440"/>
          </a:xfrm>
          <a:prstGeom prst="rect">
            <a:avLst/>
          </a:prstGeom>
          <a:solidFill>
            <a:srgbClr val="0B5FD9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371636" y="2697480"/>
            <a:ext cx="2814218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900" b="1">
                <a:solidFill>
                  <a:srgbClr val="191C1E"/>
                </a:solidFill>
                <a:latin typeface="Plus Jakarta Sans"/>
              </a:rPr>
              <a:t>Horário importa</a:t>
            </a:r>
          </a:p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500" b="0">
                <a:solidFill>
                  <a:srgbClr val="545F73"/>
                </a:solidFill>
                <a:latin typeface="Plus Jakarta Sans"/>
              </a:rPr>
              <a:t>fora do intervalo, o remédio oscila entre ineficácia e toxicidade (Brunton; Knollmann, 2024)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4572000"/>
            <a:ext cx="10820095" cy="1234440"/>
          </a:xfrm>
          <a:prstGeom prst="roundRect">
            <a:avLst>
              <a:gd name="adj" fmla="val 10370"/>
            </a:avLst>
          </a:prstGeom>
          <a:solidFill>
            <a:srgbClr val="EAF1FE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1051560" y="4572000"/>
            <a:ext cx="10088575" cy="12344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1" spc="200">
                <a:solidFill>
                  <a:srgbClr val="0A3F8F"/>
                </a:solidFill>
                <a:latin typeface="Plus Jakarta Sans"/>
              </a:rPr>
              <a:t>O MAPILL ATUA NO PONTO DA FALHA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0A3F8F"/>
                </a:solidFill>
                <a:latin typeface="Plus Jakarta Sans"/>
              </a:rPr>
              <a:t>Lembrar a dose  ·  registrar o que aconteceu  ·  avisar antes de o remédio acabar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spc="200">
                <a:solidFill>
                  <a:srgbClr val="0B5FD9"/>
                </a:solidFill>
                <a:latin typeface="Plus Jakarta Sans"/>
              </a:rPr>
              <a:t>JUSTIFICATIVA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>
                <a:solidFill>
                  <a:srgbClr val="191C1E"/>
                </a:solidFill>
                <a:latin typeface="Plus Jakarta Sans"/>
              </a:rPr>
              <a:t>O mercado cobra, repassa dados ou simplifica a posologia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41908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545F73"/>
                </a:solidFill>
                <a:latin typeface="Plus Jakarta Sans"/>
              </a:rPr>
              <a:t>Mapill  ·  Gabriel Steffens  ·  Sistemas de Informação, UNIDAVI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91495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1">
                <a:solidFill>
                  <a:srgbClr val="545F73"/>
                </a:solidFill>
                <a:latin typeface="Plus Jakarta Sans"/>
              </a:rPr>
              <a:t>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783079"/>
            <a:ext cx="7772400" cy="3630168"/>
          </a:xfrm>
          <a:prstGeom prst="roundRect">
            <a:avLst>
              <a:gd name="adj" fmla="val 3526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4754880" y="1874519"/>
            <a:ext cx="1188720" cy="3401568"/>
          </a:xfrm>
          <a:prstGeom prst="roundRect">
            <a:avLst>
              <a:gd name="adj" fmla="val 7692"/>
            </a:avLst>
          </a:prstGeom>
          <a:solidFill>
            <a:srgbClr val="EAF1FE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754880" y="1874519"/>
            <a:ext cx="1188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A3F8F"/>
                </a:solidFill>
                <a:latin typeface="Plus Jakarta Sans"/>
              </a:rPr>
              <a:t>Mapill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0" y="1874519"/>
            <a:ext cx="1188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545F73"/>
                </a:solidFill>
                <a:latin typeface="Plus Jakarta Sans"/>
              </a:rPr>
              <a:t>Medisafe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0" y="1874519"/>
            <a:ext cx="1188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545F73"/>
                </a:solidFill>
                <a:latin typeface="Plus Jakarta Sans"/>
              </a:rPr>
              <a:t>MyTherapy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441448"/>
            <a:ext cx="3749039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91C1E"/>
                </a:solidFill>
                <a:latin typeface="Plus Jakarta Sans"/>
              </a:rPr>
              <a:t>Funcionalidades essenciais gratuitas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2441448"/>
            <a:ext cx="1188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11803E"/>
                </a:solidFill>
                <a:latin typeface="Plus Jakarta Sans"/>
              </a:rPr>
              <a:t>Sim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0" y="2441448"/>
            <a:ext cx="1188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545F73"/>
                </a:solidFill>
                <a:latin typeface="Plus Jakarta Sans"/>
              </a:rPr>
              <a:t>Não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0" y="2441448"/>
            <a:ext cx="1188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11803E"/>
                </a:solidFill>
                <a:latin typeface="Plus Jakarta Sans"/>
              </a:rPr>
              <a:t>Sim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3008376"/>
            <a:ext cx="3749039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91C1E"/>
                </a:solidFill>
                <a:latin typeface="Plus Jakarta Sans"/>
              </a:rPr>
              <a:t>Gratuidade sem repasse de dados a terceiros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80" y="3008376"/>
            <a:ext cx="1188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11803E"/>
                </a:solidFill>
                <a:latin typeface="Plus Jakarta Sans"/>
              </a:rPr>
              <a:t>Sim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0" y="3008376"/>
            <a:ext cx="1188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545F73"/>
                </a:solidFill>
                <a:latin typeface="Plus Jakarta Sans"/>
              </a:rPr>
              <a:t>Não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0" y="3008376"/>
            <a:ext cx="1188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545F73"/>
                </a:solidFill>
                <a:latin typeface="Plus Jakarta Sans"/>
              </a:rPr>
              <a:t>Não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3575303"/>
            <a:ext cx="3749039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91C1E"/>
                </a:solidFill>
                <a:latin typeface="Plus Jakarta Sans"/>
              </a:rPr>
              <a:t>Funcionamento sem conta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54880" y="3575303"/>
            <a:ext cx="1188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11803E"/>
                </a:solidFill>
                <a:latin typeface="Plus Jakarta Sans"/>
              </a:rPr>
              <a:t>Sim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0" y="3575303"/>
            <a:ext cx="1188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545F73"/>
                </a:solidFill>
                <a:latin typeface="Plus Jakarta Sans"/>
              </a:rPr>
              <a:t>Não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0" y="3575303"/>
            <a:ext cx="1188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11803E"/>
                </a:solidFill>
                <a:latin typeface="Plus Jakarta Sans"/>
              </a:rPr>
              <a:t>Sim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" y="4142231"/>
            <a:ext cx="3749039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91C1E"/>
                </a:solidFill>
                <a:latin typeface="Plus Jakarta Sans"/>
              </a:rPr>
              <a:t>Controle de estoque com aviso, sem custo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54880" y="4142231"/>
            <a:ext cx="1188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11803E"/>
                </a:solidFill>
                <a:latin typeface="Plus Jakarta Sans"/>
              </a:rPr>
              <a:t>Sim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4142231"/>
            <a:ext cx="1188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545F73"/>
                </a:solidFill>
                <a:latin typeface="Plus Jakarta Sans"/>
              </a:rPr>
              <a:t>Não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0" y="4142231"/>
            <a:ext cx="1188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11803E"/>
                </a:solidFill>
                <a:latin typeface="Plus Jakarta Sans"/>
              </a:rPr>
              <a:t>Sim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0120" y="4709160"/>
            <a:ext cx="3749039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91C1E"/>
                </a:solidFill>
                <a:latin typeface="Plus Jakarta Sans"/>
              </a:rPr>
              <a:t>Dose variável por horário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54880" y="4709160"/>
            <a:ext cx="1188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11803E"/>
                </a:solidFill>
                <a:latin typeface="Plus Jakarta Sans"/>
              </a:rPr>
              <a:t>Sim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43600" y="4709160"/>
            <a:ext cx="1188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545F73"/>
                </a:solidFill>
                <a:latin typeface="Plus Jakarta Sans"/>
              </a:rPr>
              <a:t>Não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32320" y="4709160"/>
            <a:ext cx="1188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545F73"/>
                </a:solidFill>
                <a:latin typeface="Plus Jakarta Sans"/>
              </a:rPr>
              <a:t>Não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" y="5504688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545F73"/>
                </a:solidFill>
                <a:latin typeface="Plus Jakarta Sans"/>
              </a:rPr>
              <a:t>Fonte: adaptado do Quadro 2 do TCC, com base em Medisafe (2026) e MyTherapy (2026).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15400" y="1874519"/>
            <a:ext cx="2606040" cy="365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600" b="1">
                <a:solidFill>
                  <a:srgbClr val="191C1E"/>
                </a:solidFill>
                <a:latin typeface="Plus Jakarta Sans"/>
              </a:rPr>
              <a:t>Medisafe</a:t>
            </a:r>
          </a:p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500" b="0">
                <a:solidFill>
                  <a:srgbClr val="545F73"/>
                </a:solidFill>
                <a:latin typeface="Plus Jakarta Sans"/>
              </a:rPr>
              <a:t>Grátis só com 2 medicamentos desde jan. 2026</a:t>
            </a:r>
          </a:p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600" b="1">
                <a:solidFill>
                  <a:srgbClr val="191C1E"/>
                </a:solidFill>
                <a:latin typeface="Plus Jakarta Sans"/>
              </a:rPr>
              <a:t>MyTherapy</a:t>
            </a:r>
          </a:p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500" b="0">
                <a:solidFill>
                  <a:srgbClr val="545F73"/>
                </a:solidFill>
                <a:latin typeface="Plus Jakarta Sans"/>
              </a:rPr>
              <a:t>Gratuito com repasse de dados anonimizados</a:t>
            </a:r>
          </a:p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600" b="1">
                <a:solidFill>
                  <a:srgbClr val="0B5FD9"/>
                </a:solidFill>
                <a:latin typeface="Plus Jakarta Sans"/>
              </a:rPr>
              <a:t>Mapill</a:t>
            </a:r>
          </a:p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500" b="0">
                <a:solidFill>
                  <a:srgbClr val="545F73"/>
                </a:solidFill>
                <a:latin typeface="Plus Jakarta Sans"/>
              </a:rPr>
              <a:t>Troca amplitude por profundidade no tratamento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spc="200">
                <a:solidFill>
                  <a:srgbClr val="0B5FD9"/>
                </a:solidFill>
                <a:latin typeface="Plus Jakarta Sans"/>
              </a:rPr>
              <a:t>OBJETIVOS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>
                <a:solidFill>
                  <a:srgbClr val="191C1E"/>
                </a:solidFill>
                <a:latin typeface="Plus Jakarta Sans"/>
              </a:rPr>
              <a:t>Apoiar a rotina medicamentosa sem depender de conexão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41908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545F73"/>
                </a:solidFill>
                <a:latin typeface="Plus Jakarta Sans"/>
              </a:rPr>
              <a:t>Mapill  ·  Gabriel Steffens  ·  Sistemas de Informação, UNIDAVI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91495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1">
                <a:solidFill>
                  <a:srgbClr val="545F73"/>
                </a:solidFill>
                <a:latin typeface="Plus Jakarta Sans"/>
              </a:rPr>
              <a:t>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828800"/>
            <a:ext cx="10820095" cy="1417320"/>
          </a:xfrm>
          <a:prstGeom prst="roundRect">
            <a:avLst>
              <a:gd name="adj" fmla="val 9032"/>
            </a:avLst>
          </a:prstGeom>
          <a:solidFill>
            <a:srgbClr val="EAF1FE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051560" y="1828800"/>
            <a:ext cx="10088575" cy="1417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1" spc="200">
                <a:solidFill>
                  <a:srgbClr val="0A3F8F"/>
                </a:solidFill>
                <a:latin typeface="Plus Jakarta Sans"/>
              </a:rPr>
              <a:t>OBJETIVO GERAL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91C1E"/>
                </a:solidFill>
                <a:latin typeface="Plus Jakarta Sans"/>
              </a:rPr>
              <a:t>Desenvolver uma aplicação móvel que integra o agendamento e o registro de doses, o estoque e os compromissos terapêuticos, numa arquitetura </a:t>
            </a:r>
            <a:r>
              <a:rPr sz="1800" b="0" i="1">
                <a:solidFill>
                  <a:srgbClr val="191C1E"/>
                </a:solidFill>
                <a:latin typeface="Plus Jakarta Sans"/>
              </a:rPr>
              <a:t>offline-first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3840480"/>
            <a:ext cx="2017715" cy="1965960"/>
          </a:xfrm>
          <a:prstGeom prst="roundRect">
            <a:avLst>
              <a:gd name="adj" fmla="val 6511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960120" y="4069080"/>
            <a:ext cx="457200" cy="457200"/>
          </a:xfrm>
          <a:prstGeom prst="ellipse">
            <a:avLst/>
          </a:prstGeom>
          <a:solidFill>
            <a:srgbClr val="0B5F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40690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Plus Jakarta Sans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4663440"/>
            <a:ext cx="151479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191C1E"/>
                </a:solidFill>
                <a:latin typeface="Plus Jakarta Sans"/>
              </a:rPr>
              <a:t>Levantar requisitos na literatura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86395" y="3840480"/>
            <a:ext cx="2017715" cy="1965960"/>
          </a:xfrm>
          <a:prstGeom prst="roundRect">
            <a:avLst>
              <a:gd name="adj" fmla="val 6511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3" name="Oval 12"/>
          <p:cNvSpPr/>
          <p:nvPr/>
        </p:nvSpPr>
        <p:spPr>
          <a:xfrm>
            <a:off x="3160715" y="4069080"/>
            <a:ext cx="457200" cy="457200"/>
          </a:xfrm>
          <a:prstGeom prst="ellipse">
            <a:avLst/>
          </a:prstGeom>
          <a:solidFill>
            <a:srgbClr val="0B5F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160715" y="40690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Plus Jakarta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60715" y="4663440"/>
            <a:ext cx="151479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191C1E"/>
                </a:solidFill>
                <a:latin typeface="Plus Jakarta Sans"/>
              </a:rPr>
              <a:t>Especificar requisitos e regras de negócio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86990" y="3840480"/>
            <a:ext cx="2017715" cy="1965960"/>
          </a:xfrm>
          <a:prstGeom prst="roundRect">
            <a:avLst>
              <a:gd name="adj" fmla="val 6511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7" name="Oval 16"/>
          <p:cNvSpPr/>
          <p:nvPr/>
        </p:nvSpPr>
        <p:spPr>
          <a:xfrm>
            <a:off x="5361310" y="4069080"/>
            <a:ext cx="457200" cy="457200"/>
          </a:xfrm>
          <a:prstGeom prst="ellipse">
            <a:avLst/>
          </a:prstGeom>
          <a:solidFill>
            <a:srgbClr val="0B5F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61310" y="40690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Plus Jakarta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61310" y="4663440"/>
            <a:ext cx="151479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191C1E"/>
                </a:solidFill>
                <a:latin typeface="Plus Jakarta Sans"/>
              </a:rPr>
              <a:t>Projetar arquitetura, dados e telas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287585" y="3840480"/>
            <a:ext cx="2017715" cy="1965960"/>
          </a:xfrm>
          <a:prstGeom prst="roundRect">
            <a:avLst>
              <a:gd name="adj" fmla="val 6511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1" name="Oval 20"/>
          <p:cNvSpPr/>
          <p:nvPr/>
        </p:nvSpPr>
        <p:spPr>
          <a:xfrm>
            <a:off x="7561905" y="4069080"/>
            <a:ext cx="457200" cy="457200"/>
          </a:xfrm>
          <a:prstGeom prst="ellipse">
            <a:avLst/>
          </a:prstGeom>
          <a:solidFill>
            <a:srgbClr val="0B5F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61905" y="40690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Plus Jakarta Sans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61905" y="4663440"/>
            <a:ext cx="151479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191C1E"/>
                </a:solidFill>
                <a:latin typeface="Plus Jakarta Sans"/>
              </a:rPr>
              <a:t>Implementar a aplicação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488180" y="3840480"/>
            <a:ext cx="2017715" cy="1965960"/>
          </a:xfrm>
          <a:prstGeom prst="roundRect">
            <a:avLst>
              <a:gd name="adj" fmla="val 6511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5" name="Oval 24"/>
          <p:cNvSpPr/>
          <p:nvPr/>
        </p:nvSpPr>
        <p:spPr>
          <a:xfrm>
            <a:off x="9762500" y="4069080"/>
            <a:ext cx="457200" cy="457200"/>
          </a:xfrm>
          <a:prstGeom prst="ellipse">
            <a:avLst/>
          </a:prstGeom>
          <a:solidFill>
            <a:srgbClr val="0B5F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762500" y="40690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Plus Jakarta Sans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62500" y="4663440"/>
            <a:ext cx="151479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191C1E"/>
                </a:solidFill>
                <a:latin typeface="Plus Jakarta Sans"/>
              </a:rPr>
              <a:t>Analisar o offline-first em cenários controlados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34747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1" spc="200">
                <a:solidFill>
                  <a:srgbClr val="545F73"/>
                </a:solidFill>
                <a:latin typeface="Plus Jakarta Sans"/>
              </a:rPr>
              <a:t>OBJETIVOS ESPECÍFICOS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spc="200">
                <a:solidFill>
                  <a:srgbClr val="0B5FD9"/>
                </a:solidFill>
                <a:latin typeface="Plus Jakarta Sans"/>
              </a:rPr>
              <a:t>FUNDAMENTAÇÃO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>
                <a:solidFill>
                  <a:srgbClr val="191C1E"/>
                </a:solidFill>
                <a:latin typeface="Plus Jakarta Sans"/>
              </a:rPr>
              <a:t>Cada conceito sustenta uma decisão do Mapill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41908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545F73"/>
                </a:solidFill>
                <a:latin typeface="Plus Jakarta Sans"/>
              </a:rPr>
              <a:t>Mapill  ·  Gabriel Steffens  ·  Sistemas de Informação, UNIDAVI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91495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1">
                <a:solidFill>
                  <a:srgbClr val="545F73"/>
                </a:solidFill>
                <a:latin typeface="Plus Jakarta Sans"/>
              </a:rPr>
              <a:t>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783080"/>
            <a:ext cx="10820095" cy="713232"/>
          </a:xfrm>
          <a:prstGeom prst="roundRect">
            <a:avLst>
              <a:gd name="adj" fmla="val 17948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512064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>
                <a:solidFill>
                  <a:srgbClr val="191C1E"/>
                </a:solidFill>
                <a:latin typeface="Plus Jakarta Sans"/>
              </a:rPr>
              <a:t>Memória prospectiva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545F73"/>
                </a:solidFill>
                <a:latin typeface="Plus Jakarta Sans"/>
              </a:rPr>
              <a:t>Baddeley; Eysenck; Anderson, 2010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89320" y="1783080"/>
            <a:ext cx="45720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B5FD9"/>
                </a:solidFill>
                <a:latin typeface="Plus Jakarta Sans"/>
              </a:rPr>
              <a:t>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37960" y="1783080"/>
            <a:ext cx="475488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91C1E"/>
                </a:solidFill>
                <a:latin typeface="Plus Jakarta Sans"/>
              </a:rPr>
              <a:t>O alarme é a pista externa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633472"/>
            <a:ext cx="10820095" cy="713232"/>
          </a:xfrm>
          <a:prstGeom prst="roundRect">
            <a:avLst>
              <a:gd name="adj" fmla="val 17948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005840" y="2633472"/>
            <a:ext cx="512064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>
                <a:solidFill>
                  <a:srgbClr val="191C1E"/>
                </a:solidFill>
                <a:latin typeface="Plus Jakarta Sans"/>
              </a:rPr>
              <a:t>Desoneração cognitiva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545F73"/>
                </a:solidFill>
                <a:latin typeface="Plus Jakarta Sans"/>
              </a:rPr>
              <a:t>Risko; Gilbert, 2016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89320" y="2633472"/>
            <a:ext cx="45720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B5FD9"/>
                </a:solidFill>
                <a:latin typeface="Plus Jakarta Sans"/>
              </a:rPr>
              <a:t>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2633472"/>
            <a:ext cx="475488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91C1E"/>
                </a:solidFill>
                <a:latin typeface="Plus Jakarta Sans"/>
              </a:rPr>
              <a:t>O app calcula estoque e horários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483864"/>
            <a:ext cx="10820095" cy="713232"/>
          </a:xfrm>
          <a:prstGeom prst="roundRect">
            <a:avLst>
              <a:gd name="adj" fmla="val 17948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1005840" y="3483864"/>
            <a:ext cx="512064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>
                <a:solidFill>
                  <a:srgbClr val="191C1E"/>
                </a:solidFill>
                <a:latin typeface="Plus Jakarta Sans"/>
              </a:rPr>
              <a:t>Fonte única de verdade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545F73"/>
                </a:solidFill>
                <a:latin typeface="Plus Jakarta Sans"/>
              </a:rPr>
              <a:t>Loshin, 2010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89320" y="3483864"/>
            <a:ext cx="45720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B5FD9"/>
                </a:solidFill>
                <a:latin typeface="Plus Jakarta Sans"/>
              </a:rPr>
              <a:t>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60" y="3483864"/>
            <a:ext cx="475488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91C1E"/>
                </a:solidFill>
                <a:latin typeface="Plus Jakarta Sans"/>
              </a:rPr>
              <a:t>Remédios, estoque e consultas num lugar só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4334256"/>
            <a:ext cx="10820095" cy="713232"/>
          </a:xfrm>
          <a:prstGeom prst="roundRect">
            <a:avLst>
              <a:gd name="adj" fmla="val 17948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1005840" y="4334256"/>
            <a:ext cx="512064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>
                <a:solidFill>
                  <a:srgbClr val="191C1E"/>
                </a:solidFill>
                <a:latin typeface="Plus Jakarta Sans"/>
              </a:rPr>
              <a:t>Offline-first e Last-Write-Wins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545F73"/>
                </a:solidFill>
                <a:latin typeface="Plus Jakarta Sans"/>
              </a:rPr>
              <a:t>Allsopp, 2014; Kleppmann, 2017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89320" y="4334256"/>
            <a:ext cx="45720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B5FD9"/>
                </a:solidFill>
                <a:latin typeface="Plus Jakarta Sans"/>
              </a:rPr>
              <a:t>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37960" y="4334256"/>
            <a:ext cx="475488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91C1E"/>
                </a:solidFill>
                <a:latin typeface="Plus Jakarta Sans"/>
              </a:rPr>
              <a:t>Funciona sem internet e sincroniza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5184648"/>
            <a:ext cx="10820095" cy="713232"/>
          </a:xfrm>
          <a:prstGeom prst="roundRect">
            <a:avLst>
              <a:gd name="adj" fmla="val 17948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1005840" y="5184648"/>
            <a:ext cx="512064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>
                <a:solidFill>
                  <a:srgbClr val="191C1E"/>
                </a:solidFill>
                <a:latin typeface="Plus Jakarta Sans"/>
              </a:rPr>
              <a:t>Usabilidade, acessibilidade e LGPD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545F73"/>
                </a:solidFill>
                <a:latin typeface="Plus Jakarta Sans"/>
              </a:rPr>
              <a:t>Nielsen, 1994; W3C, 2018; Brasil, 2018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89320" y="5184648"/>
            <a:ext cx="45720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B5FD9"/>
                </a:solidFill>
                <a:latin typeface="Plus Jakarta Sans"/>
              </a:rPr>
              <a:t>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37960" y="5184648"/>
            <a:ext cx="475488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91C1E"/>
                </a:solidFill>
                <a:latin typeface="Plus Jakarta Sans"/>
              </a:rPr>
              <a:t>Interface segura e dados protegidos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spc="200">
                <a:solidFill>
                  <a:srgbClr val="0B5FD9"/>
                </a:solidFill>
                <a:latin typeface="Plus Jakarta Sans"/>
              </a:rPr>
              <a:t>MAPILL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>
                <a:solidFill>
                  <a:srgbClr val="191C1E"/>
                </a:solidFill>
                <a:latin typeface="Plus Jakarta Sans"/>
              </a:rPr>
              <a:t>Um registro clínico pessoal, que lembra e registra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41908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545F73"/>
                </a:solidFill>
                <a:latin typeface="Plus Jakarta Sans"/>
              </a:rPr>
              <a:t>Mapill  ·  Gabriel Steffens  ·  Sistemas de Informação, UNIDAVI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91495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1">
                <a:solidFill>
                  <a:srgbClr val="545F73"/>
                </a:solidFill>
                <a:latin typeface="Plus Jakarta Sans"/>
              </a:rPr>
              <a:t>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828800"/>
            <a:ext cx="6583680" cy="932688"/>
          </a:xfrm>
          <a:prstGeom prst="roundRect">
            <a:avLst>
              <a:gd name="adj" fmla="val 13725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960120" y="2066543"/>
            <a:ext cx="457200" cy="457200"/>
          </a:xfrm>
          <a:prstGeom prst="ellipse">
            <a:avLst/>
          </a:prstGeom>
          <a:solidFill>
            <a:srgbClr val="EAF1F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066543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A3F8F"/>
                </a:solidFill>
                <a:latin typeface="Plus Jakarta Sans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1828800"/>
            <a:ext cx="5486400" cy="9326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91C1E"/>
                </a:solidFill>
                <a:latin typeface="Plus Jakarta Sans"/>
              </a:rPr>
              <a:t>Funciona sem internet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400" b="0">
                <a:solidFill>
                  <a:srgbClr val="545F73"/>
                </a:solidFill>
                <a:latin typeface="Plus Jakarta Sans"/>
              </a:rPr>
              <a:t>Tudo é gravado primeiro no aparelho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944368"/>
            <a:ext cx="6583680" cy="932688"/>
          </a:xfrm>
          <a:prstGeom prst="roundRect">
            <a:avLst>
              <a:gd name="adj" fmla="val 13725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960120" y="3182111"/>
            <a:ext cx="457200" cy="457200"/>
          </a:xfrm>
          <a:prstGeom prst="ellipse">
            <a:avLst/>
          </a:prstGeom>
          <a:solidFill>
            <a:srgbClr val="EAF1F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182111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A3F8F"/>
                </a:solidFill>
                <a:latin typeface="Plus Jakarta Sans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20" y="2944368"/>
            <a:ext cx="5486400" cy="9326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91C1E"/>
                </a:solidFill>
                <a:latin typeface="Plus Jakarta Sans"/>
              </a:rPr>
              <a:t>Posologia fiel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400" b="0">
                <a:solidFill>
                  <a:srgbClr val="545F73"/>
                </a:solidFill>
                <a:latin typeface="Plus Jakarta Sans"/>
              </a:rPr>
              <a:t>Inclusive dose variável por horário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4059935"/>
            <a:ext cx="6583680" cy="932688"/>
          </a:xfrm>
          <a:prstGeom prst="roundRect">
            <a:avLst>
              <a:gd name="adj" fmla="val 13725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960120" y="4297679"/>
            <a:ext cx="457200" cy="457200"/>
          </a:xfrm>
          <a:prstGeom prst="ellipse">
            <a:avLst/>
          </a:prstGeom>
          <a:solidFill>
            <a:srgbClr val="EAF1F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4297679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A3F8F"/>
                </a:solidFill>
                <a:latin typeface="Plus Jakarta Sa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45920" y="4059935"/>
            <a:ext cx="5486400" cy="9326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91C1E"/>
                </a:solidFill>
                <a:latin typeface="Plus Jakarta Sans"/>
              </a:rPr>
              <a:t>Lembra com o app fechado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400" b="0">
                <a:solidFill>
                  <a:srgbClr val="545F73"/>
                </a:solidFill>
                <a:latin typeface="Plus Jakarta Sans"/>
              </a:rPr>
              <a:t>Quem guarda o horário é o Android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5257800"/>
            <a:ext cx="66751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500" b="1">
                <a:solidFill>
                  <a:srgbClr val="191C1E"/>
                </a:solidFill>
                <a:latin typeface="Plus Jakarta Sans"/>
              </a:rPr>
              <a:t>Não prescreve, não sugere dose e não avalia o tratamento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500" b="0">
                <a:solidFill>
                  <a:srgbClr val="545F73"/>
                </a:solidFill>
                <a:latin typeface="Plus Jakarta Sans"/>
              </a:rPr>
              <a:t>Uma conta por paciente, e uso completo sem conta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01000" y="1600200"/>
            <a:ext cx="3520440" cy="4663440"/>
          </a:xfrm>
          <a:prstGeom prst="roundRect">
            <a:avLst>
              <a:gd name="adj" fmla="val 3636"/>
            </a:avLst>
          </a:prstGeom>
          <a:solidFill>
            <a:srgbClr val="EAF1FE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pic>
        <p:nvPicPr>
          <p:cNvPr id="20" name="Picture 19" descr="p72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96528" y="1783080"/>
            <a:ext cx="1916686" cy="4297680"/>
          </a:xfrm>
          <a:prstGeom prst="roundRect">
            <a:avLst>
              <a:gd name="adj" fmla="val 11449"/>
            </a:avLst>
          </a:prstGeom>
          <a:effectLst/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spc="200">
                <a:solidFill>
                  <a:srgbClr val="0B5FD9"/>
                </a:solidFill>
                <a:latin typeface="Plus Jakarta Sans"/>
              </a:rPr>
              <a:t>MAPILL · ARQUITETURA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>
                <a:solidFill>
                  <a:srgbClr val="191C1E"/>
                </a:solidFill>
                <a:latin typeface="Plus Jakarta Sans"/>
              </a:rPr>
              <a:t>Clean Architecture em três camadas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41908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545F73"/>
                </a:solidFill>
                <a:latin typeface="Plus Jakarta Sans"/>
              </a:rPr>
              <a:t>Mapill  ·  Gabriel Steffens  ·  Sistemas de Informação, UNIDAVI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91495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1">
                <a:solidFill>
                  <a:srgbClr val="545F73"/>
                </a:solidFill>
                <a:latin typeface="Plus Jakarta Sans"/>
              </a:rPr>
              <a:t>9</a:t>
            </a:r>
          </a:p>
        </p:txBody>
      </p:sp>
      <p:sp>
        <p:nvSpPr>
          <p:cNvPr id="6" name="Oval 5"/>
          <p:cNvSpPr/>
          <p:nvPr/>
        </p:nvSpPr>
        <p:spPr>
          <a:xfrm>
            <a:off x="1280160" y="1783080"/>
            <a:ext cx="4114800" cy="4114800"/>
          </a:xfrm>
          <a:prstGeom prst="ellipse">
            <a:avLst/>
          </a:prstGeom>
          <a:solidFill>
            <a:srgbClr val="DCE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920239" y="2423160"/>
            <a:ext cx="2834640" cy="2834640"/>
          </a:xfrm>
          <a:prstGeom prst="ellipse">
            <a:avLst/>
          </a:prstGeom>
          <a:solidFill>
            <a:srgbClr val="9DC0F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560320" y="3063240"/>
            <a:ext cx="1554480" cy="1554480"/>
          </a:xfrm>
          <a:prstGeom prst="ellipse">
            <a:avLst/>
          </a:prstGeom>
          <a:solidFill>
            <a:srgbClr val="0B5F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965960" y="1911096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0A3F8F"/>
                </a:solidFill>
                <a:latin typeface="Plus Jakarta Sans"/>
              </a:rPr>
              <a:t>Apresentação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0A3F8F"/>
                </a:solidFill>
                <a:latin typeface="Plus Jakarta Sans"/>
              </a:rPr>
              <a:t>telas e design próprio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65960" y="2551176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0A3F8F"/>
                </a:solidFill>
                <a:latin typeface="Plus Jakarta Sans"/>
              </a:rPr>
              <a:t>Dados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0A3F8F"/>
                </a:solidFill>
                <a:latin typeface="Plus Jakarta Sans"/>
              </a:rPr>
              <a:t>SQLite e Supabase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60320" y="3063240"/>
            <a:ext cx="1554480" cy="1554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Plus Jakarta Sans"/>
              </a:rPr>
              <a:t>Domínio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Plus Jakarta Sans"/>
              </a:rPr>
              <a:t>TypeScript puro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32120" y="3566160"/>
            <a:ext cx="1051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>
                <a:solidFill>
                  <a:srgbClr val="545F73"/>
                </a:solidFill>
                <a:latin typeface="Plus Jakarta Sans"/>
              </a:rPr>
              <a:t>dependência aponta para dentro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605332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545F73"/>
                </a:solidFill>
                <a:latin typeface="Plus Jakarta Sans"/>
              </a:rPr>
              <a:t>Fonte: elaborado pelo autor (2026), a partir da seção 4.4.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12280" y="1828800"/>
            <a:ext cx="4690872" cy="694944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086600" y="1828800"/>
            <a:ext cx="429768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191C1E"/>
                </a:solidFill>
                <a:latin typeface="Plus Jakarta Sans"/>
              </a:rPr>
              <a:t>React Native + Expo</a:t>
            </a:r>
            <a:r>
              <a:rPr sz="1300" b="0">
                <a:solidFill>
                  <a:srgbClr val="545F73"/>
                </a:solidFill>
                <a:latin typeface="Plus Jakarta Sans"/>
              </a:rPr>
              <a:t>   base única com acesso nativo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12280" y="2651760"/>
            <a:ext cx="4690872" cy="694944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086600" y="2651760"/>
            <a:ext cx="429768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191C1E"/>
                </a:solidFill>
                <a:latin typeface="Plus Jakarta Sans"/>
              </a:rPr>
              <a:t>TypeScript</a:t>
            </a:r>
            <a:r>
              <a:rPr sz="1300" b="0">
                <a:solidFill>
                  <a:srgbClr val="545F73"/>
                </a:solidFill>
                <a:latin typeface="Plus Jakarta Sans"/>
              </a:rPr>
              <a:t>   tipagem nas regras clínicas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12280" y="3474720"/>
            <a:ext cx="4690872" cy="694944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086600" y="3474720"/>
            <a:ext cx="429768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191C1E"/>
                </a:solidFill>
                <a:latin typeface="Plus Jakarta Sans"/>
              </a:rPr>
              <a:t>SQLite</a:t>
            </a:r>
            <a:r>
              <a:rPr sz="1300" b="0">
                <a:solidFill>
                  <a:srgbClr val="545F73"/>
                </a:solidFill>
                <a:latin typeface="Plus Jakarta Sans"/>
              </a:rPr>
              <a:t>   banco no aparelho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12280" y="4297680"/>
            <a:ext cx="4690872" cy="694944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7086600" y="4297680"/>
            <a:ext cx="429768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191C1E"/>
                </a:solidFill>
                <a:latin typeface="Plus Jakarta Sans"/>
              </a:rPr>
              <a:t>Supabase (PostgreSQL)</a:t>
            </a:r>
            <a:r>
              <a:rPr sz="1300" b="0">
                <a:solidFill>
                  <a:srgbClr val="545F73"/>
                </a:solidFill>
                <a:latin typeface="Plus Jakarta Sans"/>
              </a:rPr>
              <a:t>   cópia na nuvem, com RLS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12280" y="5120640"/>
            <a:ext cx="4690872" cy="694944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086600" y="5120640"/>
            <a:ext cx="429768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191C1E"/>
                </a:solidFill>
                <a:latin typeface="Plus Jakarta Sans"/>
              </a:rPr>
              <a:t>react-native-notify-kit</a:t>
            </a:r>
            <a:r>
              <a:rPr sz="1300" b="0">
                <a:solidFill>
                  <a:srgbClr val="545F73"/>
                </a:solidFill>
                <a:latin typeface="Plus Jakarta Sans"/>
              </a:rPr>
              <a:t>   alarme pelo agendador do Android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spc="200">
                <a:solidFill>
                  <a:srgbClr val="0B5FD9"/>
                </a:solidFill>
                <a:latin typeface="Plus Jakarta Sans"/>
              </a:rPr>
              <a:t>MAPILL · REGRAS DE NEGÓCIO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>
                <a:solidFill>
                  <a:srgbClr val="191C1E"/>
                </a:solidFill>
                <a:latin typeface="Plus Jakarta Sans"/>
              </a:rPr>
              <a:t>Quatro regras que protegem o registro clínico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41908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545F73"/>
                </a:solidFill>
                <a:latin typeface="Plus Jakarta Sans"/>
              </a:rPr>
              <a:t>Mapill  ·  Gabriel Steffens  ·  Sistemas de Informação, UNIDAVI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91495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1">
                <a:solidFill>
                  <a:srgbClr val="545F73"/>
                </a:solidFill>
                <a:latin typeface="Plus Jakarta Sans"/>
              </a:rPr>
              <a:t>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828800"/>
            <a:ext cx="5272887" cy="1874519"/>
          </a:xfrm>
          <a:prstGeom prst="roundRect">
            <a:avLst>
              <a:gd name="adj" fmla="val 6829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1051560" y="2103120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EAF1FE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51560" y="2103120"/>
            <a:ext cx="8686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0A3F8F"/>
                </a:solidFill>
                <a:latin typeface="Plus Jakarta Sans"/>
              </a:rPr>
              <a:t>RN 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578608"/>
            <a:ext cx="4541367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91C1E"/>
                </a:solidFill>
                <a:latin typeface="Plus Jakarta Sans"/>
              </a:rPr>
              <a:t>Dose sem resposta nunca vira “pulada”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545F73"/>
                </a:solidFill>
                <a:latin typeface="Plus Jakarta Sans"/>
              </a:rPr>
              <a:t>Não responder não é decidir pular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3007" y="1828800"/>
            <a:ext cx="5272887" cy="1874519"/>
          </a:xfrm>
          <a:prstGeom prst="roundRect">
            <a:avLst>
              <a:gd name="adj" fmla="val 6829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6598767" y="2103120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EAF1FE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598767" y="2103120"/>
            <a:ext cx="8686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0A3F8F"/>
                </a:solidFill>
                <a:latin typeface="Plus Jakarta Sans"/>
              </a:rPr>
              <a:t>RN 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98767" y="2578608"/>
            <a:ext cx="4541367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91C1E"/>
                </a:solidFill>
                <a:latin typeface="Plus Jakarta Sans"/>
              </a:rPr>
              <a:t>O estoque desconta a dose, não a unidade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545F73"/>
                </a:solidFill>
                <a:latin typeface="Plus Jakarta Sans"/>
              </a:rPr>
              <a:t>Dois comprimidos tomados, dois descontados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977639"/>
            <a:ext cx="5272887" cy="1874519"/>
          </a:xfrm>
          <a:prstGeom prst="roundRect">
            <a:avLst>
              <a:gd name="adj" fmla="val 6829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1051560" y="4251959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EAF1FE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051560" y="4251959"/>
            <a:ext cx="8686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0A3F8F"/>
                </a:solidFill>
                <a:latin typeface="Plus Jakarta Sans"/>
              </a:rPr>
              <a:t>RN 06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4727448"/>
            <a:ext cx="4541367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91C1E"/>
                </a:solidFill>
                <a:latin typeface="Plus Jakarta Sans"/>
              </a:rPr>
              <a:t>Correção nunca sobrescreve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545F73"/>
                </a:solidFill>
                <a:latin typeface="Plus Jakarta Sans"/>
              </a:rPr>
              <a:t>Cria um novo registro, e o original continua rastreável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3977639"/>
            <a:ext cx="5272887" cy="1874519"/>
          </a:xfrm>
          <a:prstGeom prst="roundRect">
            <a:avLst>
              <a:gd name="adj" fmla="val 6829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9" name="Rounded Rectangle 18"/>
          <p:cNvSpPr/>
          <p:nvPr/>
        </p:nvSpPr>
        <p:spPr>
          <a:xfrm>
            <a:off x="6598767" y="4251959"/>
            <a:ext cx="1325880" cy="329184"/>
          </a:xfrm>
          <a:prstGeom prst="roundRect">
            <a:avLst>
              <a:gd name="adj" fmla="val 50000"/>
            </a:avLst>
          </a:prstGeom>
          <a:solidFill>
            <a:srgbClr val="EAF1FE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6598767" y="4251959"/>
            <a:ext cx="13258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0A3F8F"/>
                </a:solidFill>
                <a:latin typeface="Plus Jakarta Sans"/>
              </a:rPr>
              <a:t>RN 11 e 12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98767" y="4727448"/>
            <a:ext cx="4541367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91C1E"/>
                </a:solidFill>
                <a:latin typeface="Plus Jakarta Sans"/>
              </a:rPr>
              <a:t>Um aviso por horário, adiamento uma vez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545F73"/>
                </a:solidFill>
                <a:latin typeface="Plus Jakarta Sans"/>
              </a:rPr>
              <a:t>Remédios no mesmo horário, um alarme só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05332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545F73"/>
                </a:solidFill>
                <a:latin typeface="Plus Jakarta Sans"/>
              </a:rPr>
              <a:t>Fonte: Quadro 10 do TCC, que reúne as vinte regras.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spc="200">
                <a:solidFill>
                  <a:srgbClr val="0B5FD9"/>
                </a:solidFill>
                <a:latin typeface="Plus Jakarta Sans"/>
              </a:rPr>
              <a:t>MAPILL · SINCRONIZAÇÃO E SEGURANÇA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>
                <a:solidFill>
                  <a:srgbClr val="191C1E"/>
                </a:solidFill>
                <a:latin typeface="Plus Jakarta Sans"/>
              </a:rPr>
              <a:t>Grava primeiro no aparelho, e a nuvem é cópia e ponte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41908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545F73"/>
                </a:solidFill>
                <a:latin typeface="Plus Jakarta Sans"/>
              </a:rPr>
              <a:t>Mapill  ·  Gabriel Steffens  ·  Sistemas de Informação, UNIDAVI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91495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1">
                <a:solidFill>
                  <a:srgbClr val="545F73"/>
                </a:solidFill>
                <a:latin typeface="Plus Jakarta Sans"/>
              </a:rPr>
              <a:t>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783080"/>
            <a:ext cx="6492240" cy="4160520"/>
          </a:xfrm>
          <a:prstGeom prst="roundRect">
            <a:avLst>
              <a:gd name="adj" fmla="val 3076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pic>
        <p:nvPicPr>
          <p:cNvPr id="7" name="Picture 6" descr="p55_0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1965960"/>
            <a:ext cx="5943600" cy="352190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85800" y="6053328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545F73"/>
                </a:solidFill>
                <a:latin typeface="Plus Jakarta Sans"/>
              </a:rPr>
              <a:t>Figura 1 - Resolução de conflito pelo critério Last-Write-Wins. Fonte: elaborado pelo autor (2026).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79" y="1783080"/>
            <a:ext cx="4005072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818120" y="1783080"/>
            <a:ext cx="3474720" cy="12344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700" b="1">
                <a:solidFill>
                  <a:srgbClr val="191C1E"/>
                </a:solidFill>
                <a:latin typeface="Plus Jakarta Sans"/>
              </a:rPr>
              <a:t>Vence a edição mais recente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545F73"/>
                </a:solidFill>
                <a:latin typeface="Plus Jakarta Sans"/>
              </a:rPr>
              <a:t>inteira, sem mesclar campos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98079" y="3200400"/>
            <a:ext cx="4005072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7818120" y="3200400"/>
            <a:ext cx="3474720" cy="12344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700" b="1">
                <a:solidFill>
                  <a:srgbClr val="191C1E"/>
                </a:solidFill>
                <a:latin typeface="Plus Jakarta Sans"/>
              </a:rPr>
              <a:t>O servidor aplica o mesmo critério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545F73"/>
                </a:solidFill>
                <a:latin typeface="Plus Jakarta Sans"/>
              </a:rPr>
              <a:t>e recusa a atualização mais antiga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98079" y="4617720"/>
            <a:ext cx="4005072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818120" y="4617720"/>
            <a:ext cx="3474720" cy="12344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700" b="1">
                <a:solidFill>
                  <a:srgbClr val="191C1E"/>
                </a:solidFill>
                <a:latin typeface="Plus Jakarta Sans"/>
              </a:rPr>
              <a:t>Isolamento por usuário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545F73"/>
                </a:solidFill>
                <a:latin typeface="Plus Jakarta Sans"/>
              </a:rPr>
              <a:t>RLS nas nove tabelas e token JWT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spc="200">
                <a:solidFill>
                  <a:srgbClr val="0B5FD9"/>
                </a:solidFill>
                <a:latin typeface="Plus Jakarta Sans"/>
              </a:rPr>
              <a:t>MAPILL · DEMONSTRAÇÃO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>
                <a:solidFill>
                  <a:srgbClr val="191C1E"/>
                </a:solidFill>
                <a:latin typeface="Plus Jakarta Sans"/>
              </a:rPr>
              <a:t>O aplicativo funcionando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41908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545F73"/>
                </a:solidFill>
                <a:latin typeface="Plus Jakarta Sans"/>
              </a:rPr>
              <a:t>Mapill  ·  Gabriel Steffens  ·  Sistemas de Informação, UNIDAVI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91495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1">
                <a:solidFill>
                  <a:srgbClr val="545F73"/>
                </a:solidFill>
                <a:latin typeface="Plus Jakarta Sans"/>
              </a:rPr>
              <a:t>12</a:t>
            </a:r>
          </a:p>
        </p:txBody>
      </p:sp>
      <p:pic>
        <p:nvPicPr>
          <p:cNvPr id="6" name="Picture 5" descr="p68_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528" y="1874519"/>
            <a:ext cx="1447710" cy="3246120"/>
          </a:xfrm>
          <a:prstGeom prst="roundRect">
            <a:avLst>
              <a:gd name="adj" fmla="val 8842"/>
            </a:avLst>
          </a:prstGeom>
          <a:effectLst/>
        </p:spPr>
      </p:pic>
      <p:sp>
        <p:nvSpPr>
          <p:cNvPr id="7" name="TextBox 6"/>
          <p:cNvSpPr txBox="1"/>
          <p:nvPr/>
        </p:nvSpPr>
        <p:spPr>
          <a:xfrm>
            <a:off x="685800" y="5349240"/>
            <a:ext cx="161284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B5FD9"/>
                </a:solidFill>
                <a:latin typeface="Plus Jakarta Sans"/>
              </a:rPr>
              <a:t>a.  </a:t>
            </a:r>
            <a:r>
              <a:rPr sz="1400" b="1">
                <a:solidFill>
                  <a:srgbClr val="191C1E"/>
                </a:solidFill>
                <a:latin typeface="Plus Jakarta Sans"/>
              </a:rPr>
              <a:t>Cadastro por código de barras</a:t>
            </a:r>
          </a:p>
        </p:txBody>
      </p:sp>
      <p:pic>
        <p:nvPicPr>
          <p:cNvPr id="8" name="Picture 7" descr="p71_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6977" y="1874519"/>
            <a:ext cx="1447710" cy="3246120"/>
          </a:xfrm>
          <a:prstGeom prst="roundRect">
            <a:avLst>
              <a:gd name="adj" fmla="val 8842"/>
            </a:avLst>
          </a:prstGeom>
          <a:effectLst/>
        </p:spPr>
      </p:pic>
      <p:sp>
        <p:nvSpPr>
          <p:cNvPr id="9" name="TextBox 8"/>
          <p:cNvSpPr txBox="1"/>
          <p:nvPr/>
        </p:nvSpPr>
        <p:spPr>
          <a:xfrm>
            <a:off x="2527249" y="5349240"/>
            <a:ext cx="161284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B5FD9"/>
                </a:solidFill>
                <a:latin typeface="Plus Jakarta Sans"/>
              </a:rPr>
              <a:t>b.  </a:t>
            </a:r>
            <a:r>
              <a:rPr sz="1400" b="1">
                <a:solidFill>
                  <a:srgbClr val="191C1E"/>
                </a:solidFill>
                <a:latin typeface="Plus Jakarta Sans"/>
              </a:rPr>
              <a:t>Tela inicial</a:t>
            </a:r>
          </a:p>
        </p:txBody>
      </p:sp>
      <p:pic>
        <p:nvPicPr>
          <p:cNvPr id="10" name="Picture 9" descr="p72_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78426" y="1874519"/>
            <a:ext cx="1447710" cy="3246120"/>
          </a:xfrm>
          <a:prstGeom prst="roundRect">
            <a:avLst>
              <a:gd name="adj" fmla="val 8842"/>
            </a:avLst>
          </a:prstGeom>
          <a:effectLst/>
        </p:spPr>
      </p:pic>
      <p:sp>
        <p:nvSpPr>
          <p:cNvPr id="11" name="TextBox 10"/>
          <p:cNvSpPr txBox="1"/>
          <p:nvPr/>
        </p:nvSpPr>
        <p:spPr>
          <a:xfrm>
            <a:off x="4368698" y="5349240"/>
            <a:ext cx="161284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B5FD9"/>
                </a:solidFill>
                <a:latin typeface="Plus Jakarta Sans"/>
              </a:rPr>
              <a:t>c.  </a:t>
            </a:r>
            <a:r>
              <a:rPr sz="1400" b="1">
                <a:solidFill>
                  <a:srgbClr val="191C1E"/>
                </a:solidFill>
                <a:latin typeface="Plus Jakarta Sans"/>
              </a:rPr>
              <a:t>Alarme</a:t>
            </a:r>
          </a:p>
        </p:txBody>
      </p:sp>
      <p:pic>
        <p:nvPicPr>
          <p:cNvPr id="12" name="Picture 11" descr="p74_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19875" y="1874519"/>
            <a:ext cx="1447710" cy="3246120"/>
          </a:xfrm>
          <a:prstGeom prst="roundRect">
            <a:avLst>
              <a:gd name="adj" fmla="val 8842"/>
            </a:avLst>
          </a:prstGeom>
          <a:effectLst/>
        </p:spPr>
      </p:pic>
      <p:sp>
        <p:nvSpPr>
          <p:cNvPr id="13" name="TextBox 12"/>
          <p:cNvSpPr txBox="1"/>
          <p:nvPr/>
        </p:nvSpPr>
        <p:spPr>
          <a:xfrm>
            <a:off x="6210147" y="5349240"/>
            <a:ext cx="161284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B5FD9"/>
                </a:solidFill>
                <a:latin typeface="Plus Jakarta Sans"/>
              </a:rPr>
              <a:t>d.  </a:t>
            </a:r>
            <a:r>
              <a:rPr sz="1400" b="1">
                <a:solidFill>
                  <a:srgbClr val="191C1E"/>
                </a:solidFill>
                <a:latin typeface="Plus Jakarta Sans"/>
              </a:rPr>
              <a:t>Adesão e calendário</a:t>
            </a:r>
          </a:p>
        </p:txBody>
      </p:sp>
      <p:pic>
        <p:nvPicPr>
          <p:cNvPr id="14" name="Picture 13" descr="p75_0.jpe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61324" y="2308859"/>
            <a:ext cx="1837113" cy="2377440"/>
          </a:xfrm>
          <a:prstGeom prst="roundRect">
            <a:avLst>
              <a:gd name="adj" fmla="val 6968"/>
            </a:avLst>
          </a:prstGeom>
          <a:effectLst/>
        </p:spPr>
      </p:pic>
      <p:sp>
        <p:nvSpPr>
          <p:cNvPr id="15" name="TextBox 14"/>
          <p:cNvSpPr txBox="1"/>
          <p:nvPr/>
        </p:nvSpPr>
        <p:spPr>
          <a:xfrm>
            <a:off x="8051596" y="5349240"/>
            <a:ext cx="161284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B5FD9"/>
                </a:solidFill>
                <a:latin typeface="Plus Jakarta Sans"/>
              </a:rPr>
              <a:t>e.  </a:t>
            </a:r>
            <a:r>
              <a:rPr sz="1400" b="1">
                <a:solidFill>
                  <a:srgbClr val="191C1E"/>
                </a:solidFill>
                <a:latin typeface="Plus Jakarta Sans"/>
              </a:rPr>
              <a:t>Relatório em PDF</a:t>
            </a:r>
          </a:p>
        </p:txBody>
      </p:sp>
      <p:pic>
        <p:nvPicPr>
          <p:cNvPr id="16" name="Picture 15" descr="p78_2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02774" y="1874519"/>
            <a:ext cx="1447710" cy="3246120"/>
          </a:xfrm>
          <a:prstGeom prst="roundRect">
            <a:avLst>
              <a:gd name="adj" fmla="val 8842"/>
            </a:avLst>
          </a:prstGeom>
          <a:effectLst/>
        </p:spPr>
      </p:pic>
      <p:sp>
        <p:nvSpPr>
          <p:cNvPr id="17" name="TextBox 16"/>
          <p:cNvSpPr txBox="1"/>
          <p:nvPr/>
        </p:nvSpPr>
        <p:spPr>
          <a:xfrm>
            <a:off x="9893046" y="5349240"/>
            <a:ext cx="161284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B5FD9"/>
                </a:solidFill>
                <a:latin typeface="Plus Jakarta Sans"/>
              </a:rPr>
              <a:t>f.  </a:t>
            </a:r>
            <a:r>
              <a:rPr sz="1400" b="1">
                <a:solidFill>
                  <a:srgbClr val="191C1E"/>
                </a:solidFill>
                <a:latin typeface="Plus Jakarta Sans"/>
              </a:rPr>
              <a:t>Temas e cores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6053328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545F73"/>
                </a:solidFill>
                <a:latin typeface="Plus Jakarta Sans"/>
              </a:rPr>
              <a:t>Telas: Figuras 4, 7, 8, 9, 10 e 12 do TCC.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spc="200">
                <a:solidFill>
                  <a:srgbClr val="0B5FD9"/>
                </a:solidFill>
                <a:latin typeface="Plus Jakarta Sans"/>
              </a:rPr>
              <a:t>RESULTADOS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>
                <a:solidFill>
                  <a:srgbClr val="191C1E"/>
                </a:solidFill>
                <a:latin typeface="Plus Jakarta Sans"/>
              </a:rPr>
              <a:t>Cinco cenários offline-first aprovados em aparelho físico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41908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545F73"/>
                </a:solidFill>
                <a:latin typeface="Plus Jakarta Sans"/>
              </a:rPr>
              <a:t>Mapill  ·  Gabriel Steffens  ·  Sistemas de Informação, UNIDAVI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91495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1">
                <a:solidFill>
                  <a:srgbClr val="545F73"/>
                </a:solidFill>
                <a:latin typeface="Plus Jakarta Sans"/>
              </a:rPr>
              <a:t>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783080"/>
            <a:ext cx="6675120" cy="4160520"/>
          </a:xfrm>
          <a:prstGeom prst="roundRect">
            <a:avLst>
              <a:gd name="adj" fmla="val 3076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005840" y="1965960"/>
            <a:ext cx="39319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91C1E"/>
                </a:solidFill>
                <a:latin typeface="Plus Jakarta Sans"/>
              </a:rPr>
              <a:t>Ausência de conexão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2075688"/>
            <a:ext cx="1234440" cy="329184"/>
          </a:xfrm>
          <a:prstGeom prst="roundRect">
            <a:avLst>
              <a:gd name="adj" fmla="val 50000"/>
            </a:avLst>
          </a:prstGeom>
          <a:solidFill>
            <a:srgbClr val="E3F6EA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5852160" y="2075688"/>
            <a:ext cx="12344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11803E"/>
                </a:solidFill>
                <a:latin typeface="Plus Jakarta Sans"/>
              </a:rPr>
              <a:t>Aprovado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724912"/>
            <a:ext cx="39319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91C1E"/>
                </a:solidFill>
                <a:latin typeface="Plus Jakarta Sans"/>
              </a:rPr>
              <a:t>Restabelecimento da conectividade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852160" y="2834640"/>
            <a:ext cx="1234440" cy="329184"/>
          </a:xfrm>
          <a:prstGeom prst="roundRect">
            <a:avLst>
              <a:gd name="adj" fmla="val 50000"/>
            </a:avLst>
          </a:prstGeom>
          <a:solidFill>
            <a:srgbClr val="E3F6EA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852160" y="2834640"/>
            <a:ext cx="12344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11803E"/>
                </a:solidFill>
                <a:latin typeface="Plus Jakarta Sans"/>
              </a:rPr>
              <a:t>Aprovado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483863"/>
            <a:ext cx="39319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91C1E"/>
                </a:solidFill>
                <a:latin typeface="Plus Jakarta Sans"/>
              </a:rPr>
              <a:t>Sincronização por restauração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846320" y="3593591"/>
            <a:ext cx="2240280" cy="329184"/>
          </a:xfrm>
          <a:prstGeom prst="roundRect">
            <a:avLst>
              <a:gd name="adj" fmla="val 50000"/>
            </a:avLst>
          </a:prstGeom>
          <a:solidFill>
            <a:srgbClr val="E3F6EA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4846320" y="3593591"/>
            <a:ext cx="22402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11803E"/>
                </a:solidFill>
                <a:latin typeface="Plus Jakarta Sans"/>
              </a:rPr>
              <a:t>Aprovado, com ajustes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4242816"/>
            <a:ext cx="39319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91C1E"/>
                </a:solidFill>
                <a:latin typeface="Plus Jakarta Sans"/>
              </a:rPr>
              <a:t>Sincronização entre dispositivos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846320" y="4352544"/>
            <a:ext cx="2240280" cy="329184"/>
          </a:xfrm>
          <a:prstGeom prst="roundRect">
            <a:avLst>
              <a:gd name="adj" fmla="val 50000"/>
            </a:avLst>
          </a:prstGeom>
          <a:solidFill>
            <a:srgbClr val="E3F6EA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4846320" y="4352544"/>
            <a:ext cx="22402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11803E"/>
                </a:solidFill>
                <a:latin typeface="Plus Jakarta Sans"/>
              </a:rPr>
              <a:t>Aprovado, com ajustes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5001768"/>
            <a:ext cx="39319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91C1E"/>
                </a:solidFill>
                <a:latin typeface="Plus Jakarta Sans"/>
              </a:rPr>
              <a:t>Conflito entre registros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846320" y="5111496"/>
            <a:ext cx="2240280" cy="329184"/>
          </a:xfrm>
          <a:prstGeom prst="roundRect">
            <a:avLst>
              <a:gd name="adj" fmla="val 50000"/>
            </a:avLst>
          </a:prstGeom>
          <a:solidFill>
            <a:srgbClr val="E3F6EA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4846320" y="5111496"/>
            <a:ext cx="22402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11803E"/>
                </a:solidFill>
                <a:latin typeface="Plus Jakarta Sans"/>
              </a:rPr>
              <a:t>Aprovado, com ajustes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05332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545F73"/>
                </a:solidFill>
                <a:latin typeface="Plus Jakarta Sans"/>
              </a:rPr>
              <a:t>Fonte: Quadro 28 do TCC. Xiaomi Redmi Note 14 Pro 5G, Android 16.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680960" y="1783080"/>
            <a:ext cx="3822191" cy="1920240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8001000" y="1783080"/>
            <a:ext cx="3291840" cy="1920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1" spc="200">
                <a:solidFill>
                  <a:srgbClr val="11803E"/>
                </a:solidFill>
                <a:latin typeface="Plus Jakarta Sans"/>
              </a:rPr>
              <a:t>ALARME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91C1E"/>
                </a:solidFill>
                <a:latin typeface="Plus Jakarta Sans"/>
              </a:rPr>
              <a:t>Aprovado nas 4 combinações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545F73"/>
                </a:solidFill>
                <a:latin typeface="Plus Jakarta Sans"/>
              </a:rPr>
              <a:t>Bloqueado ou em uso, app nos recentes ou não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680960" y="3931920"/>
            <a:ext cx="3822191" cy="2011680"/>
          </a:xfrm>
          <a:prstGeom prst="roundRect">
            <a:avLst>
              <a:gd name="adj" fmla="val 6363"/>
            </a:avLst>
          </a:prstGeom>
          <a:solidFill>
            <a:srgbClr val="FDF3C4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001000" y="3931920"/>
            <a:ext cx="3291840" cy="2011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1" spc="200">
                <a:solidFill>
                  <a:srgbClr val="5C4A0F"/>
                </a:solidFill>
                <a:latin typeface="Plus Jakarta Sans"/>
              </a:rPr>
              <a:t>LIMITAÇÃO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91C1E"/>
                </a:solidFill>
                <a:latin typeface="Plus Jakarta Sans"/>
              </a:rPr>
              <a:t>Após reiniciar, o alarme esperou o desbloqueio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5C4A0F"/>
                </a:solidFill>
                <a:latin typeface="Plus Jakarta Sans"/>
              </a:rPr>
              <a:t>Restrição de Autostart do fabricante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spc="200">
                <a:solidFill>
                  <a:srgbClr val="0B5FD9"/>
                </a:solidFill>
                <a:latin typeface="Plus Jakarta Sans"/>
              </a:rPr>
              <a:t>CONCLUSÃO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>
                <a:solidFill>
                  <a:srgbClr val="191C1E"/>
                </a:solidFill>
                <a:latin typeface="Plus Jakarta Sans"/>
              </a:rPr>
              <a:t>Offline e registro clínico fiel são compatíveis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41908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545F73"/>
                </a:solidFill>
                <a:latin typeface="Plus Jakarta Sans"/>
              </a:rPr>
              <a:t>Mapill  ·  Gabriel Steffens  ·  Sistemas de Informação, UNIDAVI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91495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1">
                <a:solidFill>
                  <a:srgbClr val="545F73"/>
                </a:solidFill>
                <a:latin typeface="Plus Jakarta Sans"/>
              </a:rPr>
              <a:t>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783080"/>
            <a:ext cx="10820095" cy="777240"/>
          </a:xfrm>
          <a:prstGeom prst="roundRect">
            <a:avLst>
              <a:gd name="adj" fmla="val 16470"/>
            </a:avLst>
          </a:prstGeom>
          <a:solidFill>
            <a:srgbClr val="E3F6EA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051560" y="1783080"/>
            <a:ext cx="10088575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11803E"/>
                </a:solidFill>
                <a:latin typeface="Plus Jakarta Sans"/>
              </a:rPr>
              <a:t>Objetivos atendidos, com a ressalva do alarme após reiniciar o aparelho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834640"/>
            <a:ext cx="3454298" cy="1691640"/>
          </a:xfrm>
          <a:prstGeom prst="roundRect">
            <a:avLst>
              <a:gd name="adj" fmla="val 7567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005840" y="2834640"/>
            <a:ext cx="2814218" cy="1691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900" b="1">
                <a:solidFill>
                  <a:srgbClr val="191C1E"/>
                </a:solidFill>
                <a:latin typeface="Plus Jakarta Sans"/>
              </a:rPr>
              <a:t>Estoque pela dose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545F73"/>
                </a:solidFill>
                <a:latin typeface="Plus Jakarta Sans"/>
              </a:rPr>
              <a:t>desconta a quantidade realmente tomada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68698" y="2834640"/>
            <a:ext cx="3454298" cy="1691640"/>
          </a:xfrm>
          <a:prstGeom prst="roundRect">
            <a:avLst>
              <a:gd name="adj" fmla="val 7567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688738" y="2834640"/>
            <a:ext cx="2814218" cy="1691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900" b="1">
                <a:solidFill>
                  <a:srgbClr val="191C1E"/>
                </a:solidFill>
                <a:latin typeface="Plus Jakarta Sans"/>
              </a:rPr>
              <a:t>Correção que preserva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545F73"/>
                </a:solidFill>
                <a:latin typeface="Plus Jakarta Sans"/>
              </a:rPr>
              <a:t>o registro original continua rastreável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51596" y="2834640"/>
            <a:ext cx="3454298" cy="1691640"/>
          </a:xfrm>
          <a:prstGeom prst="roundRect">
            <a:avLst>
              <a:gd name="adj" fmla="val 7567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371636" y="2834640"/>
            <a:ext cx="2814218" cy="1691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900" b="1">
                <a:solidFill>
                  <a:srgbClr val="191C1E"/>
                </a:solidFill>
                <a:latin typeface="Plus Jakarta Sans"/>
              </a:rPr>
              <a:t>Pulada ≠ sem resposta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545F73"/>
                </a:solidFill>
                <a:latin typeface="Plus Jakarta Sans"/>
              </a:rPr>
              <a:t>histórico fiel para o profissional de saúde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4892040"/>
            <a:ext cx="1082009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1" spc="200">
                <a:solidFill>
                  <a:srgbClr val="545F73"/>
                </a:solidFill>
                <a:latin typeface="Plus Jakarta Sans"/>
              </a:rPr>
              <a:t>LIMITAÇÕES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91C1E"/>
                </a:solidFill>
                <a:latin typeface="Plus Jakarta Sans"/>
              </a:rPr>
              <a:t>Um modelo de aparelho  ·  sem teste com usuários  ·  só Android  ·  anexos ficam no aparelho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spc="200">
                <a:solidFill>
                  <a:srgbClr val="0B5FD9"/>
                </a:solidFill>
                <a:latin typeface="Plus Jakarta Sans"/>
              </a:rPr>
              <a:t>TRABALHOS FUTUROS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>
                <a:solidFill>
                  <a:srgbClr val="191C1E"/>
                </a:solidFill>
                <a:latin typeface="Plus Jakarta Sans"/>
              </a:rPr>
              <a:t>Próximos passos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41908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545F73"/>
                </a:solidFill>
                <a:latin typeface="Plus Jakarta Sans"/>
              </a:rPr>
              <a:t>Mapill  ·  Gabriel Steffens  ·  Sistemas de Informação, UNIDAVI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91495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1">
                <a:solidFill>
                  <a:srgbClr val="545F73"/>
                </a:solidFill>
                <a:latin typeface="Plus Jakarta Sans"/>
              </a:rPr>
              <a:t>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783080"/>
            <a:ext cx="10820095" cy="713232"/>
          </a:xfrm>
          <a:prstGeom prst="roundRect">
            <a:avLst>
              <a:gd name="adj" fmla="val 17948"/>
            </a:avLst>
          </a:prstGeom>
          <a:solidFill>
            <a:srgbClr val="EAF1FE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54864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B5FD9"/>
                </a:solidFill>
                <a:latin typeface="Plus Jakarta Sans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1783080"/>
            <a:ext cx="914400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0A3F8F"/>
                </a:solidFill>
                <a:latin typeface="Plus Jakarta Sans"/>
              </a:rPr>
              <a:t>Avaliação de usabilidade com pacientes idosos e polimedicados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633472"/>
            <a:ext cx="10820095" cy="713232"/>
          </a:xfrm>
          <a:prstGeom prst="roundRect">
            <a:avLst>
              <a:gd name="adj" fmla="val 17948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005840" y="2633472"/>
            <a:ext cx="54864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B5FD9"/>
                </a:solidFill>
                <a:latin typeface="Plus Jakarta Sans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633472"/>
            <a:ext cx="914400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91C1E"/>
                </a:solidFill>
                <a:latin typeface="Plus Jakarta Sans"/>
              </a:rPr>
              <a:t>Alarme validado em outros fabricantes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3483864"/>
            <a:ext cx="10820095" cy="713232"/>
          </a:xfrm>
          <a:prstGeom prst="roundRect">
            <a:avLst>
              <a:gd name="adj" fmla="val 17948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1005840" y="3483864"/>
            <a:ext cx="54864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B5FD9"/>
                </a:solidFill>
                <a:latin typeface="Plus Jakarta Sans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483864"/>
            <a:ext cx="914400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91C1E"/>
                </a:solidFill>
                <a:latin typeface="Plus Jakarta Sans"/>
              </a:rPr>
              <a:t>Versão para iOS e publicação nas lojas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4334256"/>
            <a:ext cx="10820095" cy="713232"/>
          </a:xfrm>
          <a:prstGeom prst="roundRect">
            <a:avLst>
              <a:gd name="adj" fmla="val 17948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005840" y="4334256"/>
            <a:ext cx="54864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B5FD9"/>
                </a:solidFill>
                <a:latin typeface="Plus Jakarta Sans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4334256"/>
            <a:ext cx="914400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91C1E"/>
                </a:solidFill>
                <a:latin typeface="Plus Jakarta Sans"/>
              </a:rPr>
              <a:t>Acesso de consulta para médicos e cuidadores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5184648"/>
            <a:ext cx="10820095" cy="713232"/>
          </a:xfrm>
          <a:prstGeom prst="roundRect">
            <a:avLst>
              <a:gd name="adj" fmla="val 17948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1005840" y="5184648"/>
            <a:ext cx="54864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B5FD9"/>
                </a:solidFill>
                <a:latin typeface="Plus Jakarta Sans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5184648"/>
            <a:ext cx="914400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91C1E"/>
                </a:solidFill>
                <a:latin typeface="Plus Jakarta Sans"/>
              </a:rPr>
              <a:t>Cuidado organizado por tratamento, como na oncologia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spc="200">
                <a:solidFill>
                  <a:srgbClr val="0B5FD9"/>
                </a:solidFill>
                <a:latin typeface="Plus Jakarta Sans"/>
              </a:rPr>
              <a:t>REFERÊNCIAS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41908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545F73"/>
                </a:solidFill>
                <a:latin typeface="Plus Jakarta Sans"/>
              </a:rPr>
              <a:t>Mapill  ·  Gabriel Steffens  ·  Sistemas de Informação, UNIDAVI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91495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1">
                <a:solidFill>
                  <a:srgbClr val="545F73"/>
                </a:solidFill>
                <a:latin typeface="Plus Jakarta Sans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005840"/>
            <a:ext cx="5257800" cy="5120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100" b="0">
                <a:solidFill>
                  <a:srgbClr val="191C1E"/>
                </a:solidFill>
                <a:latin typeface="Plus Jakarta Sans"/>
              </a:rPr>
              <a:t>ALLSOPP, John. </a:t>
            </a:r>
            <a:r>
              <a:rPr sz="1100" b="1">
                <a:solidFill>
                  <a:srgbClr val="191C1E"/>
                </a:solidFill>
                <a:latin typeface="Plus Jakarta Sans"/>
              </a:rPr>
              <a:t>The web's future is offline</a:t>
            </a:r>
            <a:r>
              <a:rPr sz="1100" b="0">
                <a:solidFill>
                  <a:srgbClr val="191C1E"/>
                </a:solidFill>
                <a:latin typeface="Plus Jakarta Sans"/>
              </a:rPr>
              <a:t>. beyond tellerrand, 2014. Disponível em: https://www.youtube.com/watch?v=VvwhcoZhoI4. Acesso em: 8 maio 2026.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100" b="0">
                <a:solidFill>
                  <a:srgbClr val="191C1E"/>
                </a:solidFill>
                <a:latin typeface="Plus Jakarta Sans"/>
              </a:rPr>
              <a:t>BADDELEY, Alan; EYSENCK, Michael W.; ANDERSON, Michael C. </a:t>
            </a:r>
            <a:r>
              <a:rPr sz="1100" b="1">
                <a:solidFill>
                  <a:srgbClr val="191C1E"/>
                </a:solidFill>
                <a:latin typeface="Plus Jakarta Sans"/>
              </a:rPr>
              <a:t>Memória</a:t>
            </a:r>
            <a:r>
              <a:rPr sz="1100" b="0">
                <a:solidFill>
                  <a:srgbClr val="191C1E"/>
                </a:solidFill>
                <a:latin typeface="Plus Jakarta Sans"/>
              </a:rPr>
              <a:t>. Porto Alegre: Artmed, 2010.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100" b="0">
                <a:solidFill>
                  <a:srgbClr val="191C1E"/>
                </a:solidFill>
                <a:latin typeface="Plus Jakarta Sans"/>
              </a:rPr>
              <a:t>BRASIL. [Lei Geral de Proteção de Dados Pessoais (LGPD)]. Lei nº 13.709, de 14 de agosto de 2018. Brasília, DF: Presidência da República, 2018.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100" b="0">
                <a:solidFill>
                  <a:srgbClr val="191C1E"/>
                </a:solidFill>
                <a:latin typeface="Plus Jakarta Sans"/>
              </a:rPr>
              <a:t>BRUNTON, Laurence L.; KNOLLMANN, Björn C. (ed.). </a:t>
            </a:r>
            <a:r>
              <a:rPr sz="1100" b="1">
                <a:solidFill>
                  <a:srgbClr val="191C1E"/>
                </a:solidFill>
                <a:latin typeface="Plus Jakarta Sans"/>
              </a:rPr>
              <a:t>As bases farmacológicas da terapêutica de Goodman &amp; Gilman</a:t>
            </a:r>
            <a:r>
              <a:rPr sz="1100" b="0">
                <a:solidFill>
                  <a:srgbClr val="191C1E"/>
                </a:solidFill>
                <a:latin typeface="Plus Jakarta Sans"/>
              </a:rPr>
              <a:t>. 14. ed. Porto Alegre: Artmed, 2024.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100" b="0">
                <a:solidFill>
                  <a:srgbClr val="191C1E"/>
                </a:solidFill>
                <a:latin typeface="Plus Jakarta Sans"/>
              </a:rPr>
              <a:t>KLEPPMANN, Martin. </a:t>
            </a:r>
            <a:r>
              <a:rPr sz="1100" b="1">
                <a:solidFill>
                  <a:srgbClr val="191C1E"/>
                </a:solidFill>
                <a:latin typeface="Plus Jakarta Sans"/>
              </a:rPr>
              <a:t>Designing data-intensive applications</a:t>
            </a:r>
            <a:r>
              <a:rPr sz="1100" b="0">
                <a:solidFill>
                  <a:srgbClr val="191C1E"/>
                </a:solidFill>
                <a:latin typeface="Plus Jakarta Sans"/>
              </a:rPr>
              <a:t>: the big ideas behind reliable, scalable, and maintainable systems. Sebastopol: O'Reilly Media, 2017.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100" b="0">
                <a:solidFill>
                  <a:srgbClr val="191C1E"/>
                </a:solidFill>
                <a:latin typeface="Plus Jakarta Sans"/>
              </a:rPr>
              <a:t>LOSHIN, David. </a:t>
            </a:r>
            <a:r>
              <a:rPr sz="1100" b="1">
                <a:solidFill>
                  <a:srgbClr val="191C1E"/>
                </a:solidFill>
                <a:latin typeface="Plus Jakarta Sans"/>
              </a:rPr>
              <a:t>Master data management</a:t>
            </a:r>
            <a:r>
              <a:rPr sz="1100" b="0">
                <a:solidFill>
                  <a:srgbClr val="191C1E"/>
                </a:solidFill>
                <a:latin typeface="Plus Jakarta Sans"/>
              </a:rPr>
              <a:t>. Burlington: Morgan Kaufmann, 2010.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100" b="0">
                <a:solidFill>
                  <a:srgbClr val="191C1E"/>
                </a:solidFill>
                <a:latin typeface="Plus Jakarta Sans"/>
              </a:rPr>
              <a:t>MARTIN, Robert C. </a:t>
            </a:r>
            <a:r>
              <a:rPr sz="1100" b="1">
                <a:solidFill>
                  <a:srgbClr val="191C1E"/>
                </a:solidFill>
                <a:latin typeface="Plus Jakarta Sans"/>
              </a:rPr>
              <a:t>Arquitetura limpa</a:t>
            </a:r>
            <a:r>
              <a:rPr sz="1100" b="0">
                <a:solidFill>
                  <a:srgbClr val="191C1E"/>
                </a:solidFill>
                <a:latin typeface="Plus Jakarta Sans"/>
              </a:rPr>
              <a:t>: o guia do artesão para estrutura e design de software. Rio de Janeiro: Alta Books, 2019.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005840"/>
            <a:ext cx="5257800" cy="5120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100" b="0">
                <a:solidFill>
                  <a:srgbClr val="191C1E"/>
                </a:solidFill>
                <a:latin typeface="Plus Jakarta Sans"/>
              </a:rPr>
              <a:t>MEDISAFE. </a:t>
            </a:r>
            <a:r>
              <a:rPr sz="1100" b="1">
                <a:solidFill>
                  <a:srgbClr val="191C1E"/>
                </a:solidFill>
                <a:latin typeface="Plus Jakarta Sans"/>
              </a:rPr>
              <a:t>Medisafe</a:t>
            </a:r>
            <a:r>
              <a:rPr sz="1100" b="0">
                <a:solidFill>
                  <a:srgbClr val="191C1E"/>
                </a:solidFill>
                <a:latin typeface="Plus Jakarta Sans"/>
              </a:rPr>
              <a:t>: medication management. 2026. Disponível em: https://www.medisafe.com. Acesso em: 20 ago. 2026.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100" b="0">
                <a:solidFill>
                  <a:srgbClr val="191C1E"/>
                </a:solidFill>
                <a:latin typeface="Plus Jakarta Sans"/>
              </a:rPr>
              <a:t>MYTHERAPY. </a:t>
            </a:r>
            <a:r>
              <a:rPr sz="1100" b="1">
                <a:solidFill>
                  <a:srgbClr val="191C1E"/>
                </a:solidFill>
                <a:latin typeface="Plus Jakarta Sans"/>
              </a:rPr>
              <a:t>MyTherapy</a:t>
            </a:r>
            <a:r>
              <a:rPr sz="1100" b="0">
                <a:solidFill>
                  <a:srgbClr val="191C1E"/>
                </a:solidFill>
                <a:latin typeface="Plus Jakarta Sans"/>
              </a:rPr>
              <a:t>: medication reminder and pill tracker. 2026. Disponível em: https://www.mytherapyapp.com. Acesso em: 20 ago. 2026.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100" b="0">
                <a:solidFill>
                  <a:srgbClr val="191C1E"/>
                </a:solidFill>
                <a:latin typeface="Plus Jakarta Sans"/>
              </a:rPr>
              <a:t>NIELSEN, Jakob. </a:t>
            </a:r>
            <a:r>
              <a:rPr sz="1100" b="1">
                <a:solidFill>
                  <a:srgbClr val="191C1E"/>
                </a:solidFill>
                <a:latin typeface="Plus Jakarta Sans"/>
              </a:rPr>
              <a:t>Usability engineering</a:t>
            </a:r>
            <a:r>
              <a:rPr sz="1100" b="0">
                <a:solidFill>
                  <a:srgbClr val="191C1E"/>
                </a:solidFill>
                <a:latin typeface="Plus Jakarta Sans"/>
              </a:rPr>
              <a:t>. San Diego: Academic Press, 1994.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100" b="0">
                <a:solidFill>
                  <a:srgbClr val="191C1E"/>
                </a:solidFill>
                <a:latin typeface="Plus Jakarta Sans"/>
              </a:rPr>
              <a:t>NORMAN, Donald A. </a:t>
            </a:r>
            <a:r>
              <a:rPr sz="1100" b="1">
                <a:solidFill>
                  <a:srgbClr val="191C1E"/>
                </a:solidFill>
                <a:latin typeface="Plus Jakarta Sans"/>
              </a:rPr>
              <a:t>The design of everyday things</a:t>
            </a:r>
            <a:r>
              <a:rPr sz="1100" b="0">
                <a:solidFill>
                  <a:srgbClr val="191C1E"/>
                </a:solidFill>
                <a:latin typeface="Plus Jakarta Sans"/>
              </a:rPr>
              <a:t>. Revised and expanded edition. New York: Basic Books, 2013.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100" b="0">
                <a:solidFill>
                  <a:srgbClr val="191C1E"/>
                </a:solidFill>
                <a:latin typeface="Plus Jakarta Sans"/>
              </a:rPr>
              <a:t>RISKO, Evan F.; GILBERT, Sam J. Cognitive offloading. </a:t>
            </a:r>
            <a:r>
              <a:rPr sz="1100" b="1">
                <a:solidFill>
                  <a:srgbClr val="191C1E"/>
                </a:solidFill>
                <a:latin typeface="Plus Jakarta Sans"/>
              </a:rPr>
              <a:t>Trends in Cognitive Sciences</a:t>
            </a:r>
            <a:r>
              <a:rPr sz="1100" b="0">
                <a:solidFill>
                  <a:srgbClr val="191C1E"/>
                </a:solidFill>
                <a:latin typeface="Plus Jakarta Sans"/>
              </a:rPr>
              <a:t>, v. 20, n. 9, p. 676-688, 2016.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100" b="0">
                <a:solidFill>
                  <a:srgbClr val="191C1E"/>
                </a:solidFill>
                <a:latin typeface="Plus Jakarta Sans"/>
              </a:rPr>
              <a:t>WORLD HEALTH ORGANIZATION (WHO). </a:t>
            </a:r>
            <a:r>
              <a:rPr sz="1100" b="1">
                <a:solidFill>
                  <a:srgbClr val="191C1E"/>
                </a:solidFill>
                <a:latin typeface="Plus Jakarta Sans"/>
              </a:rPr>
              <a:t>Adherence to long-term therapies</a:t>
            </a:r>
            <a:r>
              <a:rPr sz="1100" b="0">
                <a:solidFill>
                  <a:srgbClr val="191C1E"/>
                </a:solidFill>
                <a:latin typeface="Plus Jakarta Sans"/>
              </a:rPr>
              <a:t>: evidence for action. Geneva: World Health Organization, 2003.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100" b="0">
                <a:solidFill>
                  <a:srgbClr val="191C1E"/>
                </a:solidFill>
                <a:latin typeface="Plus Jakarta Sans"/>
              </a:rPr>
              <a:t>WORLD WIDE WEB CONSORTIUM (W3C). </a:t>
            </a:r>
            <a:r>
              <a:rPr sz="1100" b="1">
                <a:solidFill>
                  <a:srgbClr val="191C1E"/>
                </a:solidFill>
                <a:latin typeface="Plus Jakarta Sans"/>
              </a:rPr>
              <a:t>Web Content Accessibility Guidelines (WCAG) 2.1</a:t>
            </a:r>
            <a:r>
              <a:rPr sz="1100" b="0">
                <a:solidFill>
                  <a:srgbClr val="191C1E"/>
                </a:solidFill>
                <a:latin typeface="Plus Jakarta Sans"/>
              </a:rPr>
              <a:t>. Cambridge, MA: W3C, 2018. Disponível em: https://www.w3.org/TR/WCAG21/. Acesso em: 10 set. 2026.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818120" y="0"/>
            <a:ext cx="4373575" cy="6858000"/>
          </a:xfrm>
          <a:prstGeom prst="rect">
            <a:avLst/>
          </a:prstGeom>
          <a:solidFill>
            <a:srgbClr val="EAF1FE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8403336" y="1280160"/>
            <a:ext cx="3200400" cy="4206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pic>
        <p:nvPicPr>
          <p:cNvPr id="4" name="Picture 3" descr="q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69096" y="1645920"/>
            <a:ext cx="2468880" cy="24688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403336" y="4343400"/>
            <a:ext cx="32004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91C1E"/>
                </a:solidFill>
                <a:latin typeface="Plus Jakarta Sans"/>
              </a:rPr>
              <a:t>Conheça o Mapill</a:t>
            </a:r>
          </a:p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545F73"/>
                </a:solidFill>
                <a:latin typeface="Plus Jakarta Sans"/>
              </a:rPr>
              <a:t>Página do app, com o APK para Android</a:t>
            </a:r>
          </a:p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300" b="1">
                <a:solidFill>
                  <a:srgbClr val="0B5FD9"/>
                </a:solidFill>
                <a:latin typeface="Plus Jakarta Sans"/>
              </a:rPr>
              <a:t>mapill-website.vercel.app</a:t>
            </a:r>
          </a:p>
        </p:txBody>
      </p:sp>
      <p:pic>
        <p:nvPicPr>
          <p:cNvPr id="6" name="Picture 5" descr="lockup-clar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1188720"/>
            <a:ext cx="2196757" cy="7315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2331720"/>
            <a:ext cx="6400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191C1E"/>
                </a:solidFill>
                <a:latin typeface="Plus Jakarta Sans"/>
              </a:rPr>
              <a:t>Obrigado!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657600"/>
            <a:ext cx="640080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600" b="1">
                <a:solidFill>
                  <a:srgbClr val="191C1E"/>
                </a:solidFill>
                <a:latin typeface="Plus Jakarta Sans"/>
              </a:rPr>
              <a:t>Gabriel Steffens</a:t>
            </a:r>
          </a:p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400" b="0">
                <a:solidFill>
                  <a:srgbClr val="545F73"/>
                </a:solidFill>
                <a:latin typeface="Plus Jakarta Sans"/>
              </a:rPr>
              <a:t>Sistemas de Informação, 8ª fase</a:t>
            </a:r>
          </a:p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400" b="0">
                <a:solidFill>
                  <a:srgbClr val="545F73"/>
                </a:solidFill>
                <a:latin typeface="Plus Jakarta Sans"/>
              </a:rPr>
              <a:t>Orientador: Prof. Me. Marciel de Liz Santos</a:t>
            </a:r>
          </a:p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400" b="0">
                <a:solidFill>
                  <a:srgbClr val="0B5FD9"/>
                </a:solidFill>
                <a:latin typeface="Plus Jakarta Sans"/>
              </a:rPr>
              <a:t>gabrielsteffens2003@gmail.com</a:t>
            </a:r>
          </a:p>
        </p:txBody>
      </p:sp>
      <p:pic>
        <p:nvPicPr>
          <p:cNvPr id="9" name="Picture 8" descr="unidavi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5715000"/>
            <a:ext cx="608798" cy="5029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