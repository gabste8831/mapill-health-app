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6858000" cx="12191675"/>
  <p:notesSz cx="6858000" cy="9144000"/>
  <p:embeddedFontLst>
    <p:embeddedFont>
      <p:font typeface="Plus Jakarta Sans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iMPn0XDcLCRQ4gwa+N8yRuHgTF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PlusJakartaSans-bold.fntdata"/><Relationship Id="rId23" Type="http://schemas.openxmlformats.org/officeDocument/2006/relationships/font" Target="fonts/PlusJakartaSans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PlusJakartaSans-boldItalic.fntdata"/><Relationship Id="rId25" Type="http://schemas.openxmlformats.org/officeDocument/2006/relationships/font" Target="fonts/PlusJakartaSans-italic.fntdata"/><Relationship Id="rId27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[20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  <a:endParaRPr/>
          </a:p>
        </p:txBody>
      </p:sp>
      <p:sp>
        <p:nvSpPr>
          <p:cNvPr id="95" name="Google Shape;9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[30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  <a:endParaRPr/>
          </a:p>
        </p:txBody>
      </p:sp>
      <p:sp>
        <p:nvSpPr>
          <p:cNvPr id="111" name="Google Shape;11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Essa frase abre o meu trabalho, e resume por que ele existe. As duas falhas que eu comentei aparecem no dia a dia de formas bem concretas. Na cognitiva, o paciente esquece a dose, ou não lembra se já tomou. O Mapill avisa no horário, mesmo com o aplicativo fechado, e guarda cada resposta com data e hora. Na logística, o remédio acaba sem aviso, ou a consulta e a receita passam do prazo. O app desconta o estoque a cada dose e avisa antes de acabar, e lembra dos compromissos e da validade da receita.</a:t>
            </a:r>
            <a:endParaRPr/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 o que já existe no mercado não resolve isso por completo. Os dois aplicativos mais conhecidos são o Medisafe e o MyTherapy. O Medisafe passou, em janeiro deste ano, a aceitar só dois medicamentos no plano gratuito, e o aviso de estoque ficou pago. O MyTherapy é gratuito, mas se sustenta repassando dados de uso, anonimizados, para empresas farmacêuticas. E nenhum dos dois descreve suporte a uma dose que muda conforme o horário, comum em tratamentos como o de insulina. O Mapill troca amplitude por profundidade, sem cobrar e sem repassar dados.</a:t>
            </a:r>
            <a:endParaRPr/>
          </a:p>
        </p:txBody>
      </p:sp>
      <p:sp>
        <p:nvSpPr>
          <p:cNvPr id="142" name="Google Shape;142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  <a:endParaRPr/>
          </a:p>
        </p:txBody>
      </p:sp>
      <p:sp>
        <p:nvSpPr>
          <p:cNvPr id="178" name="Google Shape;17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9" name="Google Shape;209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 min]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Vou passar rápido pela fundamentação, só pelo que justifica as principais decisões do projeto. Esquecer a dose é uma falha da memória prospectiva, que é lembrar de fazer algo no futuro, e por isso o centro do app é um alarme. A desoneração cognitiva explica por que o app deve calcular estoque e horários pelo paciente. O conceito de fonte única de verdade justifica juntar tudo num só lugar. O paradigma offline-first e o critério Last-Write-Wins sustentam o funcionamento sem internet e a sincronização. E as heurísticas de Nielsen, as diretrizes de acessibilidade da WCAG e a LGPD orientam a interface e o tratamento dos dados de saúde.</a:t>
            </a:r>
            <a:endParaRPr/>
          </a:p>
        </p:txBody>
      </p:sp>
      <p:sp>
        <p:nvSpPr>
          <p:cNvPr id="210" name="Google Shape;210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8" name="Google Shape;23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Agora o Mapill em si. O desenvolvimento partiu de três exigências. O app tinha de funcionar sem internet, representar o tratamento com fidelidade, inclusive quando a dose muda ao longo do dia, e lembrar o paciente mesmo com o aplicativo fechado, que é justamente quando ele mais precisa. Desde o início, defini também o que o Mapill não é. Ele é um registro clínico pessoal, que lembra da dose e guarda o que de fato aconteceu. Ele não prescreve, não sugere dose e não avalia se o tratamento está certo, porque esse papel é do profissional de saúde. Cada conta é de um paciente, e dá para usar tudo sem criar conta.</a:t>
            </a:r>
            <a:endParaRPr/>
          </a:p>
        </p:txBody>
      </p:sp>
      <p:sp>
        <p:nvSpPr>
          <p:cNvPr id="239" name="Google Shape;23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2" name="Google Shape;262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  <a:endParaRPr/>
          </a:p>
        </p:txBody>
      </p:sp>
      <p:sp>
        <p:nvSpPr>
          <p:cNvPr id="263" name="Google Shape;263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9" name="Google Shape;289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Das vinte regras de negócio, estas quatro mostram o cuidado com o registro clínico. Uma dose que o paciente não respondeu nunca é marcada como pulada só porque o tempo passou, porque o app não pode afirmar algo que ninguém disse. O estoque desconta exatamente a quantidade da dose, então quem toma dois comprimidos de uma vez tem dois descontados. Uma correção nunca apaga o registro antigo, ela cria um novo apontando para ele, como num prontuário. E remédios no mesmo horário geram um aviso só, que pode ser adiado uma única vez, por cinco minutos.</a:t>
            </a:r>
            <a:endParaRPr/>
          </a:p>
        </p:txBody>
      </p:sp>
      <p:sp>
        <p:nvSpPr>
          <p:cNvPr id="290" name="Google Shape;290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5" name="Google Shape;315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  <a:endParaRPr/>
          </a:p>
        </p:txBody>
      </p:sp>
      <p:sp>
        <p:nvSpPr>
          <p:cNvPr id="316" name="Google Shape;316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3" name="Google Shape;333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[8 min]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Agora vou mostrar o aplicativo funcionando no meu celular.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Caminho (detalhe no roteiro):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a. Cadastro por código de barras (1 min 30 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b. Tela inicial (45 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c. Alarme com o celular bloqueado (2 min)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d. Adesão, calendário e correção (1 min 30 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e. Relatório em PDF (1 min)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f. Temas e cores (45 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Folga de 30 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 o espelhamento falhar, abrir o vídeo reserva no trecho correspondente. Se tudo falhar, narrar a partir das telas deste slide.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 atrasar, cortar nesta ordem: f, depois e, depois a correção em d.</a:t>
            </a:r>
            <a:endParaRPr/>
          </a:p>
        </p:txBody>
      </p:sp>
      <p:sp>
        <p:nvSpPr>
          <p:cNvPr id="334" name="Google Shape;334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5" name="Google Shape;355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 min]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validação foi feita por mim, num aparelho físico, seguindo um roteiro escrito em que cada passo tinha o resultado esperado. O segundo aparelho foi simulado direto na base remota. Os cinco cenários da arquitetura offline-first foram aprovados, três deles depois de ajustes que os próprios testes revelaram, como fazer a edição mais recente prevalecer também no servidor. O alarme funcionou nas quatro combinações de celular bloqueado ou em uso, com o app nos recentes ou fora deles. A limitação apareceu depois de reiniciar o celular. O alarme só tocou quando o aparelho foi desbloqueado, por uma restrição de inicialização automática que o fabricante aplica, e que o Android não deixa contornar. O app passou a orientar o paciente a liberar essa permissão.</a:t>
            </a:r>
            <a:endParaRPr/>
          </a:p>
        </p:txBody>
      </p:sp>
      <p:sp>
        <p:nvSpPr>
          <p:cNvPr id="356" name="Google Shape;356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5" name="Google Shape;385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 min]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objetivos foram atendidos, com a ressalva do alarme depois de reiniciar o celular. O trabalho mostra que é possível ter, no mesmo aplicativo, o funcionamento sem internet e a fidelidade do registro clínico. Os diferenciais em relação ao que as soluções analisadas descrevem são descontar o estoque pela dose de verdade, corrigir sem apagar o que foi registrado e separar a dose pulada da dose sem resposta, o que deixa confiável o histórico levado ao médico. As limitações são claras. Testei em um só modelo de aparelho, sem usuários do público-alvo, e apenas no Android, e as fotos e receitas anexadas ainda ficam só no aparelho.</a:t>
            </a:r>
            <a:endParaRPr/>
          </a:p>
        </p:txBody>
      </p:sp>
      <p:sp>
        <p:nvSpPr>
          <p:cNvPr id="386" name="Google Shape;386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3" name="Google Shape;403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[40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Como próximos passos, o principal é avaliar o app com os pacientes para quem ele foi pensado, idosos e polimedicados, porque só assim dá para medir o efeito real na adesão. Também quero validar o alarme em aparelhos de outros fabricantes, fazer a versão para iOS e publicar nas lojas, permitir que médicos e cuidadores consultem a conta do paciente e organizar o cuidado por tratamento, como numa terapia oncológica com várias sessões e remédios ao mesmo tempo.</a:t>
            </a:r>
            <a:endParaRPr/>
          </a:p>
        </p:txBody>
      </p:sp>
      <p:sp>
        <p:nvSpPr>
          <p:cNvPr id="404" name="Google Shape;404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7" name="Google Shape;427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[só passar, ou mostrar se a banca pedir]</a:t>
            </a:r>
            <a:endParaRPr/>
          </a:p>
        </p:txBody>
      </p:sp>
      <p:sp>
        <p:nvSpPr>
          <p:cNvPr id="428" name="Google Shape;428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7" name="Google Shape;437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[15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Encerro por aqui. Quem quiser conhecer o Mapill pode usar o QR code, que leva à página do aplicativo, onde também está o APK para instalar no Android. Obrigado pela atenção, e fico à disposição para as perguntas.</a:t>
            </a:r>
            <a:endParaRPr/>
          </a:p>
        </p:txBody>
      </p:sp>
      <p:sp>
        <p:nvSpPr>
          <p:cNvPr id="438" name="Google Shape;438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10.png"/><Relationship Id="rId6" Type="http://schemas.openxmlformats.org/officeDocument/2006/relationships/image" Target="../media/image5.png"/><Relationship Id="rId7" Type="http://schemas.openxmlformats.org/officeDocument/2006/relationships/image" Target="../media/image8.jpg"/><Relationship Id="rId8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nidavi.pn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548640"/>
            <a:ext cx="686281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1463040" y="566928"/>
            <a:ext cx="5943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Centro Universitário para o Desenvolvimento do Alto Vale do Itajaí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Curso de Sistemas de Informação</a:t>
            </a:r>
            <a:endParaRPr/>
          </a:p>
        </p:txBody>
      </p:sp>
      <p:pic>
        <p:nvPicPr>
          <p:cNvPr descr="lockup-claro.png" id="87" name="Google Shape;87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874519"/>
            <a:ext cx="2608649" cy="86868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Aplicação móvel para mitigação de falhas logísticas e cognitivas na adesão ao tratamento medicamentoso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Acadêmico  </a:t>
            </a:r>
            <a:r>
              <a:rPr b="1" i="0" lang="en-US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  </a:t>
            </a:r>
            <a:r>
              <a:rPr b="1" i="0" lang="en-US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Prof. Me. Marciel de Liz Santos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Rio do Sul, 2026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71_1.png" id="91" name="Google Shape;9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32520" y="777240"/>
            <a:ext cx="2361778" cy="5303520"/>
          </a:xfrm>
          <a:prstGeom prst="roundRect">
            <a:avLst>
              <a:gd fmla="val 10840" name="adj"/>
            </a:avLst>
          </a:prstGeom>
          <a:noFill/>
          <a:ln cap="flat" cmpd="sng" w="38100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  <a:effectLst>
            <a:outerShdw blurRad="214313" rotWithShape="0" algn="bl" dir="5400000" dist="66675">
              <a:srgbClr val="000000">
                <a:alpha val="1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INTRODUÇÃO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descontinuidade do tratamento desafia a saúde pública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adesão depende de muitos fatores, e não só do paciente (WHO, 2003)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Polifarmácia e tratamentos longos geram sobrecarga mental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Esquecer a dose no horário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acabar ou a consulta passar sem perceber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PROBLEMA DE PESQUISA</a:t>
            </a:r>
            <a:endParaRPr/>
          </a:p>
        </p:txBody>
      </p:sp>
      <p:sp>
        <p:nvSpPr>
          <p:cNvPr id="114" name="Google Shape;114;p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115" name="Google Shape;115;p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/>
          </a:p>
        </p:txBody>
      </p:sp>
      <p:sp>
        <p:nvSpPr>
          <p:cNvPr id="116" name="Google Shape;116;p3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</a:t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 que maneira uma aplicação móvel, baseada em arquitetura </a:t>
            </a:r>
            <a:r>
              <a:rPr b="1" i="1" lang="en-US" sz="27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0" lang="en-US" sz="2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pode centralizar medicamentos, estoque e compromissos terapêuticos, com usabilidade, segurança e confiabilidade?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/>
          </a:p>
        </p:txBody>
      </p:sp>
      <p:sp>
        <p:nvSpPr>
          <p:cNvPr id="125" name="Google Shape;125;p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126" name="Google Shape;126;p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/>
          </a:p>
        </p:txBody>
      </p:sp>
      <p:sp>
        <p:nvSpPr>
          <p:cNvPr id="127" name="Google Shape;127;p4"/>
          <p:cNvSpPr txBox="1"/>
          <p:nvPr/>
        </p:nvSpPr>
        <p:spPr>
          <a:xfrm>
            <a:off x="685800" y="868680"/>
            <a:ext cx="1082009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“Os medicamentos não funcionam em pacientes que não os tomam.”</a:t>
            </a:r>
            <a:endParaRPr/>
          </a:p>
        </p:txBody>
      </p:sp>
      <p:sp>
        <p:nvSpPr>
          <p:cNvPr id="128" name="Google Shape;128;p4"/>
          <p:cNvSpPr txBox="1"/>
          <p:nvPr/>
        </p:nvSpPr>
        <p:spPr>
          <a:xfrm>
            <a:off x="685800" y="18288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Everett Koop, na epígrafe do TCC</a:t>
            </a: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685800" y="2377440"/>
            <a:ext cx="5272887" cy="342900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 txBox="1"/>
          <p:nvPr/>
        </p:nvSpPr>
        <p:spPr>
          <a:xfrm>
            <a:off x="1051560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/>
          </a:p>
        </p:txBody>
      </p:sp>
      <p:sp>
        <p:nvSpPr>
          <p:cNvPr id="131" name="Google Shape;131;p4"/>
          <p:cNvSpPr txBox="1"/>
          <p:nvPr/>
        </p:nvSpPr>
        <p:spPr>
          <a:xfrm>
            <a:off x="1051560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Esqueceu a dose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no horário, mesmo com o app fechado</a:t>
            </a:r>
            <a:endParaRPr/>
          </a:p>
        </p:txBody>
      </p:sp>
      <p:sp>
        <p:nvSpPr>
          <p:cNvPr id="132" name="Google Shape;132;p4"/>
          <p:cNvSpPr/>
          <p:nvPr/>
        </p:nvSpPr>
        <p:spPr>
          <a:xfrm>
            <a:off x="1051560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 txBox="1"/>
          <p:nvPr/>
        </p:nvSpPr>
        <p:spPr>
          <a:xfrm>
            <a:off x="1051560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lembra se já tomou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resposta fica registrada com data e hora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6233007" y="2377440"/>
            <a:ext cx="5272887" cy="342900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6598767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/>
          </a:p>
        </p:txBody>
      </p:sp>
      <p:sp>
        <p:nvSpPr>
          <p:cNvPr id="136" name="Google Shape;136;p4"/>
          <p:cNvSpPr txBox="1"/>
          <p:nvPr/>
        </p:nvSpPr>
        <p:spPr>
          <a:xfrm>
            <a:off x="6598767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acabou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estoque descontado a cada dose, com aviso antes de acabar</a:t>
            </a:r>
            <a:endParaRPr/>
          </a:p>
        </p:txBody>
      </p:sp>
      <p:sp>
        <p:nvSpPr>
          <p:cNvPr id="137" name="Google Shape;137;p4"/>
          <p:cNvSpPr/>
          <p:nvPr/>
        </p:nvSpPr>
        <p:spPr>
          <a:xfrm>
            <a:off x="6598767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6598767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consulta ou a receita passou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compromissos e validade da receita com lembrete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/>
          </a:p>
        </p:txBody>
      </p:sp>
      <p:sp>
        <p:nvSpPr>
          <p:cNvPr id="145" name="Google Shape;145;p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mercado cobra, repassa dados ou simplifica a posologia</a:t>
            </a:r>
            <a:endParaRPr/>
          </a:p>
        </p:txBody>
      </p:sp>
      <p:sp>
        <p:nvSpPr>
          <p:cNvPr id="146" name="Google Shape;146;p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147" name="Google Shape;147;p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/>
          </a:p>
        </p:txBody>
      </p:sp>
      <p:sp>
        <p:nvSpPr>
          <p:cNvPr id="148" name="Google Shape;148;p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fmla="val 352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fmla="val 7692" name="adj"/>
            </a:avLst>
          </a:prstGeom>
          <a:solidFill>
            <a:srgbClr val="F5F7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/>
          </a:p>
        </p:txBody>
      </p:sp>
      <p:sp>
        <p:nvSpPr>
          <p:cNvPr id="151" name="Google Shape;151;p5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/>
          </a:p>
        </p:txBody>
      </p:sp>
      <p:sp>
        <p:nvSpPr>
          <p:cNvPr id="152" name="Google Shape;152;p5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/>
          </a:p>
        </p:txBody>
      </p:sp>
      <p:sp>
        <p:nvSpPr>
          <p:cNvPr id="153" name="Google Shape;153;p5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Funcionalidades essenciais gratuitas</a:t>
            </a:r>
            <a:endParaRPr/>
          </a:p>
        </p:txBody>
      </p:sp>
      <p:sp>
        <p:nvSpPr>
          <p:cNvPr id="154" name="Google Shape;154;p5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55" name="Google Shape;155;p5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/>
          </a:p>
        </p:txBody>
      </p:sp>
      <p:sp>
        <p:nvSpPr>
          <p:cNvPr id="156" name="Google Shape;156;p5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57" name="Google Shape;157;p5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Gratuidade sem repasse de dados a terceiros</a:t>
            </a:r>
            <a:endParaRPr/>
          </a:p>
        </p:txBody>
      </p:sp>
      <p:sp>
        <p:nvSpPr>
          <p:cNvPr id="158" name="Google Shape;158;p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59" name="Google Shape;159;p5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/>
          </a:p>
        </p:txBody>
      </p:sp>
      <p:sp>
        <p:nvSpPr>
          <p:cNvPr id="160" name="Google Shape;160;p5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/>
          </a:p>
        </p:txBody>
      </p:sp>
      <p:sp>
        <p:nvSpPr>
          <p:cNvPr id="161" name="Google Shape;161;p5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Funcionamento sem conta</a:t>
            </a:r>
            <a:endParaRPr/>
          </a:p>
        </p:txBody>
      </p:sp>
      <p:sp>
        <p:nvSpPr>
          <p:cNvPr id="162" name="Google Shape;162;p5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63" name="Google Shape;163;p5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/>
          </a:p>
        </p:txBody>
      </p:sp>
      <p:sp>
        <p:nvSpPr>
          <p:cNvPr id="164" name="Google Shape;164;p5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65" name="Google Shape;165;p5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Controle de estoque com aviso, sem custo</a:t>
            </a:r>
            <a:endParaRPr/>
          </a:p>
        </p:txBody>
      </p:sp>
      <p:sp>
        <p:nvSpPr>
          <p:cNvPr id="166" name="Google Shape;166;p5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67" name="Google Shape;167;p5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/>
          </a:p>
        </p:txBody>
      </p:sp>
      <p:sp>
        <p:nvSpPr>
          <p:cNvPr id="168" name="Google Shape;168;p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69" name="Google Shape;169;p5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 variável por horário</a:t>
            </a:r>
            <a:endParaRPr/>
          </a:p>
        </p:txBody>
      </p:sp>
      <p:sp>
        <p:nvSpPr>
          <p:cNvPr id="170" name="Google Shape;170;p5"/>
          <p:cNvSpPr txBox="1"/>
          <p:nvPr/>
        </p:nvSpPr>
        <p:spPr>
          <a:xfrm>
            <a:off x="4754938" y="4877126"/>
            <a:ext cx="1188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71" name="Google Shape;171;p5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/>
          </a:p>
        </p:txBody>
      </p:sp>
      <p:sp>
        <p:nvSpPr>
          <p:cNvPr id="172" name="Google Shape;172;p5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/>
          </a:p>
        </p:txBody>
      </p:sp>
      <p:sp>
        <p:nvSpPr>
          <p:cNvPr id="173" name="Google Shape;173;p5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adaptado do Quadro 2 do TCC, com base em Medisafe (2026) e MyTherapy (2026).</a:t>
            </a:r>
            <a:endParaRPr/>
          </a:p>
        </p:txBody>
      </p:sp>
      <p:sp>
        <p:nvSpPr>
          <p:cNvPr id="174" name="Google Shape;174;p5"/>
          <p:cNvSpPr txBox="1"/>
          <p:nvPr/>
        </p:nvSpPr>
        <p:spPr>
          <a:xfrm>
            <a:off x="8915400" y="1874525"/>
            <a:ext cx="2749500" cy="34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Grátis só com 2 medicamentos. </a:t>
            </a:r>
            <a:b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b="0" lang="en-US" sz="11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(desde jan. 2026)</a:t>
            </a:r>
            <a:endParaRPr b="0" sz="1100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Gratuito com repasse de dados anonimizados</a:t>
            </a:r>
            <a:endParaRPr b="0" sz="1500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Troca amplitude por profundidade no tratamento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</a:t>
            </a:r>
            <a:endParaRPr/>
          </a:p>
        </p:txBody>
      </p:sp>
      <p:sp>
        <p:nvSpPr>
          <p:cNvPr id="181" name="Google Shape;181;p6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Apoiar a rotina medicamentosa sem depender de conexão</a:t>
            </a:r>
            <a:endParaRPr/>
          </a:p>
        </p:txBody>
      </p:sp>
      <p:sp>
        <p:nvSpPr>
          <p:cNvPr id="182" name="Google Shape;182;p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183" name="Google Shape;183;p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6</a:t>
            </a:r>
            <a:endParaRPr/>
          </a:p>
        </p:txBody>
      </p:sp>
      <p:sp>
        <p:nvSpPr>
          <p:cNvPr id="184" name="Google Shape;184;p6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fmla="val 9032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 txBox="1"/>
          <p:nvPr/>
        </p:nvSpPr>
        <p:spPr>
          <a:xfrm>
            <a:off x="960135" y="2048375"/>
            <a:ext cx="100887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1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 GERAL</a:t>
            </a:r>
            <a:endParaRPr b="1" spc="200" sz="1100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pc="200" sz="1100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b="1" i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endParaRPr b="1"/>
          </a:p>
        </p:txBody>
      </p:sp>
      <p:sp>
        <p:nvSpPr>
          <p:cNvPr id="186" name="Google Shape;186;p6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/>
          </a:p>
        </p:txBody>
      </p:sp>
      <p:sp>
        <p:nvSpPr>
          <p:cNvPr id="189" name="Google Shape;189;p6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Levantar requisitos na literatura</a:t>
            </a:r>
            <a:endParaRPr/>
          </a:p>
        </p:txBody>
      </p:sp>
      <p:sp>
        <p:nvSpPr>
          <p:cNvPr id="190" name="Google Shape;190;p6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/>
          </a:p>
        </p:txBody>
      </p:sp>
      <p:sp>
        <p:nvSpPr>
          <p:cNvPr id="193" name="Google Shape;193;p6"/>
          <p:cNvSpPr txBox="1"/>
          <p:nvPr/>
        </p:nvSpPr>
        <p:spPr>
          <a:xfrm>
            <a:off x="3160715" y="4663440"/>
            <a:ext cx="15147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Especificar requisitos e regras de negócio</a:t>
            </a:r>
            <a:endParaRPr/>
          </a:p>
        </p:txBody>
      </p:sp>
      <p:sp>
        <p:nvSpPr>
          <p:cNvPr id="194" name="Google Shape;194;p6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/>
          </a:p>
        </p:txBody>
      </p:sp>
      <p:sp>
        <p:nvSpPr>
          <p:cNvPr id="197" name="Google Shape;197;p6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Projetar arquitetura, dados e telas</a:t>
            </a:r>
            <a:endParaRPr/>
          </a:p>
        </p:txBody>
      </p:sp>
      <p:sp>
        <p:nvSpPr>
          <p:cNvPr id="198" name="Google Shape;198;p6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/>
          </a:p>
        </p:txBody>
      </p:sp>
      <p:sp>
        <p:nvSpPr>
          <p:cNvPr id="201" name="Google Shape;201;p6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Implementar a aplicação</a:t>
            </a:r>
            <a:endParaRPr/>
          </a:p>
        </p:txBody>
      </p:sp>
      <p:sp>
        <p:nvSpPr>
          <p:cNvPr id="202" name="Google Shape;202;p6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6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/>
          </a:p>
        </p:txBody>
      </p:sp>
      <p:sp>
        <p:nvSpPr>
          <p:cNvPr id="205" name="Google Shape;205;p6"/>
          <p:cNvSpPr txBox="1"/>
          <p:nvPr/>
        </p:nvSpPr>
        <p:spPr>
          <a:xfrm>
            <a:off x="9762500" y="4663440"/>
            <a:ext cx="15147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Analisar o </a:t>
            </a:r>
            <a:r>
              <a:rPr b="1" i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em cenários controlados</a:t>
            </a:r>
            <a:endParaRPr/>
          </a:p>
        </p:txBody>
      </p:sp>
      <p:sp>
        <p:nvSpPr>
          <p:cNvPr id="206" name="Google Shape;206;p6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1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ESPECÍFICOS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7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FUNDAMENTAÇÃO</a:t>
            </a:r>
            <a:endParaRPr/>
          </a:p>
        </p:txBody>
      </p:sp>
      <p:sp>
        <p:nvSpPr>
          <p:cNvPr id="213" name="Google Shape;213;p7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conceito sustenta uma decisão do Mapill</a:t>
            </a:r>
            <a:endParaRPr/>
          </a:p>
        </p:txBody>
      </p:sp>
      <p:sp>
        <p:nvSpPr>
          <p:cNvPr id="214" name="Google Shape;214;p7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215" name="Google Shape;215;p7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7</a:t>
            </a:r>
            <a:endParaRPr/>
          </a:p>
        </p:txBody>
      </p:sp>
      <p:sp>
        <p:nvSpPr>
          <p:cNvPr id="216" name="Google Shape;216;p7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 txBox="1"/>
          <p:nvPr/>
        </p:nvSpPr>
        <p:spPr>
          <a:xfrm>
            <a:off x="1005840" y="1783080"/>
            <a:ext cx="5120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 prospectiva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Baddeley; Eysenck; Anderson, 2010</a:t>
            </a:r>
            <a:endParaRPr/>
          </a:p>
        </p:txBody>
      </p:sp>
      <p:sp>
        <p:nvSpPr>
          <p:cNvPr id="218" name="Google Shape;218;p7"/>
          <p:cNvSpPr txBox="1"/>
          <p:nvPr/>
        </p:nvSpPr>
        <p:spPr>
          <a:xfrm>
            <a:off x="5989320" y="1783080"/>
            <a:ext cx="4572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</a:t>
            </a:r>
            <a:endParaRPr/>
          </a:p>
        </p:txBody>
      </p:sp>
      <p:sp>
        <p:nvSpPr>
          <p:cNvPr id="219" name="Google Shape;219;p7"/>
          <p:cNvSpPr txBox="1"/>
          <p:nvPr/>
        </p:nvSpPr>
        <p:spPr>
          <a:xfrm>
            <a:off x="6537960" y="1783080"/>
            <a:ext cx="475488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alarme é a pista externa</a:t>
            </a:r>
            <a:endParaRPr/>
          </a:p>
        </p:txBody>
      </p:sp>
      <p:sp>
        <p:nvSpPr>
          <p:cNvPr id="220" name="Google Shape;220;p7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7"/>
          <p:cNvSpPr txBox="1"/>
          <p:nvPr/>
        </p:nvSpPr>
        <p:spPr>
          <a:xfrm>
            <a:off x="1005840" y="2633472"/>
            <a:ext cx="5120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Desoneração cognitiva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Risko; Gilbert, 2016</a:t>
            </a:r>
            <a:endParaRPr/>
          </a:p>
        </p:txBody>
      </p:sp>
      <p:sp>
        <p:nvSpPr>
          <p:cNvPr id="222" name="Google Shape;222;p7"/>
          <p:cNvSpPr txBox="1"/>
          <p:nvPr/>
        </p:nvSpPr>
        <p:spPr>
          <a:xfrm>
            <a:off x="5989320" y="2633472"/>
            <a:ext cx="4572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</a:t>
            </a:r>
            <a:endParaRPr/>
          </a:p>
        </p:txBody>
      </p:sp>
      <p:sp>
        <p:nvSpPr>
          <p:cNvPr id="223" name="Google Shape;223;p7"/>
          <p:cNvSpPr txBox="1"/>
          <p:nvPr/>
        </p:nvSpPr>
        <p:spPr>
          <a:xfrm>
            <a:off x="6537960" y="2633472"/>
            <a:ext cx="475488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app calcula estoque e horários</a:t>
            </a:r>
            <a:endParaRPr/>
          </a:p>
        </p:txBody>
      </p:sp>
      <p:sp>
        <p:nvSpPr>
          <p:cNvPr id="224" name="Google Shape;224;p7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7"/>
          <p:cNvSpPr txBox="1"/>
          <p:nvPr/>
        </p:nvSpPr>
        <p:spPr>
          <a:xfrm>
            <a:off x="1005840" y="3483864"/>
            <a:ext cx="5120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 única de verdade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2010</a:t>
            </a:r>
            <a:endParaRPr/>
          </a:p>
        </p:txBody>
      </p:sp>
      <p:sp>
        <p:nvSpPr>
          <p:cNvPr id="226" name="Google Shape;226;p7"/>
          <p:cNvSpPr txBox="1"/>
          <p:nvPr/>
        </p:nvSpPr>
        <p:spPr>
          <a:xfrm>
            <a:off x="5989320" y="3483864"/>
            <a:ext cx="4572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</a:t>
            </a:r>
            <a:endParaRPr/>
          </a:p>
        </p:txBody>
      </p:sp>
      <p:sp>
        <p:nvSpPr>
          <p:cNvPr id="227" name="Google Shape;227;p7"/>
          <p:cNvSpPr txBox="1"/>
          <p:nvPr/>
        </p:nvSpPr>
        <p:spPr>
          <a:xfrm>
            <a:off x="6537960" y="3483864"/>
            <a:ext cx="475488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Remédios, estoque e consultas num lugar só</a:t>
            </a:r>
            <a:endParaRPr/>
          </a:p>
        </p:txBody>
      </p:sp>
      <p:sp>
        <p:nvSpPr>
          <p:cNvPr id="228" name="Google Shape;228;p7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7"/>
          <p:cNvSpPr txBox="1"/>
          <p:nvPr/>
        </p:nvSpPr>
        <p:spPr>
          <a:xfrm>
            <a:off x="1005840" y="4334256"/>
            <a:ext cx="5120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 e Last-Write-Wins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2014; Kleppmann, 2017</a:t>
            </a:r>
            <a:endParaRPr/>
          </a:p>
        </p:txBody>
      </p:sp>
      <p:sp>
        <p:nvSpPr>
          <p:cNvPr id="230" name="Google Shape;230;p7"/>
          <p:cNvSpPr txBox="1"/>
          <p:nvPr/>
        </p:nvSpPr>
        <p:spPr>
          <a:xfrm>
            <a:off x="5989320" y="4334256"/>
            <a:ext cx="4572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</a:t>
            </a:r>
            <a:endParaRPr/>
          </a:p>
        </p:txBody>
      </p:sp>
      <p:sp>
        <p:nvSpPr>
          <p:cNvPr id="231" name="Google Shape;231;p7"/>
          <p:cNvSpPr txBox="1"/>
          <p:nvPr/>
        </p:nvSpPr>
        <p:spPr>
          <a:xfrm>
            <a:off x="6537960" y="4334256"/>
            <a:ext cx="475488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 sem internet e sincroniza</a:t>
            </a:r>
            <a:endParaRPr/>
          </a:p>
        </p:txBody>
      </p:sp>
      <p:sp>
        <p:nvSpPr>
          <p:cNvPr id="232" name="Google Shape;232;p7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7"/>
          <p:cNvSpPr txBox="1"/>
          <p:nvPr/>
        </p:nvSpPr>
        <p:spPr>
          <a:xfrm>
            <a:off x="1005840" y="5184648"/>
            <a:ext cx="5120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Usabilidade, acessibilidade e LGPD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1994; W3C, 2018; Brasil, 2018</a:t>
            </a:r>
            <a:endParaRPr/>
          </a:p>
        </p:txBody>
      </p:sp>
      <p:sp>
        <p:nvSpPr>
          <p:cNvPr id="234" name="Google Shape;234;p7"/>
          <p:cNvSpPr txBox="1"/>
          <p:nvPr/>
        </p:nvSpPr>
        <p:spPr>
          <a:xfrm>
            <a:off x="5989320" y="5184648"/>
            <a:ext cx="4572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</a:t>
            </a:r>
            <a:endParaRPr/>
          </a:p>
        </p:txBody>
      </p:sp>
      <p:sp>
        <p:nvSpPr>
          <p:cNvPr id="235" name="Google Shape;235;p7"/>
          <p:cNvSpPr txBox="1"/>
          <p:nvPr/>
        </p:nvSpPr>
        <p:spPr>
          <a:xfrm>
            <a:off x="6537960" y="5184648"/>
            <a:ext cx="475488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Interface segura e dados protegidos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/>
          </a:p>
        </p:txBody>
      </p:sp>
      <p:sp>
        <p:nvSpPr>
          <p:cNvPr id="242" name="Google Shape;242;p8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registro clínico pessoal, que lembra e registra</a:t>
            </a:r>
            <a:endParaRPr/>
          </a:p>
        </p:txBody>
      </p:sp>
      <p:sp>
        <p:nvSpPr>
          <p:cNvPr id="243" name="Google Shape;243;p8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244" name="Google Shape;244;p8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8</a:t>
            </a:r>
            <a:endParaRPr/>
          </a:p>
        </p:txBody>
      </p:sp>
      <p:sp>
        <p:nvSpPr>
          <p:cNvPr id="245" name="Google Shape;245;p8"/>
          <p:cNvSpPr/>
          <p:nvPr/>
        </p:nvSpPr>
        <p:spPr>
          <a:xfrm>
            <a:off x="685800" y="1828800"/>
            <a:ext cx="6583680" cy="932688"/>
          </a:xfrm>
          <a:prstGeom prst="roundRect">
            <a:avLst>
              <a:gd fmla="val 13725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960120" y="2066543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 txBox="1"/>
          <p:nvPr/>
        </p:nvSpPr>
        <p:spPr>
          <a:xfrm>
            <a:off x="960120" y="2066543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/>
          </a:p>
        </p:txBody>
      </p:sp>
      <p:sp>
        <p:nvSpPr>
          <p:cNvPr id="248" name="Google Shape;248;p8"/>
          <p:cNvSpPr txBox="1"/>
          <p:nvPr/>
        </p:nvSpPr>
        <p:spPr>
          <a:xfrm>
            <a:off x="1645920" y="1828800"/>
            <a:ext cx="5486400" cy="932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 sem internet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Tudo é gravado primeiro no aparelho</a:t>
            </a:r>
            <a:endParaRPr/>
          </a:p>
        </p:txBody>
      </p:sp>
      <p:sp>
        <p:nvSpPr>
          <p:cNvPr id="249" name="Google Shape;249;p8"/>
          <p:cNvSpPr/>
          <p:nvPr/>
        </p:nvSpPr>
        <p:spPr>
          <a:xfrm>
            <a:off x="685800" y="2944368"/>
            <a:ext cx="6583680" cy="932688"/>
          </a:xfrm>
          <a:prstGeom prst="roundRect">
            <a:avLst>
              <a:gd fmla="val 13725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960120" y="3182111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8"/>
          <p:cNvSpPr txBox="1"/>
          <p:nvPr/>
        </p:nvSpPr>
        <p:spPr>
          <a:xfrm>
            <a:off x="960120" y="3182111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/>
          </a:p>
        </p:txBody>
      </p:sp>
      <p:sp>
        <p:nvSpPr>
          <p:cNvPr id="252" name="Google Shape;252;p8"/>
          <p:cNvSpPr txBox="1"/>
          <p:nvPr/>
        </p:nvSpPr>
        <p:spPr>
          <a:xfrm>
            <a:off x="1645920" y="2944368"/>
            <a:ext cx="5486400" cy="932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Posologia fiel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Inclusive dose variável por horário</a:t>
            </a:r>
            <a:endParaRPr/>
          </a:p>
        </p:txBody>
      </p:sp>
      <p:sp>
        <p:nvSpPr>
          <p:cNvPr id="253" name="Google Shape;253;p8"/>
          <p:cNvSpPr/>
          <p:nvPr/>
        </p:nvSpPr>
        <p:spPr>
          <a:xfrm>
            <a:off x="685800" y="4059935"/>
            <a:ext cx="6583680" cy="932688"/>
          </a:xfrm>
          <a:prstGeom prst="roundRect">
            <a:avLst>
              <a:gd fmla="val 13725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960120" y="4297679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 txBox="1"/>
          <p:nvPr/>
        </p:nvSpPr>
        <p:spPr>
          <a:xfrm>
            <a:off x="960120" y="4297679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/>
          </a:p>
        </p:txBody>
      </p:sp>
      <p:sp>
        <p:nvSpPr>
          <p:cNvPr id="256" name="Google Shape;256;p8"/>
          <p:cNvSpPr txBox="1"/>
          <p:nvPr/>
        </p:nvSpPr>
        <p:spPr>
          <a:xfrm>
            <a:off x="1645920" y="4059935"/>
            <a:ext cx="5486400" cy="932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Lembra com o app fechado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Quem guarda o horário é o Android</a:t>
            </a:r>
            <a:endParaRPr/>
          </a:p>
        </p:txBody>
      </p:sp>
      <p:sp>
        <p:nvSpPr>
          <p:cNvPr id="257" name="Google Shape;257;p8"/>
          <p:cNvSpPr txBox="1"/>
          <p:nvPr/>
        </p:nvSpPr>
        <p:spPr>
          <a:xfrm>
            <a:off x="685800" y="5257800"/>
            <a:ext cx="6675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prescreve, não sugere dose e não avalia o tratamento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Uma conta por paciente, e uso completo sem conta</a:t>
            </a:r>
            <a:endParaRPr/>
          </a:p>
        </p:txBody>
      </p:sp>
      <p:sp>
        <p:nvSpPr>
          <p:cNvPr id="258" name="Google Shape;258;p8"/>
          <p:cNvSpPr/>
          <p:nvPr/>
        </p:nvSpPr>
        <p:spPr>
          <a:xfrm>
            <a:off x="8001000" y="1600200"/>
            <a:ext cx="3520440" cy="4663440"/>
          </a:xfrm>
          <a:prstGeom prst="roundRect">
            <a:avLst>
              <a:gd fmla="val 3636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72_0.png" id="259" name="Google Shape;25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6528" y="1783080"/>
            <a:ext cx="1916686" cy="4297680"/>
          </a:xfrm>
          <a:prstGeom prst="roundRect">
            <a:avLst>
              <a:gd fmla="val 11449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9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ARQUITETURA</a:t>
            </a:r>
            <a:endParaRPr/>
          </a:p>
        </p:txBody>
      </p:sp>
      <p:sp>
        <p:nvSpPr>
          <p:cNvPr id="266" name="Google Shape;266;p9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Clean Architecture em três camadas</a:t>
            </a:r>
            <a:endParaRPr/>
          </a:p>
        </p:txBody>
      </p:sp>
      <p:sp>
        <p:nvSpPr>
          <p:cNvPr id="267" name="Google Shape;267;p9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268" name="Google Shape;268;p9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9</a:t>
            </a:r>
            <a:endParaRPr/>
          </a:p>
        </p:txBody>
      </p:sp>
      <p:sp>
        <p:nvSpPr>
          <p:cNvPr id="269" name="Google Shape;269;p9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 txBox="1"/>
          <p:nvPr/>
        </p:nvSpPr>
        <p:spPr>
          <a:xfrm>
            <a:off x="1965960" y="191109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Apresentação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 e design próprio</a:t>
            </a:r>
            <a:endParaRPr/>
          </a:p>
        </p:txBody>
      </p:sp>
      <p:sp>
        <p:nvSpPr>
          <p:cNvPr id="273" name="Google Shape;273;p9"/>
          <p:cNvSpPr txBox="1"/>
          <p:nvPr/>
        </p:nvSpPr>
        <p:spPr>
          <a:xfrm>
            <a:off x="1965960" y="255117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Dados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 e Supabase</a:t>
            </a:r>
            <a:endParaRPr/>
          </a:p>
        </p:txBody>
      </p:sp>
      <p:sp>
        <p:nvSpPr>
          <p:cNvPr id="274" name="Google Shape;274;p9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Domínio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 puro</a:t>
            </a:r>
            <a:endParaRPr/>
          </a:p>
        </p:txBody>
      </p:sp>
      <p:sp>
        <p:nvSpPr>
          <p:cNvPr id="275" name="Google Shape;275;p9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dependência aponta para dentro</a:t>
            </a:r>
            <a:endParaRPr/>
          </a:p>
        </p:txBody>
      </p:sp>
      <p:sp>
        <p:nvSpPr>
          <p:cNvPr id="276" name="Google Shape;276;p9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elaborado pelo autor (2026), a partir da seção 4.4.</a:t>
            </a:r>
            <a:endParaRPr/>
          </a:p>
        </p:txBody>
      </p:sp>
      <p:sp>
        <p:nvSpPr>
          <p:cNvPr id="277" name="Google Shape;277;p9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9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 Native + Expo</a:t>
            </a:r>
            <a:r>
              <a:rPr b="0"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base única com acesso nativo</a:t>
            </a:r>
            <a:endParaRPr/>
          </a:p>
        </p:txBody>
      </p:sp>
      <p:sp>
        <p:nvSpPr>
          <p:cNvPr id="279" name="Google Shape;279;p9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9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</a:t>
            </a:r>
            <a:r>
              <a:rPr b="0"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tipagem nas regras clínicas</a:t>
            </a:r>
            <a:endParaRPr/>
          </a:p>
        </p:txBody>
      </p:sp>
      <p:sp>
        <p:nvSpPr>
          <p:cNvPr id="281" name="Google Shape;281;p9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9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</a:t>
            </a:r>
            <a:r>
              <a:rPr b="0"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banco no aparelho</a:t>
            </a:r>
            <a:endParaRPr/>
          </a:p>
        </p:txBody>
      </p:sp>
      <p:sp>
        <p:nvSpPr>
          <p:cNvPr id="283" name="Google Shape;283;p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Supabase (PostgreSQL)</a:t>
            </a:r>
            <a:r>
              <a:rPr b="0"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cópia na nuvem, com RLS</a:t>
            </a:r>
            <a:endParaRPr/>
          </a:p>
        </p:txBody>
      </p:sp>
      <p:sp>
        <p:nvSpPr>
          <p:cNvPr id="285" name="Google Shape;285;p9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9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react-native-notify-kit</a:t>
            </a:r>
            <a:r>
              <a:rPr b="0"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alarme pelo agendador do Android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0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REGRAS DE NEGÓCIO</a:t>
            </a:r>
            <a:endParaRPr/>
          </a:p>
        </p:txBody>
      </p:sp>
      <p:sp>
        <p:nvSpPr>
          <p:cNvPr id="293" name="Google Shape;293;p10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Quatro regras que protegem o registro clínico</a:t>
            </a:r>
            <a:endParaRPr/>
          </a:p>
        </p:txBody>
      </p:sp>
      <p:sp>
        <p:nvSpPr>
          <p:cNvPr id="294" name="Google Shape;294;p10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295" name="Google Shape;295;p10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10</a:t>
            </a:r>
            <a:endParaRPr/>
          </a:p>
        </p:txBody>
      </p:sp>
      <p:sp>
        <p:nvSpPr>
          <p:cNvPr id="296" name="Google Shape;296;p10"/>
          <p:cNvSpPr/>
          <p:nvPr/>
        </p:nvSpPr>
        <p:spPr>
          <a:xfrm>
            <a:off x="685800" y="1828800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0"/>
          <p:cNvSpPr/>
          <p:nvPr/>
        </p:nvSpPr>
        <p:spPr>
          <a:xfrm>
            <a:off x="1051560" y="2103120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0"/>
          <p:cNvSpPr txBox="1"/>
          <p:nvPr/>
        </p:nvSpPr>
        <p:spPr>
          <a:xfrm>
            <a:off x="1051560" y="2103120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01</a:t>
            </a:r>
            <a:endParaRPr/>
          </a:p>
        </p:txBody>
      </p:sp>
      <p:sp>
        <p:nvSpPr>
          <p:cNvPr id="299" name="Google Shape;299;p10"/>
          <p:cNvSpPr txBox="1"/>
          <p:nvPr/>
        </p:nvSpPr>
        <p:spPr>
          <a:xfrm>
            <a:off x="1051560" y="257860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 sem resposta nunca vira “pulada”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responder não é decidir pular</a:t>
            </a:r>
            <a:endParaRPr/>
          </a:p>
        </p:txBody>
      </p:sp>
      <p:sp>
        <p:nvSpPr>
          <p:cNvPr id="300" name="Google Shape;300;p10"/>
          <p:cNvSpPr/>
          <p:nvPr/>
        </p:nvSpPr>
        <p:spPr>
          <a:xfrm>
            <a:off x="6233007" y="1828800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0"/>
          <p:cNvSpPr/>
          <p:nvPr/>
        </p:nvSpPr>
        <p:spPr>
          <a:xfrm>
            <a:off x="6598767" y="2103120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0"/>
          <p:cNvSpPr txBox="1"/>
          <p:nvPr/>
        </p:nvSpPr>
        <p:spPr>
          <a:xfrm>
            <a:off x="6598767" y="2103120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02</a:t>
            </a:r>
            <a:endParaRPr/>
          </a:p>
        </p:txBody>
      </p:sp>
      <p:sp>
        <p:nvSpPr>
          <p:cNvPr id="303" name="Google Shape;303;p10"/>
          <p:cNvSpPr txBox="1"/>
          <p:nvPr/>
        </p:nvSpPr>
        <p:spPr>
          <a:xfrm>
            <a:off x="6598767" y="257860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estoque desconta a dose, não a unidade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Dois comprimidos tomados, dois descontados</a:t>
            </a:r>
            <a:endParaRPr/>
          </a:p>
        </p:txBody>
      </p:sp>
      <p:sp>
        <p:nvSpPr>
          <p:cNvPr id="304" name="Google Shape;304;p10"/>
          <p:cNvSpPr/>
          <p:nvPr/>
        </p:nvSpPr>
        <p:spPr>
          <a:xfrm>
            <a:off x="685800" y="3977639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0"/>
          <p:cNvSpPr/>
          <p:nvPr/>
        </p:nvSpPr>
        <p:spPr>
          <a:xfrm>
            <a:off x="1051560" y="4251959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0"/>
          <p:cNvSpPr txBox="1"/>
          <p:nvPr/>
        </p:nvSpPr>
        <p:spPr>
          <a:xfrm>
            <a:off x="1051560" y="4251959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06</a:t>
            </a:r>
            <a:endParaRPr/>
          </a:p>
        </p:txBody>
      </p:sp>
      <p:sp>
        <p:nvSpPr>
          <p:cNvPr id="307" name="Google Shape;307;p10"/>
          <p:cNvSpPr txBox="1"/>
          <p:nvPr/>
        </p:nvSpPr>
        <p:spPr>
          <a:xfrm>
            <a:off x="1051560" y="472744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Correção nunca sobrescreve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Cria um novo registro, e o original continua rastreável</a:t>
            </a:r>
            <a:endParaRPr/>
          </a:p>
        </p:txBody>
      </p:sp>
      <p:sp>
        <p:nvSpPr>
          <p:cNvPr id="308" name="Google Shape;308;p10"/>
          <p:cNvSpPr/>
          <p:nvPr/>
        </p:nvSpPr>
        <p:spPr>
          <a:xfrm>
            <a:off x="6233007" y="3977639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0"/>
          <p:cNvSpPr/>
          <p:nvPr/>
        </p:nvSpPr>
        <p:spPr>
          <a:xfrm>
            <a:off x="6598767" y="4251959"/>
            <a:ext cx="13258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0"/>
          <p:cNvSpPr txBox="1"/>
          <p:nvPr/>
        </p:nvSpPr>
        <p:spPr>
          <a:xfrm>
            <a:off x="6598767" y="4251959"/>
            <a:ext cx="13258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11 e 12</a:t>
            </a:r>
            <a:endParaRPr/>
          </a:p>
        </p:txBody>
      </p:sp>
      <p:sp>
        <p:nvSpPr>
          <p:cNvPr id="311" name="Google Shape;311;p10"/>
          <p:cNvSpPr txBox="1"/>
          <p:nvPr/>
        </p:nvSpPr>
        <p:spPr>
          <a:xfrm>
            <a:off x="6598767" y="472744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aviso por horário, adiamento uma vez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 no mesmo horário, um alarme só</a:t>
            </a:r>
            <a:endParaRPr/>
          </a:p>
        </p:txBody>
      </p:sp>
      <p:sp>
        <p:nvSpPr>
          <p:cNvPr id="312" name="Google Shape;312;p10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 10 do TCC, que reúne as vinte regras.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SINCRONIZAÇÃO E SEGURANÇA</a:t>
            </a:r>
            <a:endParaRPr/>
          </a:p>
        </p:txBody>
      </p:sp>
      <p:sp>
        <p:nvSpPr>
          <p:cNvPr id="319" name="Google Shape;319;p11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Grava primeiro no aparelho, e a nuvem é cópia e ponte</a:t>
            </a:r>
            <a:endParaRPr/>
          </a:p>
        </p:txBody>
      </p:sp>
      <p:sp>
        <p:nvSpPr>
          <p:cNvPr id="320" name="Google Shape;320;p11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321" name="Google Shape;321;p11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11</a:t>
            </a:r>
            <a:endParaRPr/>
          </a:p>
        </p:txBody>
      </p:sp>
      <p:sp>
        <p:nvSpPr>
          <p:cNvPr id="322" name="Google Shape;322;p11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55_0.jpeg" id="323" name="Google Shape;32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0120" y="1965960"/>
            <a:ext cx="5943600" cy="3521906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1"/>
          <p:cNvSpPr txBox="1"/>
          <p:nvPr/>
        </p:nvSpPr>
        <p:spPr>
          <a:xfrm>
            <a:off x="685800" y="6053328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Figura 1 - Resolução de conflito pelo critério Last-Write-Wins. Fonte: elaborado pelo autor (2026).</a:t>
            </a:r>
            <a:endParaRPr/>
          </a:p>
        </p:txBody>
      </p:sp>
      <p:sp>
        <p:nvSpPr>
          <p:cNvPr id="325" name="Google Shape;325;p11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1"/>
          <p:cNvSpPr txBox="1"/>
          <p:nvPr/>
        </p:nvSpPr>
        <p:spPr>
          <a:xfrm>
            <a:off x="7818120" y="178308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Vence a edição mais recente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inteira, sem mesclar campos</a:t>
            </a:r>
            <a:endParaRPr/>
          </a:p>
        </p:txBody>
      </p:sp>
      <p:sp>
        <p:nvSpPr>
          <p:cNvPr id="327" name="Google Shape;327;p11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1"/>
          <p:cNvSpPr txBox="1"/>
          <p:nvPr/>
        </p:nvSpPr>
        <p:spPr>
          <a:xfrm>
            <a:off x="7818120" y="320040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servidor aplica o mesmo critério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recusa a atualização mais antiga</a:t>
            </a:r>
            <a:endParaRPr/>
          </a:p>
        </p:txBody>
      </p:sp>
      <p:sp>
        <p:nvSpPr>
          <p:cNvPr id="329" name="Google Shape;329;p11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1"/>
          <p:cNvSpPr txBox="1"/>
          <p:nvPr/>
        </p:nvSpPr>
        <p:spPr>
          <a:xfrm>
            <a:off x="7818120" y="461772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Isolamento por usuário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RLS nas nove tabelas e token JWT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DEMONSTRAÇÃO</a:t>
            </a:r>
            <a:endParaRPr/>
          </a:p>
        </p:txBody>
      </p:sp>
      <p:sp>
        <p:nvSpPr>
          <p:cNvPr id="337" name="Google Shape;337;p1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aplicativo funcionando</a:t>
            </a:r>
            <a:endParaRPr/>
          </a:p>
        </p:txBody>
      </p:sp>
      <p:sp>
        <p:nvSpPr>
          <p:cNvPr id="338" name="Google Shape;338;p1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339" name="Google Shape;339;p1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12</a:t>
            </a:r>
            <a:endParaRPr/>
          </a:p>
        </p:txBody>
      </p:sp>
      <p:pic>
        <p:nvPicPr>
          <p:cNvPr descr="p68_2.png" id="340" name="Google Shape;340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528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41" name="Google Shape;341;p12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a.  </a:t>
            </a:r>
            <a:r>
              <a:rPr b="1" lang="en-US" sz="14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Cadastro por código de barras</a:t>
            </a:r>
            <a:endParaRPr/>
          </a:p>
        </p:txBody>
      </p:sp>
      <p:pic>
        <p:nvPicPr>
          <p:cNvPr descr="p71_2.png" id="342" name="Google Shape;342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6977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43" name="Google Shape;343;p12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b.  </a:t>
            </a:r>
            <a:r>
              <a:rPr b="1" lang="en-US" sz="14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 inicial</a:t>
            </a:r>
            <a:endParaRPr/>
          </a:p>
        </p:txBody>
      </p:sp>
      <p:pic>
        <p:nvPicPr>
          <p:cNvPr descr="p72_0.png" id="344" name="Google Shape;344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78426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45" name="Google Shape;345;p12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 </a:t>
            </a:r>
            <a:r>
              <a:rPr b="1" lang="en-US" sz="14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</a:t>
            </a:r>
            <a:endParaRPr/>
          </a:p>
        </p:txBody>
      </p:sp>
      <p:pic>
        <p:nvPicPr>
          <p:cNvPr descr="p74_0.png" id="346" name="Google Shape;346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19875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47" name="Google Shape;347;p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d.  </a:t>
            </a:r>
            <a:r>
              <a:rPr b="1" lang="en-US" sz="14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Adesão e calendário</a:t>
            </a:r>
            <a:endParaRPr/>
          </a:p>
        </p:txBody>
      </p:sp>
      <p:pic>
        <p:nvPicPr>
          <p:cNvPr descr="p75_0.jpeg" id="348" name="Google Shape;348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161324" y="2308859"/>
            <a:ext cx="1837113" cy="2377440"/>
          </a:xfrm>
          <a:prstGeom prst="roundRect">
            <a:avLst>
              <a:gd fmla="val 6968" name="adj"/>
            </a:avLst>
          </a:prstGeom>
          <a:noFill/>
          <a:ln>
            <a:noFill/>
          </a:ln>
        </p:spPr>
      </p:pic>
      <p:sp>
        <p:nvSpPr>
          <p:cNvPr id="349" name="Google Shape;349;p12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e.  </a:t>
            </a:r>
            <a:r>
              <a:rPr b="1" lang="en-US" sz="14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Relatório em PDF</a:t>
            </a:r>
            <a:endParaRPr/>
          </a:p>
        </p:txBody>
      </p:sp>
      <p:pic>
        <p:nvPicPr>
          <p:cNvPr descr="p78_2.png" id="350" name="Google Shape;350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002774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51" name="Google Shape;351;p12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f.  </a:t>
            </a:r>
            <a:r>
              <a:rPr b="1" lang="en-US" sz="14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Temas e cores</a:t>
            </a:r>
            <a:endParaRPr/>
          </a:p>
        </p:txBody>
      </p:sp>
      <p:sp>
        <p:nvSpPr>
          <p:cNvPr id="352" name="Google Shape;352;p12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Telas: Figuras 4, 7, 8, 9, 10 e 12 do TCC.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RESULTADOS</a:t>
            </a:r>
            <a:endParaRPr/>
          </a:p>
        </p:txBody>
      </p:sp>
      <p:sp>
        <p:nvSpPr>
          <p:cNvPr id="359" name="Google Shape;359;p13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Cinco cenários offline-first aprovados em aparelho físico</a:t>
            </a:r>
            <a:endParaRPr/>
          </a:p>
        </p:txBody>
      </p:sp>
      <p:sp>
        <p:nvSpPr>
          <p:cNvPr id="360" name="Google Shape;360;p1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361" name="Google Shape;361;p1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13</a:t>
            </a:r>
            <a:endParaRPr/>
          </a:p>
        </p:txBody>
      </p:sp>
      <p:sp>
        <p:nvSpPr>
          <p:cNvPr id="362" name="Google Shape;362;p13"/>
          <p:cNvSpPr/>
          <p:nvPr/>
        </p:nvSpPr>
        <p:spPr>
          <a:xfrm>
            <a:off x="685800" y="1783080"/>
            <a:ext cx="6675120" cy="416052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Ausência de conexão</a:t>
            </a:r>
            <a:endParaRPr/>
          </a:p>
        </p:txBody>
      </p:sp>
      <p:sp>
        <p:nvSpPr>
          <p:cNvPr id="364" name="Google Shape;364;p13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3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/>
          </a:p>
        </p:txBody>
      </p:sp>
      <p:sp>
        <p:nvSpPr>
          <p:cNvPr id="366" name="Google Shape;366;p13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Restabelecimento da conectividade</a:t>
            </a:r>
            <a:endParaRPr/>
          </a:p>
        </p:txBody>
      </p:sp>
      <p:sp>
        <p:nvSpPr>
          <p:cNvPr id="367" name="Google Shape;367;p13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3"/>
          <p:cNvSpPr txBox="1"/>
          <p:nvPr/>
        </p:nvSpPr>
        <p:spPr>
          <a:xfrm>
            <a:off x="5852160" y="2834640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/>
          </a:p>
        </p:txBody>
      </p:sp>
      <p:sp>
        <p:nvSpPr>
          <p:cNvPr id="369" name="Google Shape;369;p13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por restauração</a:t>
            </a:r>
            <a:endParaRPr/>
          </a:p>
        </p:txBody>
      </p:sp>
      <p:sp>
        <p:nvSpPr>
          <p:cNvPr id="370" name="Google Shape;370;p13"/>
          <p:cNvSpPr/>
          <p:nvPr/>
        </p:nvSpPr>
        <p:spPr>
          <a:xfrm>
            <a:off x="4846320" y="3593591"/>
            <a:ext cx="224028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3"/>
          <p:cNvSpPr txBox="1"/>
          <p:nvPr/>
        </p:nvSpPr>
        <p:spPr>
          <a:xfrm>
            <a:off x="4846320" y="3593591"/>
            <a:ext cx="2240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Aprovado, com ajustes</a:t>
            </a:r>
            <a:endParaRPr/>
          </a:p>
        </p:txBody>
      </p:sp>
      <p:sp>
        <p:nvSpPr>
          <p:cNvPr id="372" name="Google Shape;372;p13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entre dispositivos</a:t>
            </a:r>
            <a:endParaRPr/>
          </a:p>
        </p:txBody>
      </p:sp>
      <p:sp>
        <p:nvSpPr>
          <p:cNvPr id="373" name="Google Shape;373;p13"/>
          <p:cNvSpPr/>
          <p:nvPr/>
        </p:nvSpPr>
        <p:spPr>
          <a:xfrm>
            <a:off x="4846320" y="4352544"/>
            <a:ext cx="224028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4846320" y="4352544"/>
            <a:ext cx="2240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Aprovado, com ajustes</a:t>
            </a:r>
            <a:endParaRPr/>
          </a:p>
        </p:txBody>
      </p:sp>
      <p:sp>
        <p:nvSpPr>
          <p:cNvPr id="375" name="Google Shape;375;p13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Conflito entre registros</a:t>
            </a:r>
            <a:endParaRPr/>
          </a:p>
        </p:txBody>
      </p:sp>
      <p:sp>
        <p:nvSpPr>
          <p:cNvPr id="376" name="Google Shape;376;p13"/>
          <p:cNvSpPr/>
          <p:nvPr/>
        </p:nvSpPr>
        <p:spPr>
          <a:xfrm>
            <a:off x="4846320" y="5111496"/>
            <a:ext cx="224028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4846320" y="5111496"/>
            <a:ext cx="2240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Aprovado, com ajustes</a:t>
            </a:r>
            <a:endParaRPr/>
          </a:p>
        </p:txBody>
      </p:sp>
      <p:sp>
        <p:nvSpPr>
          <p:cNvPr id="378" name="Google Shape;378;p13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 28 do TCC. Xiaomi Redmi Note 14 Pro 5G, Android 16.</a:t>
            </a:r>
            <a:endParaRPr/>
          </a:p>
        </p:txBody>
      </p:sp>
      <p:sp>
        <p:nvSpPr>
          <p:cNvPr id="379" name="Google Shape;379;p13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3"/>
          <p:cNvSpPr txBox="1"/>
          <p:nvPr/>
        </p:nvSpPr>
        <p:spPr>
          <a:xfrm>
            <a:off x="8001000" y="1783080"/>
            <a:ext cx="329184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1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 nas 4 combinações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Bloqueado ou em uso, app nos recentes ou não</a:t>
            </a:r>
            <a:endParaRPr/>
          </a:p>
        </p:txBody>
      </p:sp>
      <p:sp>
        <p:nvSpPr>
          <p:cNvPr id="381" name="Google Shape;381;p13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fmla="val 6363" name="adj"/>
            </a:avLst>
          </a:prstGeom>
          <a:solidFill>
            <a:srgbClr val="FDF3C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3"/>
          <p:cNvSpPr txBox="1"/>
          <p:nvPr/>
        </p:nvSpPr>
        <p:spPr>
          <a:xfrm>
            <a:off x="8001000" y="3931920"/>
            <a:ext cx="329184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100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Após reiniciar, o alarme esperou o desbloqueio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Restrição de Autostart do fabricante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CONCLUSÃO</a:t>
            </a:r>
            <a:endParaRPr/>
          </a:p>
        </p:txBody>
      </p:sp>
      <p:sp>
        <p:nvSpPr>
          <p:cNvPr id="389" name="Google Shape;389;p14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 e registro clínico fiel são compatíveis</a:t>
            </a:r>
            <a:endParaRPr/>
          </a:p>
        </p:txBody>
      </p:sp>
      <p:sp>
        <p:nvSpPr>
          <p:cNvPr id="390" name="Google Shape;390;p1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391" name="Google Shape;391;p1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14</a:t>
            </a:r>
            <a:endParaRPr/>
          </a:p>
        </p:txBody>
      </p:sp>
      <p:sp>
        <p:nvSpPr>
          <p:cNvPr id="392" name="Google Shape;392;p14"/>
          <p:cNvSpPr/>
          <p:nvPr/>
        </p:nvSpPr>
        <p:spPr>
          <a:xfrm>
            <a:off x="685800" y="1783080"/>
            <a:ext cx="10820095" cy="777240"/>
          </a:xfrm>
          <a:prstGeom prst="roundRect">
            <a:avLst>
              <a:gd fmla="val 1647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4"/>
          <p:cNvSpPr txBox="1"/>
          <p:nvPr/>
        </p:nvSpPr>
        <p:spPr>
          <a:xfrm>
            <a:off x="1051560" y="1783080"/>
            <a:ext cx="10088575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atendidos, com a ressalva do alarme após reiniciar o aparelho</a:t>
            </a:r>
            <a:endParaRPr/>
          </a:p>
        </p:txBody>
      </p:sp>
      <p:sp>
        <p:nvSpPr>
          <p:cNvPr id="394" name="Google Shape;394;p14"/>
          <p:cNvSpPr/>
          <p:nvPr/>
        </p:nvSpPr>
        <p:spPr>
          <a:xfrm>
            <a:off x="685800" y="2834640"/>
            <a:ext cx="3454298" cy="169164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1005840" y="2834640"/>
            <a:ext cx="2814218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Estoque pela dose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desconta a quantidade realmente tomada</a:t>
            </a:r>
            <a:endParaRPr/>
          </a:p>
        </p:txBody>
      </p:sp>
      <p:sp>
        <p:nvSpPr>
          <p:cNvPr id="396" name="Google Shape;396;p14"/>
          <p:cNvSpPr/>
          <p:nvPr/>
        </p:nvSpPr>
        <p:spPr>
          <a:xfrm>
            <a:off x="4368698" y="2834640"/>
            <a:ext cx="3454298" cy="169164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4"/>
          <p:cNvSpPr txBox="1"/>
          <p:nvPr/>
        </p:nvSpPr>
        <p:spPr>
          <a:xfrm>
            <a:off x="4688738" y="2834640"/>
            <a:ext cx="2814218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Correção que preserva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registro original continua rastreável</a:t>
            </a:r>
            <a:endParaRPr/>
          </a:p>
        </p:txBody>
      </p:sp>
      <p:sp>
        <p:nvSpPr>
          <p:cNvPr id="398" name="Google Shape;398;p14"/>
          <p:cNvSpPr/>
          <p:nvPr/>
        </p:nvSpPr>
        <p:spPr>
          <a:xfrm>
            <a:off x="8051596" y="2834640"/>
            <a:ext cx="3454298" cy="169164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4"/>
          <p:cNvSpPr txBox="1"/>
          <p:nvPr/>
        </p:nvSpPr>
        <p:spPr>
          <a:xfrm>
            <a:off x="8371636" y="2834640"/>
            <a:ext cx="2814218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Pulada ≠ sem resposta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histórico fiel para o profissional de saúde</a:t>
            </a:r>
            <a:endParaRPr/>
          </a:p>
        </p:txBody>
      </p:sp>
      <p:sp>
        <p:nvSpPr>
          <p:cNvPr id="400" name="Google Shape;400;p14"/>
          <p:cNvSpPr txBox="1"/>
          <p:nvPr/>
        </p:nvSpPr>
        <p:spPr>
          <a:xfrm>
            <a:off x="685800" y="4892040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1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LIMITAÇÕES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modelo de aparelho  ·  sem teste com usuários  ·  só Android  ·  anexos ficam no aparelho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TRABALHOS FUTUROS</a:t>
            </a:r>
            <a:endParaRPr/>
          </a:p>
        </p:txBody>
      </p:sp>
      <p:sp>
        <p:nvSpPr>
          <p:cNvPr id="407" name="Google Shape;407;p1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Próximos passos</a:t>
            </a:r>
            <a:endParaRPr/>
          </a:p>
        </p:txBody>
      </p:sp>
      <p:sp>
        <p:nvSpPr>
          <p:cNvPr id="408" name="Google Shape;408;p1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409" name="Google Shape;409;p1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15</a:t>
            </a:r>
            <a:endParaRPr/>
          </a:p>
        </p:txBody>
      </p:sp>
      <p:sp>
        <p:nvSpPr>
          <p:cNvPr id="410" name="Google Shape;410;p1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5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/>
          </a:p>
        </p:txBody>
      </p:sp>
      <p:sp>
        <p:nvSpPr>
          <p:cNvPr id="412" name="Google Shape;412;p15"/>
          <p:cNvSpPr txBox="1"/>
          <p:nvPr/>
        </p:nvSpPr>
        <p:spPr>
          <a:xfrm>
            <a:off x="1554480" y="1783080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Avaliação de usabilidade com pacientes idosos e polimedicados</a:t>
            </a:r>
            <a:endParaRPr/>
          </a:p>
        </p:txBody>
      </p:sp>
      <p:sp>
        <p:nvSpPr>
          <p:cNvPr id="413" name="Google Shape;413;p15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5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/>
          </a:p>
        </p:txBody>
      </p:sp>
      <p:sp>
        <p:nvSpPr>
          <p:cNvPr id="415" name="Google Shape;415;p15"/>
          <p:cNvSpPr txBox="1"/>
          <p:nvPr/>
        </p:nvSpPr>
        <p:spPr>
          <a:xfrm>
            <a:off x="1554480" y="2633472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validado em outros fabricantes</a:t>
            </a:r>
            <a:endParaRPr/>
          </a:p>
        </p:txBody>
      </p:sp>
      <p:sp>
        <p:nvSpPr>
          <p:cNvPr id="416" name="Google Shape;416;p15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/>
          </a:p>
        </p:txBody>
      </p:sp>
      <p:sp>
        <p:nvSpPr>
          <p:cNvPr id="418" name="Google Shape;418;p15"/>
          <p:cNvSpPr txBox="1"/>
          <p:nvPr/>
        </p:nvSpPr>
        <p:spPr>
          <a:xfrm>
            <a:off x="1554480" y="3483864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Versão para iOS e publicação nas lojas</a:t>
            </a:r>
            <a:endParaRPr/>
          </a:p>
        </p:txBody>
      </p:sp>
      <p:sp>
        <p:nvSpPr>
          <p:cNvPr id="419" name="Google Shape;419;p15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/>
          </a:p>
        </p:txBody>
      </p:sp>
      <p:sp>
        <p:nvSpPr>
          <p:cNvPr id="421" name="Google Shape;421;p15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Acesso de consulta para médicos e cuidadores</a:t>
            </a:r>
            <a:endParaRPr/>
          </a:p>
        </p:txBody>
      </p:sp>
      <p:sp>
        <p:nvSpPr>
          <p:cNvPr id="422" name="Google Shape;422;p15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/>
          </a:p>
        </p:txBody>
      </p:sp>
      <p:sp>
        <p:nvSpPr>
          <p:cNvPr id="424" name="Google Shape;424;p15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Cuidado organizado por tratamento, como na oncologia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REFERÊNCIAS</a:t>
            </a:r>
            <a:endParaRPr/>
          </a:p>
        </p:txBody>
      </p:sp>
      <p:sp>
        <p:nvSpPr>
          <p:cNvPr id="431" name="Google Shape;431;p1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432" name="Google Shape;432;p1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16</a:t>
            </a:r>
            <a:endParaRPr/>
          </a:p>
        </p:txBody>
      </p:sp>
      <p:sp>
        <p:nvSpPr>
          <p:cNvPr id="433" name="Google Shape;433;p16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John.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web's future is offline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beyond tellerrand, 2014. Disponível em: https://www.youtube.com/watch?v=VvwhcoZhoI4. Acesso em: 8 maio 2026.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BADDELEY, Alan; EYSENCK, Michael W.; ANDERSON, Michael C.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Porto Alegre: Artmed, 2010.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BRASIL. [Lei Geral de Proteção de Dados Pessoais (LGPD)]. Lei nº 13.709, de 14 de agosto de 2018. Brasília, DF: Presidência da República, 2018.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KLEPPMANN, Martin.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Designing data-intensive applications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the big ideas behind reliable, scalable, and maintainable systems. Sebastopol: O'Reilly Media, 2017.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David.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Master data management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Burlington: Morgan Kaufmann, 2010.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MARTIN, Robert C.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Arquitetura limpa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o guia do artesão para estrutura e design de software. Rio de Janeiro: Alta Books, 2019.</a:t>
            </a:r>
            <a:endParaRPr/>
          </a:p>
        </p:txBody>
      </p:sp>
      <p:sp>
        <p:nvSpPr>
          <p:cNvPr id="434" name="Google Shape;434;p16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management. 2026. Disponível em: https://www.medisafe.com. Acesso em: 20 ago. 2026.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reminder and pill tracker. 2026. Disponível em: https://www.mytherapyapp.com. Acesso em: 20 ago. 2026.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Jakob.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Usability engineering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San Diego: Academic Press, 1994.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RISKO, Evan F.; GILBERT, Sam J. Cognitive offloading.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Trends in Cognitive Sciences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v. 20, n. 9, p. 676-688, 2016.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HEALTH ORGANIZATION (WHO).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Adherence to long-term therapies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evidence for action. Geneva: World Health Organization, 2003.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WIDE WEB CONSORTIUM (W3C).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 Content Accessibility Guidelines (WCAG) 2.1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Cambridge, MA: W3C, 2018. Disponível em: https://www.w3.org/TR/WCAG21/. Acesso em: 10 set. 2026.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7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7"/>
          <p:cNvSpPr/>
          <p:nvPr/>
        </p:nvSpPr>
        <p:spPr>
          <a:xfrm>
            <a:off x="8403336" y="1280160"/>
            <a:ext cx="3200400" cy="420624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.png" id="442" name="Google Shape;44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69096" y="1645920"/>
            <a:ext cx="2468880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7"/>
          <p:cNvSpPr txBox="1"/>
          <p:nvPr/>
        </p:nvSpPr>
        <p:spPr>
          <a:xfrm>
            <a:off x="8403336" y="4343400"/>
            <a:ext cx="3200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Conheça o Mapill</a:t>
            </a:r>
            <a:endParaRPr/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Página do app, com o APK para Android</a:t>
            </a:r>
            <a:endParaRPr/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mapill-website.vercel.app</a:t>
            </a:r>
            <a:endParaRPr/>
          </a:p>
        </p:txBody>
      </p:sp>
      <p:pic>
        <p:nvPicPr>
          <p:cNvPr descr="lockup-claro.png" id="444" name="Google Shape;44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188720"/>
            <a:ext cx="2196757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17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Obrigado!</a:t>
            </a:r>
            <a:endParaRPr/>
          </a:p>
        </p:txBody>
      </p:sp>
      <p:sp>
        <p:nvSpPr>
          <p:cNvPr id="446" name="Google Shape;446;p17"/>
          <p:cNvSpPr txBox="1"/>
          <p:nvPr/>
        </p:nvSpPr>
        <p:spPr>
          <a:xfrm>
            <a:off x="685800" y="3657600"/>
            <a:ext cx="64008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Sistemas de Informação, 8ª fase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Orientador: Prof. Me. Marciel de Liz Santos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gabrielsteffens2003@gmail.com</a:t>
            </a:r>
            <a:endParaRPr/>
          </a:p>
        </p:txBody>
      </p:sp>
      <p:pic>
        <p:nvPicPr>
          <p:cNvPr descr="unidavi.png" id="447" name="Google Shape;447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5800" y="5715000"/>
            <a:ext cx="608798" cy="502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