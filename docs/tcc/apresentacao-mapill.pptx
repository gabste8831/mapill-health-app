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1675"/>
  <p:notesSz cx="6858000" cy="9144000"/>
  <p:embeddedFontLst>
    <p:embeddedFont>
      <p:font typeface="Plus Jakarta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grs0JLhFSvVX4VZMJTaG8Cf8WU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PlusJakartaSans-regular.fntdata"/><Relationship Id="rId25" Type="http://schemas.openxmlformats.org/officeDocument/2006/relationships/font" Target="fonts/PlusJakartaSans-bold.fntdata"/><Relationship Id="rId26" Type="http://schemas.openxmlformats.org/officeDocument/2006/relationships/font" Target="fonts/PlusJakartaSans-italic.fntdata"/><Relationship Id="rId27" Type="http://schemas.openxmlformats.org/officeDocument/2006/relationships/font" Target="fonts/PlusJakartaSans-boldItalic.fntdata"/><Relationship Id="rId2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[20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Boa noite a todos. Meu nome é Gabriel Steffens e vou apresentar o meu trabalho de conclusão de curso, o Mapill, uma aplicação móvel para mitigação de falhas logísticas e cognitivas na adesão ao tratamento medicamentoso, orientado pelo professor Marciel de Liz Santos.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[50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 descontinuidade do tratamento medicamentoso é um dos grandes desafios da saúde pública. A Organização Mundial da Saúde mostra que a adesão depende de muitos fatores, e que a responsabilidade não é só do paciente. Quem toma vários remédios por muito tempo precisa lembrar de vários horários, controlar quanto ainda tem de cada um e não perder as consultas. Isso gera dois tipos de falha. A cognitiva, que é simplesmente esquecer a dose, e a logística, que é o remédio acabar ou a consulta passar sem que a pessoa perceba.</a:t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[30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Daí vem a pergunta que o trabalho tenta responder. Como uma aplicação móvel, que funcione mesmo sem internet, pode concentrar os medicamentos, o estoque e os compromissos de saúde num lugar só, sendo fácil de usar, segura e confiável.</a:t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[45 s]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frase abre o meu trabalho, e resume por que ele existe. E não é um problema pequeno, a Organização Mundial da Saúde reconhece a baixa adesão ao tratamento como um dos maiores desafios da saúde pública. As duas falhas que eu comentei aparecem no dia a dia de formas bem concretas. Na cognitiva, o paciente esquece a dose, ou não lembra se já tomou. O Mapill avisa no horário, mesmo com o aplicativo fechado, e guarda cada resposta com data e hora. Na logística, o remédio acaba sem aviso, ou a consulta e a receita passam do prazo. O app desconta o estoque a cada dose e avisa antes de acabar, e lembra dos compromissos e da validade da receita.</a:t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[45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 o que já existe no mercado não resolve isso por completo. Os dois aplicativos mais conhecidos são o Medisafe e o MyTherapy. O Medisafe passou, em janeiro deste ano, a aceitar só dois medicamentos no plano gratuito, e o aviso de estoque ficou pago. O MyTherapy é gratuito, mas se sustenta repassando dados de uso, anonimizados, para empresas farmacêuticas. E nenhum dos dois descreve suporte a uma dose que muda conforme o horário, comum em tratamentos como o de insulina. O Mapill troca amplitude por profundidade, sem cobrar e sem repassar dados.</a:t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[50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 objetivo geral foi desenvolver uma aplicação móvel que apoiasse a gestão da rotina medicamentosa, juntando o agendamento e o registro das doses, o controle de estoque e os compromissos de saúde, numa arquitetura que funciona primeiro no aparelho. Para chegar lá, os objetivos específicos seguiram o caminho natural de um projeto de software. Primeiro levantar os requisitos na literatura, depois especificá-los, projetar a arquitetura e as telas, implementar e, por fim, analisar como a arquitetura se comporta sem conexão, na volta da conexão e em conflitos entre registros.</a:t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[1 min 10 s]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Vou passar rápido pela fundamentação, só pelo que sustenta as decisões do projeto. A memória prospectiva é a que usamos para lembrar de fazer algo no futuro, como tomar o remédio às oito horas, e é justamente ela que falha quando a dose é esquecida. Por isso o centro do app é um alarme, que lembra pelo paciente. A desoneração cognitiva é passar para uma ferramenta aquilo que a cabeça teria de guardar ou calcular, e é o que o app faz com o estoque e os horários. A fonte única de verdade é ter um só lugar com a informação certa, por isso remédios, estoque e consultas ficam no mesmo aplicativo. O offline-first é o app funcionar sem internet, e o Last-Write-Wins define que, num conflito entre duas edições, vence a mais recente. E as heurísticas de Nielsen, a WCAG e a LGPD orientam a interface, a acessibilidade e a proteção dos dados.</a:t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[50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 aplicação segue a Clean Architecture, em três camadas, e a dependência sempre aponta para dentro. No centro fica o domínio, com as regras de negócio escritas em TypeScript puro, sem depender de nenhuma biblioteca. Isso permite verificar cálculos como a geração de horários e a taxa de adesão sem precisar de um celular. Em volta fica a camada de dados, com o SQLite no aparelho e o Supabase na nuvem, e por fora a apresentação, com as telas sobre um sistema de design próprio. O app foi feito em React Native com Expo, e o alarme é entregue pelo agendador do próprio Android, e não por um processo do app. É isso que faz ele tocar mesmo com o aplicativo fechado.</a:t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[50 s]</a:t>
            </a:r>
          </a:p>
          <a:p>
            <a:r>
              <a:t>Os requisitos partiram dos problemas que o paciente enfrenta. São quarenta e quatro requisitos funcionais, nove não funcionais e vinte regras de negócio, e aqui eles estão organizados pelo problema que resolvem. Para o esquecimento, o alarme toca mesmo com o app fechado, remédios no mesmo horário geram um aviso só, e quem tomou atrasado confirma as doses de uma vez. Para a posologia, o cadastro aceita dez formas farmacêuticas, quatro frequências e uma dose diferente em cada horário. Para o estoque, o app desconta a dose de verdade, e não uma unidade, então quem toma dois comprimidos tem dois descontados, e com isso prevê quando o remédio vai acabar. Como complemento, consultas e exames ficam no mesmo calendário das doses, e o app avisa quando a receita está para vencer, mas só a dose tem alarme, porque é ela que tem consequência imediata. E tudo funciona sem internet e sem conta, com o paciente podendo exportar ou apagar os próprios dados a qualquer momento.</a:t>
            </a:r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[45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Toda operação é gravada primeiro no próprio aparelho, e a nuvem funciona como cópia de segurança e ponte entre dispositivos. Quando o mesmo registro é editado em dois lugares, vence a edição mais recente, e vence inteira, sem misturar campos. No diagrama, o dispositivo B editou por último, então a versão dele prevalece nos dois lados. Se o app juntasse campos de versões diferentes, poderia criar uma posologia que ninguém escreveu. O servidor aplica o mesmo critério, e cada tabela tem políticas de segurança em nível de linha, então cada usuário só acessa os próprios dados, identificado pelo token JWT.</a:t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[7 min 30 s]</a:t>
            </a:r>
          </a:p>
          <a:p>
            <a:r>
              <a:t>Agora vou mostrar o aplicativo funcionando no meu celular.</a:t>
            </a:r>
          </a:p>
          <a:p/>
          <a:p>
            <a:r>
              <a:t>Caminho (detalhe no roteiro):</a:t>
            </a:r>
          </a:p>
          <a:p>
            <a:r>
              <a:t>a. Cadastro por código de barras (1 min 30 s)</a:t>
            </a:r>
          </a:p>
          <a:p>
            <a:r>
              <a:t>b. Tela inicial (45 s)</a:t>
            </a:r>
          </a:p>
          <a:p>
            <a:r>
              <a:t>c. Alarme com o celular bloqueado (2 min)</a:t>
            </a:r>
          </a:p>
          <a:p>
            <a:r>
              <a:t>d. Adesão e calendário (1 min)</a:t>
            </a:r>
          </a:p>
          <a:p>
            <a:r>
              <a:t>e. Relatório em PDF (1 min)</a:t>
            </a:r>
          </a:p>
          <a:p>
            <a:r>
              <a:t>f. Temas e cores (45 s)</a:t>
            </a:r>
          </a:p>
          <a:p>
            <a:r>
              <a:t>Folga de 30 s.</a:t>
            </a:r>
          </a:p>
          <a:p/>
          <a:p>
            <a:r>
              <a:t>Se o espelhamento falhar, ir para o slide 12 e rodar o vídeo no trecho correspondente. Se tudo falhar, narrar a partir das telas do slide 11.</a:t>
            </a:r>
          </a:p>
          <a:p>
            <a:r>
              <a:t>Se atrasar, cortar nesta ordem: f, depois e.</a:t>
            </a:r>
          </a:p>
        </p:txBody>
      </p:sp>
      <p:sp>
        <p:nvSpPr>
          <p:cNvPr id="333" name="Google Shape;3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16db80fa709ec415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h16db80fa709ec415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[só se o espelhamento falhar]</a:t>
            </a:r>
          </a:p>
          <a:p>
            <a:r>
              <a:t>Agora vou mostrar o aplicativo funcionando no meu celular.</a:t>
            </a:r>
          </a:p>
          <a:p/>
          <a:p>
            <a:r>
              <a:t>Caminho (detalhe no roteiro):</a:t>
            </a:r>
          </a:p>
          <a:p>
            <a:r>
              <a:t>a. Cadastro por código de barras (1 min 30 s)</a:t>
            </a:r>
          </a:p>
          <a:p>
            <a:r>
              <a:t>b. Tela inicial (45 s)</a:t>
            </a:r>
          </a:p>
          <a:p>
            <a:r>
              <a:t>c. Alarme com o celular bloqueado (2 min)</a:t>
            </a:r>
          </a:p>
          <a:p>
            <a:r>
              <a:t>d. Adesão e calendário (1 min)</a:t>
            </a:r>
          </a:p>
          <a:p>
            <a:r>
              <a:t>e. Relatório em PDF (1 min)</a:t>
            </a:r>
          </a:p>
          <a:p>
            <a:r>
              <a:t>f. Temas e cores (45 s)</a:t>
            </a:r>
          </a:p>
          <a:p>
            <a:r>
              <a:t>Folga de 30 s.</a:t>
            </a:r>
          </a:p>
          <a:p/>
          <a:p>
            <a:r>
              <a:t>Se o espelhamento falhar, ir para o slide 12 e rodar o vídeo no trecho correspondente. Se tudo falhar, narrar a partir das telas do slide 11.</a:t>
            </a:r>
          </a:p>
          <a:p>
            <a:r>
              <a:t>Se atrasar, cortar nesta ordem: f, depois e.</a:t>
            </a:r>
          </a:p>
        </p:txBody>
      </p:sp>
      <p:sp>
        <p:nvSpPr>
          <p:cNvPr id="355" name="Google Shape;355;h16db80fa709ec415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 min]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validação foi feita por mim, num aparelho físico, seguindo um roteiro escrito em que cada passo tinha o resultado esperado. O segundo aparelho foi simulado direto na base remota. Os cinco cenários da arquitetura offline-first foram aprovados, e três deles só depois de ajustes que os próprios testes revelaram. Na restauração, o app pedia de novo os termos e a ficha de saúde, porque olhava o banco local antes de receber os dados da nuvem. Doses futuras excluídas voltavam a aparecer, e a exclusão passou a ser lógica. Entre dois aparelhos, vencia a versão sincronizada por último, e não a mais recente, então o servidor passou a aplicar o mesmo critério. E as edições feitas sem conexão não chegavam ao outro aparelho, o que foi resolvido olhando o momento em que o dado chega à nuvem.</a:t>
            </a:r>
            <a:endParaRPr/>
          </a:p>
        </p:txBody>
      </p:sp>
      <p:sp>
        <p:nvSpPr>
          <p:cNvPr id="364" name="Google Shape;36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[1 min]</a:t>
            </a:r>
          </a:p>
          <a:p>
            <a:r>
              <a:t>O alarme, que é o centro do app, foi testado nas quatro combinações de celular bloqueado ou em uso, com o app nos recentes ou fora deles. Com o celular bloqueado, a tela do alarme apareceu por cima da tela de bloqueio, e com o celular em uso, apareceu a notificação com os botões de tomar e pular. Em todas elas, quem dispara o alarme é o agendador do próprio Android, e não o app, por isso ele toca mesmo com o aplicativo fechado. A ressalva veio depois de reiniciar o celular. O alarme só tocou quando o aparelho foi desbloqueado, por uma restrição de inicialização automática que o fabricante aplica e que o Android não deixa contornar. O app passou a orientar o paciente a liberar essa permissão.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 min]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fechar, volto à pergunta do começo. O Mapill centraliza num só aplicativo os remédios, o estoque, as consultas e as receitas. É confiável porque o alarme toca mesmo com o aplicativo fechado, e nenhuma operação depende de internet. É seguro porque cada usuário só acessa os próprios dados, e quem não quiser criar conta pode usar tudo assim mesmo. O design foi guiado pelas heurísticas de Nielsen e por critérios de acessibilidade, mas ainda não foi testado com pacientes, e esse é justamente o primeiro passo que vem a seguir. Com isso, os objetivos do trabalho foram atendidos.</a:t>
            </a:r>
            <a:endParaRPr/>
          </a:p>
        </p:txBody>
      </p:sp>
      <p:sp>
        <p:nvSpPr>
          <p:cNvPr id="421" name="Google Shape;42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[45 s]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limitações apontam os próximos passos. Como não testei com usuários, o principal é avaliar o app com os pacientes para quem ele foi pensado, idosos e polimedicados, porque só assim dá para medir o efeito real na adesão. Como testei num só modelo de aparelho, quero validar o alarme em outros fabricantes. Como o app é só para Android, vem a versão para iOS e a publicação nas lojas. Além disso, quero permitir que médicos e cuidadores consultem a conta do paciente, sincronizar as fotos e receitas anexadas, que hoje ficam só no aparelho, e organizar o cuidado por tratamento, como numa terapia oncológica com várias sessões e remédios ao mesmo tempo.</a:t>
            </a:r>
            <a:endParaRPr/>
          </a:p>
        </p:txBody>
      </p:sp>
      <p:sp>
        <p:nvSpPr>
          <p:cNvPr id="444" name="Google Shape;44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[só passar, ou mostrar se a banca pedir]</a:t>
            </a:r>
            <a:endParaRPr/>
          </a:p>
        </p:txBody>
      </p:sp>
      <p:sp>
        <p:nvSpPr>
          <p:cNvPr id="471" name="Google Shape;47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[15 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Encerro por aqui. Quem quiser conhecer o Mapill pode usar o QR code, que leva à página do aplicativo, onde também está o APK para instalar no Android. Obrigado pela atenção, e fico à disposição para as perguntas.</a:t>
            </a:r>
            <a:endParaRPr/>
          </a:p>
        </p:txBody>
      </p:sp>
      <p:sp>
        <p:nvSpPr>
          <p:cNvPr id="481" name="Google Shape;48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pc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5.jpg"/><Relationship Id="rId8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hyperlink" Target="https://mapill-website.vercel.app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title="image-removebg-preview.png"/>
          <p:cNvPicPr preferRelativeResize="0"/>
          <p:nvPr/>
        </p:nvPicPr>
        <p:blipFill rotWithShape="1">
          <a:blip r:embed="rId3">
            <a:alphaModFix/>
          </a:blip>
          <a:srcRect b="8691" l="0" r="0" t="8699"/>
          <a:stretch/>
        </p:blipFill>
        <p:spPr>
          <a:xfrm>
            <a:off x="622300" y="475050"/>
            <a:ext cx="772350" cy="6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544540" y="600128"/>
            <a:ext cx="5943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Centro Universitário para o Desenvolvimento do Alto Vale do Itajaí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Curso de Sistemas de Informação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up-claro.png"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00" y="1874519"/>
            <a:ext cx="260865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85800" y="297180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Aplicação móvel para mitigação de falhas logísticas e cognitivas na adesão ao tratamento medicamentoso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470916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Acadêmico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Gabriel Steffens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Orientador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Prof. Me. Marciel de Liz Santos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Rio do Sul, 2026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71_1.png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2520" y="777240"/>
            <a:ext cx="2361778" cy="5303520"/>
          </a:xfrm>
          <a:prstGeom prst="roundRect">
            <a:avLst>
              <a:gd fmla="val 10840" name="adj"/>
            </a:avLst>
          </a:prstGeom>
          <a:noFill/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214313" rotWithShape="0" algn="bl" dir="5400000" dist="66675">
              <a:srgbClr val="000000">
                <a:alpha val="10196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descontinuidade do tratamento desafia a saúde pública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85800" y="201168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pc="0" sz="20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adesão depende de muitos fatores, e não só do paciente (WHO, 2003)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pc="0" sz="20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Polifarmácia e tratamentos longos geram sobrecarga mental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400800" y="1920240"/>
            <a:ext cx="5102352" cy="16002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400800" y="1920240"/>
            <a:ext cx="109728" cy="1600200"/>
          </a:xfrm>
          <a:prstGeom prst="rect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812280" y="2221992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pc="0" sz="22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Falha cognitiva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Esquecer a dose no horário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400800" y="3794760"/>
            <a:ext cx="5102352" cy="16002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400800" y="3794760"/>
            <a:ext cx="109728" cy="1600200"/>
          </a:xfrm>
          <a:prstGeom prst="rect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812280" y="4096512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pc="0" sz="22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Falha logística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remédio acabar ou a consulta passar sem perceber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 DE PESQUISA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85800" y="1325880"/>
            <a:ext cx="10820095" cy="448056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60120" y="1143000"/>
            <a:ext cx="1097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pc="0" sz="110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783080" y="1965960"/>
            <a:ext cx="8808415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pc="0" sz="2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que maneira uma aplicação móvel, baseada em arquitetura </a:t>
            </a:r>
            <a:r>
              <a:rPr b="1" i="1" lang="en-US" spc="0" sz="2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</a:t>
            </a:r>
            <a:r>
              <a:rPr b="0" i="0" lang="en-US" spc="0" sz="2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pode centralizar medicamentos, estoque e compromissos terapêuticos, com usabilidade, segurança e confiabilidade?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JUSTIFICATIVA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685800" y="868680"/>
            <a:ext cx="10820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“Os medicamentos não funcionam em pacientes </a:t>
            </a:r>
            <a:endParaRPr b="1" i="0" spc="0" sz="28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 não os tomam.”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85800" y="1828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C. Everett Koop, na epígrafe do TCC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85800" y="2377440"/>
            <a:ext cx="5272887" cy="3017520"/>
          </a:xfrm>
          <a:prstGeom prst="roundRect">
            <a:avLst>
              <a:gd fmla="val 37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051560" y="2606040"/>
            <a:ext cx="45413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FALHA COGNITIVA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051560" y="3108960"/>
            <a:ext cx="454136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Esqueceu a dose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 </a:t>
            </a: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alarme no horário, mesmo com o app fechado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051560" y="4206240"/>
            <a:ext cx="4541367" cy="18288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051560" y="4389120"/>
            <a:ext cx="454136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 lembra se já tomou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 </a:t>
            </a: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resposta fica registrada com data e hora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233007" y="2377440"/>
            <a:ext cx="5272887" cy="3017520"/>
          </a:xfrm>
          <a:prstGeom prst="roundRect">
            <a:avLst>
              <a:gd fmla="val 37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6598767" y="2606040"/>
            <a:ext cx="45413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FALHA LOGÍSTICA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6598767" y="3108960"/>
            <a:ext cx="454136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remédio acabou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 </a:t>
            </a: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estoque descontado a cada dose, com aviso antes de acabar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598767" y="4206240"/>
            <a:ext cx="4541367" cy="18288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6598767" y="4389120"/>
            <a:ext cx="4541367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consulta ou a receita passou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 </a:t>
            </a: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compromissos e validade da receita com lembrete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85800" y="5577840"/>
            <a:ext cx="10820095" cy="640080"/>
          </a:xfrm>
          <a:prstGeom prst="roundRect">
            <a:avLst>
              <a:gd fmla="val 16470" name="adj"/>
            </a:avLst>
          </a:prstGeom>
          <a:solidFill>
            <a:srgbClr val="E6EF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051560" y="5577840"/>
            <a:ext cx="100887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 dos maiores desafios da saúde pública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·   reconhecido pela OMS (WHO, 2003)</a:t>
            </a:r>
            <a:endParaRPr b="0" i="0" spc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JUSTIFICATIVA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mercado cobra, repassa dados ou simplifica a posologia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85800" y="1783079"/>
            <a:ext cx="7772400" cy="3630168"/>
          </a:xfrm>
          <a:prstGeom prst="roundRect">
            <a:avLst>
              <a:gd fmla="val 35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54880" y="1874519"/>
            <a:ext cx="1188720" cy="3401568"/>
          </a:xfrm>
          <a:prstGeom prst="roundRect">
            <a:avLst>
              <a:gd fmla="val 769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754880" y="1874519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5943600" y="1874519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7132320" y="1874519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960120" y="2441448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Funcionalidades essenciais gratuitas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4754880" y="244144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5943600" y="244144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132320" y="244144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960120" y="3008376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Gratuidade sem repasse de dados a terceiros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4754880" y="300837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5943600" y="300837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7132320" y="300837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960120" y="3575303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Funcionamento sem conta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4754880" y="3575303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943600" y="3575303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132320" y="3575303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960120" y="4142231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Controle de estoque com aviso, sem custo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4754880" y="4142231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5943600" y="4142231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7132320" y="4142231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960120" y="4709160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Dose variável por horário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754938" y="4877126"/>
            <a:ext cx="118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943600" y="470916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7132320" y="470916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85800" y="550468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adaptado do Quadro 2 do TCC, com base em Medisafe (2026) e MyTherapy (2026).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915400" y="1874525"/>
            <a:ext cx="2749500" cy="3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Grátis só com 2 medicamentos. </a:t>
            </a:r>
            <a:b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pc="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(desde jan. 2026)</a:t>
            </a:r>
            <a:endParaRPr b="0" i="0" spc="0" sz="11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Gratuito com repasse de dados anonimizados</a:t>
            </a:r>
            <a:endParaRPr b="0" i="0" spc="0" sz="15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Troca amplitude por profundidade no tratamento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Apoiar a rotina medicamentosa sem depender de conexão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85800" y="1828800"/>
            <a:ext cx="10820095" cy="1417320"/>
          </a:xfrm>
          <a:prstGeom prst="roundRect">
            <a:avLst>
              <a:gd fmla="val 903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960135" y="2048375"/>
            <a:ext cx="10088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GERAL</a:t>
            </a:r>
            <a:endParaRPr b="1" i="0" spc="200" sz="1100" u="none" cap="none" strike="noStrike">
              <a:solidFill>
                <a:srgbClr val="0A3F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pc="200" sz="1100" u="none" cap="none" strike="noStrike">
              <a:solidFill>
                <a:srgbClr val="0A3F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Desenvolver uma aplicação móvel que integra o agendamento e o registro de doses, o estoque e os compromissos terapêuticos, numa arquitetura </a:t>
            </a:r>
            <a:r>
              <a:rPr b="1" i="1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</a:t>
            </a:r>
            <a:endParaRPr b="1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85800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60120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96012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960120" y="4663440"/>
            <a:ext cx="15147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Levantar requisitos na literatura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886395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160715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3160715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3160715" y="4663440"/>
            <a:ext cx="1514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Especificar requisitos e regras de negócio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086990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361310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36131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361310" y="4663440"/>
            <a:ext cx="15147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Projetar arquitetura, dados e telas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7287585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561905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7561905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7561905" y="4663440"/>
            <a:ext cx="15147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Implementar a aplicação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488180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762500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76250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762500" y="4663440"/>
            <a:ext cx="15147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Analisar o </a:t>
            </a:r>
            <a:r>
              <a:rPr b="1" i="1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</a:t>
            </a: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 cenários controlados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85800" y="3474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ESPECÍFICOS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conceito sustenta uma decisão do 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1005840" y="15727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CONCEITO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4297680" y="157276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É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8778240" y="157276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85800" y="1901952"/>
            <a:ext cx="10820095" cy="749808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549640" y="1901952"/>
            <a:ext cx="2956255" cy="749808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1005840" y="1901952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Memória prospectiva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Baddeley; Eysenck; Anderson, 2010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4320600" y="2090098"/>
            <a:ext cx="4160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lembrar de fazer algo no futuro, como tomar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remédio às 20h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8778240" y="1901952"/>
            <a:ext cx="2423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alarme lembra pelo paciente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85800" y="2743200"/>
            <a:ext cx="10820095" cy="749808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549640" y="2743200"/>
            <a:ext cx="2956255" cy="749808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1005840" y="2743200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Desoneração cognitiva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Risko; Gilbert, 2016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4320605" y="2913050"/>
            <a:ext cx="4160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passar para uma ferramenta </a:t>
            </a: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(app) </a:t>
            </a: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que </a:t>
            </a: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</a:t>
            </a:r>
            <a:endParaRPr sz="1300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usuário</a:t>
            </a: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teria de </a:t>
            </a: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lembrar </a:t>
            </a: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 calcular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8778240" y="2743200"/>
            <a:ext cx="2423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app calcula estoque e horários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85800" y="3584448"/>
            <a:ext cx="10820095" cy="749808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549640" y="3584448"/>
            <a:ext cx="2956255" cy="749808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005840" y="3584448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 única de verdade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Loshin, 2010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4320605" y="3754298"/>
            <a:ext cx="4160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 só lugar com a versão certa da informação,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centralização dos dados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8778240" y="3584448"/>
            <a:ext cx="2423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remédios, estoque e consultas juntos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85800" y="4425696"/>
            <a:ext cx="10820095" cy="749808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549640" y="4425696"/>
            <a:ext cx="2956255" cy="749808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1005840" y="4425696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 e Last-Write-Wins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Allsopp, 2014; Kleppmann, 2017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4320605" y="4490396"/>
            <a:ext cx="41604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funcionamento integral que independe de conexão, com possibilidade de sincronização dos dados em nuvem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778240" y="4425696"/>
            <a:ext cx="2423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grava no aparelho e sincroniza depois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85800" y="5266944"/>
            <a:ext cx="10820095" cy="749808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8549640" y="5266944"/>
            <a:ext cx="2956255" cy="749808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1005840" y="5266944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Nielsen, WCAG e LGPD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Nielsen, 1994; W3C, 2018; Brasil, 2018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4320605" y="5436794"/>
            <a:ext cx="4160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regras de usabilidade,  acessibilidade e de 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proteção de dados pessoais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8778240" y="5436794"/>
            <a:ext cx="24231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 intuitiva e dados protegidos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ARQUITETURA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Architecture em três camadas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280160" y="1783080"/>
            <a:ext cx="4114800" cy="4114800"/>
          </a:xfrm>
          <a:prstGeom prst="ellipse">
            <a:avLst/>
          </a:prstGeom>
          <a:solidFill>
            <a:srgbClr val="DCE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920239" y="2423160"/>
            <a:ext cx="2834640" cy="2834640"/>
          </a:xfrm>
          <a:prstGeom prst="ellipse">
            <a:avLst/>
          </a:prstGeom>
          <a:solidFill>
            <a:srgbClr val="9D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2560320" y="3063240"/>
            <a:ext cx="1554480" cy="155448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1965960" y="194767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Apresentação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telas e design próprio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1965960" y="260605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e Supabase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2560320" y="306324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Domínio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TypeScript puro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532120" y="3566160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dependência aponta para dentro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685800" y="60533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elaborado pelo autor (2026), com base em Martin (2019) e na seção 4.4 do TCC.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812280" y="182880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086600" y="182880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Native + Expo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base única com acesso nativo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812280" y="265176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086600" y="265176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TypeScript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tipagem nas regras clínicas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812280" y="347472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7086600" y="347472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banco no aparelho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812280" y="429768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7086600" y="429768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Supabase (PostgreSQL)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cópia na nuvem, com RLS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812280" y="512064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7086600" y="512064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react-native-notify-kit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alarme pelo agendador do Android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REQUISITOS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685800" y="804672"/>
            <a:ext cx="1082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problema ao requisito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685800" y="578815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Quadros 3 a 10 do TCC, que reúnem 44 requisitos funcionais, 9 não funcionais e 20 regras de negócio.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1005840" y="15727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4297680" y="157276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8778240" y="157276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REQUISITOS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85800" y="1901952"/>
            <a:ext cx="10820095" cy="6858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549640" y="1901952"/>
            <a:ext cx="2956255" cy="685800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1005840" y="2140027"/>
            <a:ext cx="301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Esquecer ou atrasar a dose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4320600" y="1901952"/>
            <a:ext cx="416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alarme com o app fechado, um aviso por horário, </a:t>
            </a:r>
            <a:endParaRPr sz="1300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as atrasadas confirmadas de uma vez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8778340" y="2155477"/>
            <a:ext cx="2423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21, 25, 29 · RNF 02 · RN 11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85800" y="2663952"/>
            <a:ext cx="10820095" cy="6858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8549640" y="2663952"/>
            <a:ext cx="2956255" cy="685800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1005840" y="2663952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Posologia complexa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4320600" y="2663952"/>
            <a:ext cx="416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dez formas farmacêuticas, quatro frequências 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dose variável por horário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8778240" y="2663952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07, 09, 10 · RN 08, 09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85800" y="3425952"/>
            <a:ext cx="10820095" cy="6858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549640" y="3425952"/>
            <a:ext cx="2956255" cy="685800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1005940" y="3653352"/>
            <a:ext cx="301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es</a:t>
            </a:r>
            <a:r>
              <a:rPr b="1" lang="en-US" sz="15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toque do </a:t>
            </a: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remédio acabar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4320600" y="3425952"/>
            <a:ext cx="416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desconta a dose, não a unidade, e prevê quando o remédio acaba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778240" y="3425952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18, 22 · RN 02, 03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85800" y="4187952"/>
            <a:ext cx="10820095" cy="6858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549640" y="4187952"/>
            <a:ext cx="2956255" cy="685800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1005940" y="4300002"/>
            <a:ext cx="301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Perder consulta ou prazo </a:t>
            </a:r>
            <a:endParaRPr b="1" sz="1500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 receita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4320600" y="4187952"/>
            <a:ext cx="416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consultas e exames no mesmo calendário das </a:t>
            </a:r>
            <a:endParaRPr sz="1300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doses, e aviso de receita vencendo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8778240" y="4187952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34, 35, 38 · RN 16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85800" y="4949952"/>
            <a:ext cx="10820095" cy="685800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8549640" y="4949952"/>
            <a:ext cx="2956255" cy="685800"/>
          </a:xfrm>
          <a:prstGeom prst="roundRect">
            <a:avLst>
              <a:gd fmla="val 17073" name="adj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1005940" y="5062002"/>
            <a:ext cx="301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internet </a:t>
            </a:r>
            <a:r>
              <a:rPr b="1" lang="en-US" sz="15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 Controle sobre </a:t>
            </a:r>
            <a:endParaRPr b="1" sz="1500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dados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4320600" y="4949952"/>
            <a:ext cx="416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 offline e sem conta, e o paciente</a:t>
            </a: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pode </a:t>
            </a: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exporta</a:t>
            </a:r>
            <a:r>
              <a:rPr lang="en-US" sz="13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</a:t>
            </a:r>
            <a:r>
              <a:rPr b="0" i="0" lang="en-US" spc="0" sz="13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ou apaga os dados a qualquer momento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8778240" y="4949952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01, 42, 43</a:t>
            </a:r>
            <a:b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RNF 01, 03 · RN 18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SINCRONIZAÇÃO E SEGURANÇA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685800" y="804672"/>
            <a:ext cx="108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Grava primeiro no aparelho</a:t>
            </a:r>
            <a:r>
              <a:rPr b="1" lang="en-US" sz="28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28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nuvem é </a:t>
            </a:r>
            <a:r>
              <a:rPr b="1" i="0" lang="en-US" spc="0" sz="28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cópia </a:t>
            </a: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</a:t>
            </a:r>
            <a:r>
              <a:rPr b="1" i="0" lang="en-US" spc="0" sz="28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ponte</a:t>
            </a:r>
            <a:endParaRPr b="0" i="0" spc="0" sz="1400" u="none" cap="none" strike="noStrike">
              <a:solidFill>
                <a:srgbClr val="0B5F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85800" y="1783080"/>
            <a:ext cx="6492240" cy="416052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55_0.jpeg" id="321" name="Google Shape;3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313" y="1984562"/>
            <a:ext cx="6341226" cy="37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 txBox="1"/>
          <p:nvPr/>
        </p:nvSpPr>
        <p:spPr>
          <a:xfrm>
            <a:off x="685800" y="6053328"/>
            <a:ext cx="68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Figura 1 - Resolução de conflito pelo critério </a:t>
            </a:r>
            <a:r>
              <a:rPr b="0" i="1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Last-Write-Wins</a:t>
            </a: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Fonte: elaborado pelo autor (2026).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7498079" y="1783080"/>
            <a:ext cx="4005072" cy="1234440"/>
          </a:xfrm>
          <a:prstGeom prst="roundRect">
            <a:avLst>
              <a:gd fmla="val 10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7818120" y="1783080"/>
            <a:ext cx="347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Vence a edição mais recente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inteira, sem mesclar campos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7498079" y="3200400"/>
            <a:ext cx="4005072" cy="1234440"/>
          </a:xfrm>
          <a:prstGeom prst="roundRect">
            <a:avLst>
              <a:gd fmla="val 10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7818120" y="3200400"/>
            <a:ext cx="347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servidor aplica o mesmo critério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recusa a atualização mais antiga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7498079" y="4617720"/>
            <a:ext cx="4005072" cy="1234440"/>
          </a:xfrm>
          <a:prstGeom prst="roundRect">
            <a:avLst>
              <a:gd fmla="val 10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7818120" y="4871370"/>
            <a:ext cx="34746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Isolamento por usuário 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RLS </a:t>
            </a:r>
            <a:r>
              <a:rPr lang="en-US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 todas as</a:t>
            </a: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tabelas e token JWT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7730284" y="5413181"/>
            <a:ext cx="307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pc="0" sz="80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Row-Level Security </a:t>
            </a:r>
            <a:r>
              <a:rPr b="0" i="0" lang="en-US" spc="0" sz="80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 JSON </a:t>
            </a:r>
            <a:r>
              <a:rPr b="0" i="1" lang="en-US" spc="0" sz="80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Token</a:t>
            </a:r>
            <a:endParaRPr b="0" i="1" spc="0" sz="800" u="none" cap="none" strike="noStrik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DEMONSTRAÇÃO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aplicativo funcionando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68_2.png" id="339" name="Google Shape;3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874519"/>
            <a:ext cx="1447710" cy="324612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0" name="Google Shape;340;p12"/>
          <p:cNvSpPr txBox="1"/>
          <p:nvPr/>
        </p:nvSpPr>
        <p:spPr>
          <a:xfrm>
            <a:off x="685800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Cadastro por código de barras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1_2.png" id="341" name="Google Shape;3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6977" y="1874519"/>
            <a:ext cx="1447710" cy="324612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2" name="Google Shape;342;p12"/>
          <p:cNvSpPr txBox="1"/>
          <p:nvPr/>
        </p:nvSpPr>
        <p:spPr>
          <a:xfrm>
            <a:off x="2527249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Tela inicial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2_0.png" id="343" name="Google Shape;34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8426" y="1874519"/>
            <a:ext cx="1447710" cy="324612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4" name="Google Shape;344;p12"/>
          <p:cNvSpPr txBox="1"/>
          <p:nvPr/>
        </p:nvSpPr>
        <p:spPr>
          <a:xfrm>
            <a:off x="4368698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Alarme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4_0.png" id="345" name="Google Shape;34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9875" y="1874519"/>
            <a:ext cx="1447710" cy="324612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6" name="Google Shape;346;p12"/>
          <p:cNvSpPr txBox="1"/>
          <p:nvPr/>
        </p:nvSpPr>
        <p:spPr>
          <a:xfrm>
            <a:off x="6210147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Adesão e calendário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5_0.jpeg" id="347" name="Google Shape;34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4485" y="2892725"/>
            <a:ext cx="1721400" cy="2227800"/>
          </a:xfrm>
          <a:prstGeom prst="roundRect">
            <a:avLst>
              <a:gd fmla="val 6968" name="adj"/>
            </a:avLst>
          </a:prstGeom>
          <a:noFill/>
          <a:ln>
            <a:noFill/>
          </a:ln>
        </p:spPr>
      </p:pic>
      <p:sp>
        <p:nvSpPr>
          <p:cNvPr id="348" name="Google Shape;348;p12"/>
          <p:cNvSpPr txBox="1"/>
          <p:nvPr/>
        </p:nvSpPr>
        <p:spPr>
          <a:xfrm>
            <a:off x="8051596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Relatório em PDF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8_2.png" id="349" name="Google Shape;34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02774" y="1874519"/>
            <a:ext cx="1447800" cy="324600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50" name="Google Shape;350;p12"/>
          <p:cNvSpPr txBox="1"/>
          <p:nvPr/>
        </p:nvSpPr>
        <p:spPr>
          <a:xfrm>
            <a:off x="9893046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Temas e cores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685800" y="605332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Telas: Figuras 4, 7, 8, 9, 10 e 12 do TCC.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6db80fa709ec415_0_4"/>
          <p:cNvSpPr txBox="1"/>
          <p:nvPr/>
        </p:nvSpPr>
        <p:spPr>
          <a:xfrm>
            <a:off x="685800" y="50292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DEMONSTRAÇÃO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h16db80fa709ec415_0_4"/>
          <p:cNvSpPr txBox="1"/>
          <p:nvPr/>
        </p:nvSpPr>
        <p:spPr>
          <a:xfrm>
            <a:off x="685800" y="804672"/>
            <a:ext cx="108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Vídeo demonstrando o uso do 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h16db80fa709ec415_0_4"/>
          <p:cNvSpPr txBox="1"/>
          <p:nvPr/>
        </p:nvSpPr>
        <p:spPr>
          <a:xfrm>
            <a:off x="685800" y="6419088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h16db80fa709ec415_0_4"/>
          <p:cNvSpPr txBox="1"/>
          <p:nvPr/>
        </p:nvSpPr>
        <p:spPr>
          <a:xfrm>
            <a:off x="10591495" y="6419088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685800" y="804672"/>
            <a:ext cx="1082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Cinco cenários offline-first aprovados em aparelho físico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85800" y="1606187"/>
            <a:ext cx="6675000" cy="41604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 txBox="1"/>
          <p:nvPr/>
        </p:nvSpPr>
        <p:spPr>
          <a:xfrm>
            <a:off x="1005840" y="1789067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Ausência de conexão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5852160" y="1898795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5852160" y="1898795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1005840" y="2548019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Restabelecimento da conectividade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5852160" y="2657747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5852135" y="2729947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1005840" y="330697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Sincronização por restauração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1005840" y="4065923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Sincronização entre dispositivos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1005840" y="4824875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Conflito entre registros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685800" y="60533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Quadro 28 do TCC. Xiaomi Redmi Note 14 Pro 5G, Android 16.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5852110" y="4156897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5852110" y="4942522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5852110" y="4229060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5852135" y="3407360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5852135" y="3479522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 txBox="1"/>
          <p:nvPr/>
        </p:nvSpPr>
        <p:spPr>
          <a:xfrm>
            <a:off x="5852110" y="5014685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1_1.png" id="387" name="Google Shape;387;p13"/>
          <p:cNvPicPr preferRelativeResize="0"/>
          <p:nvPr/>
        </p:nvPicPr>
        <p:blipFill rotWithShape="1">
          <a:blip r:embed="rId3">
            <a:alphaModFix/>
          </a:blip>
          <a:srcRect b="31290" l="0" r="0" t="0"/>
          <a:stretch/>
        </p:blipFill>
        <p:spPr>
          <a:xfrm>
            <a:off x="7772400" y="1606175"/>
            <a:ext cx="3404100" cy="5251800"/>
          </a:xfrm>
          <a:prstGeom prst="roundRect">
            <a:avLst>
              <a:gd fmla="val 10840" name="adj"/>
            </a:avLst>
          </a:prstGeom>
          <a:noFill/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214313" rotWithShape="0" algn="bl" dir="5400000" dist="66675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· ALARME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alarme tocou nas quatro situações testadas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685800" y="1783080"/>
            <a:ext cx="6675000" cy="41604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 txBox="1"/>
          <p:nvPr/>
        </p:nvSpPr>
        <p:spPr>
          <a:xfrm>
            <a:off x="1005840" y="196596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Bloqueado, app nos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5852160" y="2075688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 txBox="1"/>
          <p:nvPr/>
        </p:nvSpPr>
        <p:spPr>
          <a:xfrm>
            <a:off x="5852160" y="2075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1005840" y="272491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Bloqueado, fora dos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5852160" y="2834640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5852135" y="2906840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1005840" y="3483863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 uso, app nos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 txBox="1"/>
          <p:nvPr/>
        </p:nvSpPr>
        <p:spPr>
          <a:xfrm>
            <a:off x="1005840" y="4242816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 uso, fora dos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1005840" y="500176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Após reiniciar o aparelho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685800" y="60533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seção 5.3 do TCC. Xiaomi Redmi Note 14 Pro 5G, Android 16.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7680960" y="1783080"/>
            <a:ext cx="3822191" cy="192024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 txBox="1"/>
          <p:nvPr/>
        </p:nvSpPr>
        <p:spPr>
          <a:xfrm>
            <a:off x="7946100" y="2163580"/>
            <a:ext cx="32919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pc="200" sz="1100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QUEM DISPARA O ALARME?</a:t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agendador do Android</a:t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não o app, por isso toca com o app fechado</a:t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7680960" y="3931920"/>
            <a:ext cx="3822191" cy="2011680"/>
          </a:xfrm>
          <a:prstGeom prst="roundRect">
            <a:avLst>
              <a:gd fmla="val 6363" name="adj"/>
            </a:avLst>
          </a:prstGeom>
          <a:solidFill>
            <a:srgbClr val="FDF3C4"/>
          </a:solidFill>
          <a:ln cap="flat" cmpd="sng" w="381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8000975" y="4304608"/>
            <a:ext cx="32919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C4A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</a:t>
            </a:r>
            <a:endParaRPr b="1" i="0" spc="200" sz="1100" u="none" cap="none" strike="noStrike">
              <a:solidFill>
                <a:srgbClr val="5C4A0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pc="200" sz="1100" u="none" cap="none" strike="noStrike">
              <a:solidFill>
                <a:srgbClr val="5C4A0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Após reiniciar, esperou o desbloqueio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C4A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app orienta liberar o início automático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5852110" y="4333790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5852110" y="5119415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FDF3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 txBox="1"/>
          <p:nvPr/>
        </p:nvSpPr>
        <p:spPr>
          <a:xfrm>
            <a:off x="5852110" y="4405953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5852135" y="3584253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 txBox="1"/>
          <p:nvPr/>
        </p:nvSpPr>
        <p:spPr>
          <a:xfrm>
            <a:off x="5852135" y="3656415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"/>
          <p:cNvSpPr txBox="1"/>
          <p:nvPr/>
        </p:nvSpPr>
        <p:spPr>
          <a:xfrm>
            <a:off x="5852110" y="5191578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5C4A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 ressalva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9631800" y="3364750"/>
            <a:ext cx="18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react-native-notify-kit</a:t>
            </a:r>
            <a:endParaRPr i="1" sz="1200">
              <a:solidFill>
                <a:srgbClr val="88888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4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resposta à pergunta de pesquisa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4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685800" y="178308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 txBox="1"/>
          <p:nvPr/>
        </p:nvSpPr>
        <p:spPr>
          <a:xfrm>
            <a:off x="100584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3749040" y="178308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remédios, estoque, consultas e receitas num só aplicativo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685800" y="260604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1005840" y="2606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Confiabilidade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3748977" y="2840990"/>
            <a:ext cx="749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alarme toca com o app fechado, e nada depende de internet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85800" y="342900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1005840" y="34290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Segurança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3749040" y="342900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usuário só acessa os próprios dados, e dá para usar sem conta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685800" y="425196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1005840" y="425196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Usabilidade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3748977" y="4532635"/>
            <a:ext cx="749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guiado pelas heurísticas de Nielsen + tópicos em acessibilidade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685800" y="5166360"/>
            <a:ext cx="10820095" cy="640080"/>
          </a:xfrm>
          <a:prstGeom prst="roundRect">
            <a:avLst>
              <a:gd fmla="val 1647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 txBox="1"/>
          <p:nvPr/>
        </p:nvSpPr>
        <p:spPr>
          <a:xfrm>
            <a:off x="1005860" y="5347800"/>
            <a:ext cx="100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atendidos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5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TRABALHOS FUTUROS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limitação aponta um próximo passo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685800" y="1783080"/>
            <a:ext cx="10820095" cy="713232"/>
          </a:xfrm>
          <a:prstGeom prst="roundRect">
            <a:avLst>
              <a:gd fmla="val 1794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1005840" y="1783080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1554480" y="2001093"/>
            <a:ext cx="64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Avaliação com pacientes idosos e polimedicados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685800" y="2633472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 txBox="1"/>
          <p:nvPr/>
        </p:nvSpPr>
        <p:spPr>
          <a:xfrm>
            <a:off x="1005840" y="2633472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1554480" y="2633472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Alarme validado em outros fabricantes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685800" y="3483864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1005840" y="3483864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1554480" y="3483864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Versão para iOS e publicação nas lojas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685800" y="4334256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 txBox="1"/>
          <p:nvPr/>
        </p:nvSpPr>
        <p:spPr>
          <a:xfrm>
            <a:off x="1005840" y="4334256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5"/>
          <p:cNvSpPr txBox="1"/>
          <p:nvPr/>
        </p:nvSpPr>
        <p:spPr>
          <a:xfrm>
            <a:off x="1554480" y="4334256"/>
            <a:ext cx="9144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Acesso de consulta para médicos e cuidadores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685800" y="5184648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 txBox="1"/>
          <p:nvPr/>
        </p:nvSpPr>
        <p:spPr>
          <a:xfrm>
            <a:off x="1005840" y="5184648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5"/>
          <p:cNvSpPr txBox="1"/>
          <p:nvPr/>
        </p:nvSpPr>
        <p:spPr>
          <a:xfrm>
            <a:off x="1554480" y="5184648"/>
            <a:ext cx="9144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Cuidado organizado por tratamento, como na oncologia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5"/>
          <p:cNvSpPr txBox="1"/>
          <p:nvPr/>
        </p:nvSpPr>
        <p:spPr>
          <a:xfrm>
            <a:off x="8046720" y="2030505"/>
            <a:ext cx="320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 -  sem teste com usuários finais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 txBox="1"/>
          <p:nvPr/>
        </p:nvSpPr>
        <p:spPr>
          <a:xfrm>
            <a:off x="8046720" y="2779935"/>
            <a:ext cx="32004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 - 100% validado em somente um aparelho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5"/>
          <p:cNvSpPr txBox="1"/>
          <p:nvPr/>
        </p:nvSpPr>
        <p:spPr>
          <a:xfrm>
            <a:off x="8046720" y="3630314"/>
            <a:ext cx="32004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 -  disponível somente para dispositivos  Android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REFERÊNCIAS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6"/>
          <p:cNvSpPr txBox="1"/>
          <p:nvPr/>
        </p:nvSpPr>
        <p:spPr>
          <a:xfrm>
            <a:off x="685800" y="1005840"/>
            <a:ext cx="5257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ALLSOPP, John.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web's future is offline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beyond tellerrand, 2014. Disponível em: https://www.youtube.com/watch?v=VvwhcoZhoI4. Acesso em: 8 maio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BADDELEY, Alan; EYSENCK, Michael W.; ANDERSON, Michael C.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Memória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Porto Alegre: Artmed, 2010.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BRASIL. [Lei Geral de Proteção de Dados Pessoais (LGPD)]. Lei nº 13.709, de 14 de agosto de 2018. Brasília, DF: Presidência da República, 2018.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KLEPPMANN, Martin.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Designing data-intensive applications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the big ideas behind reliable, scalable, and maintainable systems. Sebastopol: O'Reilly Media, 2017.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LOSHIN, David.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Master data management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Burlington: Morgan Kaufmann, 2010.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MARTIN, Robert C.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Arquitetura limpa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o guia do artesão para estrutura e design de software. Rio de Janeiro: Alta Books, 2019.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6"/>
          <p:cNvSpPr txBox="1"/>
          <p:nvPr/>
        </p:nvSpPr>
        <p:spPr>
          <a:xfrm>
            <a:off x="6217920" y="1005840"/>
            <a:ext cx="5257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medication management. 2026. Disponível em: https://www.medisafe.com. Acesso em: 20 ago.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medication reminder and pill tracker. 2026. Disponível em: https://www.mytherapyapp.com. Acesso em: 20 ago.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NIELSEN, Jakob.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Usability engineering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San Diego: Academic Press, 1994.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RISKO, Evan F.; GILBERT, Sam J. Cognitive offloading.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Trends in Cognitive Sciences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v. 20, n. 9, p. 676-688, 2016.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WORLD HEALTH ORGANIZATION (WHO).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Adherence to long-term therapies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evidence for action. Geneva: World Health Organization, 2003.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WORLD WIDE WEB CONSORTIUM (W3C).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Content Accessibility Guidelines (WCAG) 2.1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Cambridge, MA: W3C, 2018. Disponível em: https://www.w3.org/TR/WCAG21/. Acesso em: 10 set.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8403325" y="1280150"/>
            <a:ext cx="3200400" cy="4321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r.png" id="485" name="Google Shape;4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096" y="1645920"/>
            <a:ext cx="246888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7"/>
          <p:cNvSpPr txBox="1"/>
          <p:nvPr/>
        </p:nvSpPr>
        <p:spPr>
          <a:xfrm>
            <a:off x="8403325" y="434340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Conheça o Mapill</a:t>
            </a:r>
            <a:endParaRPr b="1" i="0" spc="0" sz="17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pc="0" sz="17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 do app, com o APK para Android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700" u="none" cap="none" strike="noStrike">
                <a:solidFill>
                  <a:schemeClr val="hlink"/>
                </a:solidFill>
                <a:uFill>
                  <a:noFill/>
                </a:u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mapill-website.vercel.app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up-claro.png" id="487" name="Google Shape;4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188720"/>
            <a:ext cx="2196757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7"/>
          <p:cNvSpPr txBox="1"/>
          <p:nvPr/>
        </p:nvSpPr>
        <p:spPr>
          <a:xfrm>
            <a:off x="685800" y="233172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pc="0" sz="5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Obrigado!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 txBox="1"/>
          <p:nvPr/>
        </p:nvSpPr>
        <p:spPr>
          <a:xfrm>
            <a:off x="685800" y="3657600"/>
            <a:ext cx="64008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Gabriel Steffens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Sistemas de Informação, 8ª fase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Orientador: Prof. Me. Marciel de Liz Santos</a:t>
            </a:r>
            <a:endParaRPr b="0" i="0" spc="0" sz="14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gabriel.steffens@unidavi.edu.br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17" title="image-removebg-preview.png"/>
          <p:cNvPicPr preferRelativeResize="0"/>
          <p:nvPr/>
        </p:nvPicPr>
        <p:blipFill rotWithShape="1">
          <a:blip r:embed="rId6">
            <a:alphaModFix/>
          </a:blip>
          <a:srcRect b="8691" l="0" r="0" t="8699"/>
          <a:stretch/>
        </p:blipFill>
        <p:spPr>
          <a:xfrm>
            <a:off x="685800" y="5601350"/>
            <a:ext cx="885524" cy="7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